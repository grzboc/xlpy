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lsm" ContentType="application/vnd.ms-excel.sheet.macroEnabled.12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0"/>
  </p:notesMasterIdLst>
  <p:handoutMasterIdLst>
    <p:handoutMasterId r:id="rId61"/>
  </p:handoutMasterIdLst>
  <p:sldIdLst>
    <p:sldId id="259" r:id="rId5"/>
    <p:sldId id="267" r:id="rId6"/>
    <p:sldId id="295" r:id="rId7"/>
    <p:sldId id="296" r:id="rId8"/>
    <p:sldId id="268" r:id="rId9"/>
    <p:sldId id="269" r:id="rId10"/>
    <p:sldId id="270" r:id="rId11"/>
    <p:sldId id="271" r:id="rId12"/>
    <p:sldId id="301" r:id="rId13"/>
    <p:sldId id="272" r:id="rId14"/>
    <p:sldId id="279" r:id="rId15"/>
    <p:sldId id="306" r:id="rId16"/>
    <p:sldId id="288" r:id="rId17"/>
    <p:sldId id="297" r:id="rId18"/>
    <p:sldId id="273" r:id="rId19"/>
    <p:sldId id="276" r:id="rId20"/>
    <p:sldId id="277" r:id="rId21"/>
    <p:sldId id="278" r:id="rId22"/>
    <p:sldId id="305" r:id="rId23"/>
    <p:sldId id="302" r:id="rId24"/>
    <p:sldId id="303" r:id="rId25"/>
    <p:sldId id="298" r:id="rId26"/>
    <p:sldId id="280" r:id="rId27"/>
    <p:sldId id="299" r:id="rId28"/>
    <p:sldId id="274" r:id="rId29"/>
    <p:sldId id="281" r:id="rId30"/>
    <p:sldId id="282" r:id="rId31"/>
    <p:sldId id="287" r:id="rId32"/>
    <p:sldId id="283" r:id="rId33"/>
    <p:sldId id="284" r:id="rId34"/>
    <p:sldId id="285" r:id="rId35"/>
    <p:sldId id="286" r:id="rId36"/>
    <p:sldId id="300" r:id="rId37"/>
    <p:sldId id="275" r:id="rId38"/>
    <p:sldId id="289" r:id="rId39"/>
    <p:sldId id="290" r:id="rId40"/>
    <p:sldId id="291" r:id="rId41"/>
    <p:sldId id="316" r:id="rId42"/>
    <p:sldId id="292" r:id="rId43"/>
    <p:sldId id="293" r:id="rId44"/>
    <p:sldId id="294" r:id="rId45"/>
    <p:sldId id="307" r:id="rId46"/>
    <p:sldId id="311" r:id="rId47"/>
    <p:sldId id="315" r:id="rId48"/>
    <p:sldId id="308" r:id="rId49"/>
    <p:sldId id="312" r:id="rId50"/>
    <p:sldId id="310" r:id="rId51"/>
    <p:sldId id="313" r:id="rId52"/>
    <p:sldId id="309" r:id="rId53"/>
    <p:sldId id="314" r:id="rId54"/>
    <p:sldId id="317" r:id="rId55"/>
    <p:sldId id="318" r:id="rId56"/>
    <p:sldId id="319" r:id="rId57"/>
    <p:sldId id="320" r:id="rId58"/>
    <p:sldId id="321" r:id="rId59"/>
  </p:sldIdLst>
  <p:sldSz cx="12192000" cy="6858000"/>
  <p:notesSz cx="6858000" cy="9144000"/>
  <p:defaultTextStyle>
    <a:defPPr rtl="0">
      <a:defRPr lang="pl-PL"/>
    </a:defPPr>
    <a:lvl1pPr marL="0" algn="l" defTabSz="914400" rtl="0" eaLnBrk="1" latinLnBrk="0" hangingPunct="1">
      <a:defRPr lang="pl-PL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l-PL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l-PL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l-PL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l-PL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l-PL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l-PL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l-PL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l-PL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900"/>
    <a:srgbClr val="FAE282"/>
    <a:srgbClr val="FFFFFF"/>
    <a:srgbClr val="E889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0DBD28-F556-4EEB-9029-31E567EF3D03}" v="134" dt="2025-12-26T13:24:49.8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15" autoAdjust="0"/>
    <p:restoredTop sz="94692"/>
  </p:normalViewPr>
  <p:slideViewPr>
    <p:cSldViewPr snapToGrid="0" snapToObjects="1">
      <p:cViewPr varScale="1">
        <p:scale>
          <a:sx n="102" d="100"/>
          <a:sy n="102" d="100"/>
        </p:scale>
        <p:origin x="1194" y="3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4" d="100"/>
          <a:sy n="104" d="100"/>
        </p:scale>
        <p:origin x="424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61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microsoft.com/office/2018/10/relationships/authors" Target="author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>
            <a:extLst>
              <a:ext uri="{FF2B5EF4-FFF2-40B4-BE49-F238E27FC236}">
                <a16:creationId xmlns:a16="http://schemas.microsoft.com/office/drawing/2014/main" id="{05C7BFC9-90C9-493D-8E39-29491E08B2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l-PL" sz="1200"/>
            </a:lvl1pPr>
          </a:lstStyle>
          <a:p>
            <a:pPr rtl="0"/>
            <a:endParaRPr lang="pl-PL"/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E77435CA-70B9-42A7-9DD7-894A77E56EA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l-PL" sz="1200"/>
            </a:lvl1pPr>
          </a:lstStyle>
          <a:p>
            <a:pPr rtl="0"/>
            <a:fld id="{8D4BBDD2-E7C5-4737-853A-B4FB20668561}" type="datetimeFigureOut">
              <a:rPr lang="pl-PL" smtClean="0"/>
              <a:t>2026.01.01</a:t>
            </a:fld>
            <a:endParaRPr lang="pl-PL"/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4D3A967C-4F79-4F57-9F23-0B48F94663C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l-PL" sz="1200"/>
            </a:lvl1pPr>
          </a:lstStyle>
          <a:p>
            <a:pPr rtl="0"/>
            <a:endParaRPr lang="pl-PL"/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29F853DE-8E49-4424-8F8A-3195E05BB1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l-PL" sz="1200"/>
            </a:lvl1pPr>
          </a:lstStyle>
          <a:p>
            <a:pPr rtl="0"/>
            <a:fld id="{FBF8BEA1-04A1-4291-B27C-3B9C2EF4757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50054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l-PL" sz="1200"/>
            </a:lvl1pPr>
          </a:lstStyle>
          <a:p>
            <a:pPr rtl="0"/>
            <a:endParaRPr lang="pl-PL" dirty="0"/>
          </a:p>
        </p:txBody>
      </p:sp>
      <p:sp>
        <p:nvSpPr>
          <p:cNvPr id="3" name="Data — symbol zastępcz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l-PL" sz="1200"/>
            </a:lvl1pPr>
          </a:lstStyle>
          <a:p>
            <a:pPr rtl="0"/>
            <a:fld id="{3D3DD571-E22F-4A38-B450-8CCBD829A548}" type="datetimeFigureOut">
              <a:rPr lang="pl-PL"/>
              <a:t>2026.01.01</a:t>
            </a:fld>
            <a:endParaRPr lang="pl-PL" dirty="0"/>
          </a:p>
        </p:txBody>
      </p:sp>
      <p:sp>
        <p:nvSpPr>
          <p:cNvPr id="4" name="Obraz slajdu — symbol zastępcz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l-PL"/>
            </a:defPPr>
          </a:lstStyle>
          <a:p>
            <a:pPr rtl="0"/>
            <a:endParaRPr lang="pl-PL" dirty="0"/>
          </a:p>
        </p:txBody>
      </p:sp>
      <p:sp>
        <p:nvSpPr>
          <p:cNvPr id="5" name="Notatki — symbol zastępcz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l-PL"/>
            </a:defPPr>
          </a:lstStyle>
          <a:p>
            <a:pPr lvl="0" rtl="0"/>
            <a:r>
              <a:rPr lang="pl-PL"/>
              <a:t>Kliknij, aby edytować style wzorców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l-PL" sz="1200"/>
            </a:lvl1pPr>
          </a:lstStyle>
          <a:p>
            <a:pPr rtl="0"/>
            <a:endParaRPr lang="pl-PL" dirty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l-PL" sz="1200"/>
            </a:lvl1pPr>
          </a:lstStyle>
          <a:p>
            <a:pPr rtl="0"/>
            <a:fld id="{BC0C2C40-CB1C-4820-9151-EC51EC2E7E0F}" type="slidenum">
              <a:rPr lang="pl-PL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93105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l-PL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l-PL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l-PL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l-PL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l-PL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l-PL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l-PL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l-PL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l-PL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ytuł 1">
            <a:extLst>
              <a:ext uri="{FF2B5EF4-FFF2-40B4-BE49-F238E27FC236}">
                <a16:creationId xmlns:a16="http://schemas.microsoft.com/office/drawing/2014/main" id="{40974584-F7C5-6440-926F-F6A9781D6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10" y="2484470"/>
            <a:ext cx="7552916" cy="2130561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lang="pl-PL" sz="6600" b="0">
                <a:solidFill>
                  <a:schemeClr val="tx1"/>
                </a:solidFill>
              </a:defRPr>
            </a:lvl1pPr>
          </a:lstStyle>
          <a:p>
            <a:pPr rtl="0"/>
            <a:r>
              <a:rPr lang="pl-PL"/>
              <a:t>Kliknij, aby edytować styl wzorca tytułu</a:t>
            </a:r>
          </a:p>
        </p:txBody>
      </p:sp>
      <p:pic>
        <p:nvPicPr>
          <p:cNvPr id="8" name="Obraz 7" descr="Graficzny interfejs użytkownika&#10;&#10;Automatycznie generowany opis">
            <a:extLst>
              <a:ext uri="{FF2B5EF4-FFF2-40B4-BE49-F238E27FC236}">
                <a16:creationId xmlns:a16="http://schemas.microsoft.com/office/drawing/2014/main" id="{D7436C2F-09FF-014A-84CC-E0A18AFE2C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3792" y="138819"/>
            <a:ext cx="2369315" cy="867807"/>
          </a:xfrm>
          <a:prstGeom prst="rect">
            <a:avLst/>
          </a:prstGeom>
        </p:spPr>
      </p:pic>
      <p:sp>
        <p:nvSpPr>
          <p:cNvPr id="2" name="Numer slajdu — symbol zastępczy 5">
            <a:extLst>
              <a:ext uri="{FF2B5EF4-FFF2-40B4-BE49-F238E27FC236}">
                <a16:creationId xmlns:a16="http://schemas.microsoft.com/office/drawing/2014/main" id="{D5949668-C541-DA8C-C57E-D0C26C5A23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897201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awartość — symbol zastępczy 2">
            <a:extLst>
              <a:ext uri="{FF2B5EF4-FFF2-40B4-BE49-F238E27FC236}">
                <a16:creationId xmlns:a16="http://schemas.microsoft.com/office/drawing/2014/main" id="{72A72F24-C2F4-A848-9526-6DDE3032300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44500" y="1460500"/>
            <a:ext cx="5327904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defTabSz="91439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00000"/>
              </a:lnSpc>
              <a:defRPr lang="pl-PL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00000"/>
              </a:lnSpc>
              <a:defRPr lang="pl-PL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00000"/>
              </a:lnSpc>
              <a:defRPr lang="pl-PL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00000"/>
              </a:lnSpc>
              <a:defRPr lang="pl-PL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r>
              <a:rPr lang="pl-PL" b="1" dirty="0">
                <a:solidFill>
                  <a:schemeClr val="accent6">
                    <a:lumMod val="75000"/>
                  </a:schemeClr>
                </a:solidFill>
              </a:rPr>
              <a:t>ABC</a:t>
            </a:r>
          </a:p>
          <a:p>
            <a:pPr marL="228598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abc</a:t>
            </a:r>
          </a:p>
          <a:p>
            <a:pPr marL="228598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abc</a:t>
            </a:r>
          </a:p>
        </p:txBody>
      </p:sp>
      <p:sp>
        <p:nvSpPr>
          <p:cNvPr id="11" name="Numer slajdu — symbol zastępczy 5">
            <a:extLst>
              <a:ext uri="{FF2B5EF4-FFF2-40B4-BE49-F238E27FC236}">
                <a16:creationId xmlns:a16="http://schemas.microsoft.com/office/drawing/2014/main" id="{F2707C4E-5419-8141-80B3-E4B112655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/>
              <a:t>‹#›</a:t>
            </a:fld>
            <a:endParaRPr lang="pl-PL" dirty="0"/>
          </a:p>
        </p:txBody>
      </p:sp>
      <p:cxnSp>
        <p:nvCxnSpPr>
          <p:cNvPr id="12" name="Łącznik prosty 11">
            <a:extLst>
              <a:ext uri="{FF2B5EF4-FFF2-40B4-BE49-F238E27FC236}">
                <a16:creationId xmlns:a16="http://schemas.microsoft.com/office/drawing/2014/main" id="{06D362EF-E079-514F-814C-6085176CA7AD}"/>
              </a:ext>
            </a:extLst>
          </p:cNvPr>
          <p:cNvCxnSpPr>
            <a:cxnSpLocks/>
          </p:cNvCxnSpPr>
          <p:nvPr userDrawn="1"/>
        </p:nvCxnSpPr>
        <p:spPr>
          <a:xfrm>
            <a:off x="378124" y="440664"/>
            <a:ext cx="11119104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ytuł 1">
            <a:extLst>
              <a:ext uri="{FF2B5EF4-FFF2-40B4-BE49-F238E27FC236}">
                <a16:creationId xmlns:a16="http://schemas.microsoft.com/office/drawing/2014/main" id="{2AC75DAD-32BC-CC41-8DF4-9E68DB31C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9049"/>
            <a:ext cx="9146972" cy="395017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algn="l">
              <a:defRPr lang="pl-PL" sz="2200"/>
            </a:lvl1pPr>
          </a:lstStyle>
          <a:p>
            <a:pPr rtl="0"/>
            <a:r>
              <a:rPr lang="pl-PL" dirty="0"/>
              <a:t>Kliknij, aby edytować styl wzorca tytułu</a:t>
            </a:r>
          </a:p>
        </p:txBody>
      </p:sp>
    </p:spTree>
    <p:extLst>
      <p:ext uri="{BB962C8B-B14F-4D97-AF65-F5344CB8AC3E}">
        <p14:creationId xmlns:p14="http://schemas.microsoft.com/office/powerpoint/2010/main" val="3362173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awartość — symbol zastępczy 6">
            <a:extLst>
              <a:ext uri="{FF2B5EF4-FFF2-40B4-BE49-F238E27FC236}">
                <a16:creationId xmlns:a16="http://schemas.microsoft.com/office/drawing/2014/main" id="{90EAB2A1-27FC-7D46-BBF1-72410CED554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596" y="2560320"/>
            <a:ext cx="94457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pl-PL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>
              <a:defRPr lang="pl-PL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  <a:lvl3pPr>
              <a:defRPr lang="pl-PL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3pPr>
            <a:lvl4pPr>
              <a:defRPr lang="pl-PL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4pPr>
            <a:lvl5pPr>
              <a:defRPr lang="pl-PL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l-PL"/>
              <a:t>Kliknij, aby edytować style wzorców tekstu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l-PL"/>
              <a:t>Drugi poziom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l-PL"/>
              <a:t>Trzeci poziom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l-PL"/>
              <a:t>Czwarty poziom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l-PL"/>
              <a:t>Piąty poziom</a:t>
            </a:r>
          </a:p>
        </p:txBody>
      </p:sp>
      <p:cxnSp>
        <p:nvCxnSpPr>
          <p:cNvPr id="2" name="Łącznik prosty 1">
            <a:extLst>
              <a:ext uri="{FF2B5EF4-FFF2-40B4-BE49-F238E27FC236}">
                <a16:creationId xmlns:a16="http://schemas.microsoft.com/office/drawing/2014/main" id="{F5F2EE68-AECF-7217-0CC0-D43B133BDA5B}"/>
              </a:ext>
            </a:extLst>
          </p:cNvPr>
          <p:cNvCxnSpPr>
            <a:cxnSpLocks/>
          </p:cNvCxnSpPr>
          <p:nvPr userDrawn="1"/>
        </p:nvCxnSpPr>
        <p:spPr>
          <a:xfrm>
            <a:off x="378124" y="440664"/>
            <a:ext cx="11119104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ytuł 1">
            <a:extLst>
              <a:ext uri="{FF2B5EF4-FFF2-40B4-BE49-F238E27FC236}">
                <a16:creationId xmlns:a16="http://schemas.microsoft.com/office/drawing/2014/main" id="{2D573260-FA0B-76C2-57B2-EAE8AB67EC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9049"/>
            <a:ext cx="9146972" cy="395017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algn="l">
              <a:defRPr lang="pl-PL" sz="2200"/>
            </a:lvl1pPr>
          </a:lstStyle>
          <a:p>
            <a:pPr rtl="0"/>
            <a:r>
              <a:rPr lang="pl-PL" dirty="0"/>
              <a:t>Kliknij, aby edytować styl wzorca tytułu</a:t>
            </a:r>
          </a:p>
        </p:txBody>
      </p:sp>
      <p:sp>
        <p:nvSpPr>
          <p:cNvPr id="4" name="Numer slajdu — symbol zastępczy 5">
            <a:extLst>
              <a:ext uri="{FF2B5EF4-FFF2-40B4-BE49-F238E27FC236}">
                <a16:creationId xmlns:a16="http://schemas.microsoft.com/office/drawing/2014/main" id="{D23F33E3-9615-7B7E-0ED3-DF413CC6D5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736486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07BE2BF-67D0-421C-B0EA-C2FDA38E9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rtlCol="0"/>
          <a:lstStyle>
            <a:defPPr>
              <a:defRPr lang="pl-PL"/>
            </a:defPPr>
          </a:lstStyle>
          <a:p>
            <a:pPr rtl="0"/>
            <a:r>
              <a:rPr lang="pl-PL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19ED459D-4DBB-4B08-B28E-38CB29459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1" cy="4351338"/>
          </a:xfrm>
          <a:prstGeom prst="rect">
            <a:avLst/>
          </a:prstGeom>
        </p:spPr>
        <p:txBody>
          <a:bodyPr rtlCol="0"/>
          <a:lstStyle>
            <a:defPPr>
              <a:defRPr lang="pl-PL"/>
            </a:defPPr>
          </a:lstStyle>
          <a:p>
            <a:pPr lvl="0" rtl="0"/>
            <a:r>
              <a:rPr lang="pl-PL"/>
              <a:t>Kliknij, aby edytować style wzorców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619D5826-9D5D-45F7-9039-C95938735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1" cy="4351338"/>
          </a:xfrm>
          <a:prstGeom prst="rect">
            <a:avLst/>
          </a:prstGeom>
        </p:spPr>
        <p:txBody>
          <a:bodyPr rtlCol="0"/>
          <a:lstStyle>
            <a:defPPr>
              <a:defRPr lang="pl-PL"/>
            </a:defPPr>
          </a:lstStyle>
          <a:p>
            <a:pPr lvl="0" rtl="0"/>
            <a:r>
              <a:rPr lang="pl-PL"/>
              <a:t>Kliknij, aby edytować style wzorców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</a:p>
        </p:txBody>
      </p: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C3C35230-6E6B-4AE2-A238-476A2293E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703E2F8D-62B3-48AF-BAF5-944399905ED0}" type="datetimeFigureOut">
              <a:rPr lang="pl-PL" smtClean="0"/>
              <a:t>2026.01.01</a:t>
            </a:fld>
            <a:endParaRPr lang="pl-PL" dirty="0"/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B3EC195B-3566-4F5A-8A17-C0D96E0DC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endParaRPr lang="pl-PL" dirty="0"/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B5A64FFA-F5D7-4974-90D5-37C1E4F5D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5F44216D-285E-4743-ADC0-F517FFC76697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28401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BE93013-51BB-4A17-B3BD-969427C67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 rtlCol="0"/>
          <a:lstStyle>
            <a:defPPr>
              <a:defRPr lang="pl-PL"/>
            </a:defPPr>
          </a:lstStyle>
          <a:p>
            <a:pPr rtl="0"/>
            <a:r>
              <a:rPr lang="pl-PL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E965D238-163E-4CA0-8D72-013A528AF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2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lang="pl-PL" sz="2400" b="1"/>
            </a:lvl1pPr>
            <a:lvl2pPr marL="457196" indent="0">
              <a:buNone/>
              <a:defRPr lang="pl-PL" sz="2000" b="1"/>
            </a:lvl2pPr>
            <a:lvl3pPr marL="914391" indent="0">
              <a:buNone/>
              <a:defRPr lang="pl-PL" sz="1800" b="1"/>
            </a:lvl3pPr>
            <a:lvl4pPr marL="1371587" indent="0">
              <a:buNone/>
              <a:defRPr lang="pl-PL" sz="1600" b="1"/>
            </a:lvl4pPr>
            <a:lvl5pPr marL="1828783" indent="0">
              <a:buNone/>
              <a:defRPr lang="pl-PL" sz="1600" b="1"/>
            </a:lvl5pPr>
            <a:lvl6pPr marL="2285978" indent="0">
              <a:buNone/>
              <a:defRPr lang="pl-PL" sz="1600" b="1"/>
            </a:lvl6pPr>
            <a:lvl7pPr marL="2743174" indent="0">
              <a:buNone/>
              <a:defRPr lang="pl-PL" sz="1600" b="1"/>
            </a:lvl7pPr>
            <a:lvl8pPr marL="3200370" indent="0">
              <a:buNone/>
              <a:defRPr lang="pl-PL" sz="1600" b="1"/>
            </a:lvl8pPr>
            <a:lvl9pPr marL="3657565" indent="0">
              <a:buNone/>
              <a:defRPr lang="pl-PL" sz="1600" b="1"/>
            </a:lvl9pPr>
          </a:lstStyle>
          <a:p>
            <a:pPr lvl="0" rtl="0"/>
            <a:r>
              <a:rPr lang="pl-PL"/>
              <a:t>Kliknij, aby edytować style wzorców tekstu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9974BFD3-F57E-442B-B0D6-44B28B98AB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 rtlCol="0"/>
          <a:lstStyle>
            <a:defPPr>
              <a:defRPr lang="pl-PL"/>
            </a:defPPr>
          </a:lstStyle>
          <a:p>
            <a:pPr lvl="0" rtl="0"/>
            <a:r>
              <a:rPr lang="pl-PL"/>
              <a:t>Kliknij, aby edytować style wzorców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</a:p>
        </p:txBody>
      </p:sp>
      <p:sp>
        <p:nvSpPr>
          <p:cNvPr id="5" name="Tekst — symbol zastępczy 4">
            <a:extLst>
              <a:ext uri="{FF2B5EF4-FFF2-40B4-BE49-F238E27FC236}">
                <a16:creationId xmlns:a16="http://schemas.microsoft.com/office/drawing/2014/main" id="{FD6C678E-A9F6-402F-AB68-0001BA3C23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4"/>
            <a:ext cx="5183188" cy="823912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lang="pl-PL" sz="2400" b="1"/>
            </a:lvl1pPr>
            <a:lvl2pPr marL="457196" indent="0">
              <a:buNone/>
              <a:defRPr lang="pl-PL" sz="2000" b="1"/>
            </a:lvl2pPr>
            <a:lvl3pPr marL="914391" indent="0">
              <a:buNone/>
              <a:defRPr lang="pl-PL" sz="1800" b="1"/>
            </a:lvl3pPr>
            <a:lvl4pPr marL="1371587" indent="0">
              <a:buNone/>
              <a:defRPr lang="pl-PL" sz="1600" b="1"/>
            </a:lvl4pPr>
            <a:lvl5pPr marL="1828783" indent="0">
              <a:buNone/>
              <a:defRPr lang="pl-PL" sz="1600" b="1"/>
            </a:lvl5pPr>
            <a:lvl6pPr marL="2285978" indent="0">
              <a:buNone/>
              <a:defRPr lang="pl-PL" sz="1600" b="1"/>
            </a:lvl6pPr>
            <a:lvl7pPr marL="2743174" indent="0">
              <a:buNone/>
              <a:defRPr lang="pl-PL" sz="1600" b="1"/>
            </a:lvl7pPr>
            <a:lvl8pPr marL="3200370" indent="0">
              <a:buNone/>
              <a:defRPr lang="pl-PL" sz="1600" b="1"/>
            </a:lvl8pPr>
            <a:lvl9pPr marL="3657565" indent="0">
              <a:buNone/>
              <a:defRPr lang="pl-PL" sz="1600" b="1"/>
            </a:lvl9pPr>
          </a:lstStyle>
          <a:p>
            <a:pPr lvl="0" rtl="0"/>
            <a:r>
              <a:rPr lang="pl-PL"/>
              <a:t>Kliknij, aby edytować style wzorców tekstu</a:t>
            </a:r>
          </a:p>
        </p:txBody>
      </p:sp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AAC1CE1F-0133-4A8E-9510-3927C275AD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</p:spPr>
        <p:txBody>
          <a:bodyPr rtlCol="0"/>
          <a:lstStyle>
            <a:defPPr>
              <a:defRPr lang="pl-PL"/>
            </a:defPPr>
          </a:lstStyle>
          <a:p>
            <a:pPr lvl="0" rtl="0"/>
            <a:r>
              <a:rPr lang="pl-PL"/>
              <a:t>Kliknij, aby edytować style wzorców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3A812791-1A66-47A2-B8AB-CF2C8494C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703E2F8D-62B3-48AF-BAF5-944399905ED0}" type="datetimeFigureOut">
              <a:rPr lang="pl-PL" smtClean="0"/>
              <a:t>2026.01.01</a:t>
            </a:fld>
            <a:endParaRPr lang="pl-PL" dirty="0"/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4433D370-BE25-4CF9-8D18-A8B0D6286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endParaRPr lang="pl-PL" dirty="0"/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5CFF9EFB-2082-4B18-8532-2E058DF98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5F44216D-285E-4743-ADC0-F517FFC76697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93323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21A482C-C319-43FD-93FF-980D21E2E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rtlCol="0"/>
          <a:lstStyle>
            <a:defPPr>
              <a:defRPr lang="pl-PL"/>
            </a:defPPr>
          </a:lstStyle>
          <a:p>
            <a:pPr rtl="0"/>
            <a:r>
              <a:rPr lang="pl-PL"/>
              <a:t>Kliknij, aby edytować styl wzorca tytułu</a:t>
            </a:r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4203A496-9194-4AF3-A700-304E648B3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703E2F8D-62B3-48AF-BAF5-944399905ED0}" type="datetimeFigureOut">
              <a:rPr lang="pl-PL" smtClean="0"/>
              <a:t>2026.01.01</a:t>
            </a:fld>
            <a:endParaRPr lang="pl-PL" dirty="0"/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5303CEB3-10DB-4C6B-B786-6EA61FEAF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endParaRPr lang="pl-PL" dirty="0"/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E36A844B-2D32-4E86-8B10-61DBDBE59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5F44216D-285E-4743-ADC0-F517FFC76697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983742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a — symbol zastępczy 1">
            <a:extLst>
              <a:ext uri="{FF2B5EF4-FFF2-40B4-BE49-F238E27FC236}">
                <a16:creationId xmlns:a16="http://schemas.microsoft.com/office/drawing/2014/main" id="{4121782B-EB6A-4988-856E-D6637A15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703E2F8D-62B3-48AF-BAF5-944399905ED0}" type="datetimeFigureOut">
              <a:rPr lang="pl-PL" smtClean="0"/>
              <a:t>2026.01.01</a:t>
            </a:fld>
            <a:endParaRPr lang="pl-PL" dirty="0"/>
          </a:p>
        </p:txBody>
      </p:sp>
      <p:sp>
        <p:nvSpPr>
          <p:cNvPr id="3" name="Stopka — symbol zastępczy 2">
            <a:extLst>
              <a:ext uri="{FF2B5EF4-FFF2-40B4-BE49-F238E27FC236}">
                <a16:creationId xmlns:a16="http://schemas.microsoft.com/office/drawing/2014/main" id="{161005B5-4499-443A-AEC7-4504692A5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endParaRPr lang="pl-PL" dirty="0"/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275E9E49-7000-42FC-9389-8FC847AA8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5F44216D-285E-4743-ADC0-F517FFC76697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183066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83EFE04-76D2-4EE9-82B4-6CF8BDAEF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  <a:prstGeom prst="rect">
            <a:avLst/>
          </a:prstGeom>
        </p:spPr>
        <p:txBody>
          <a:bodyPr rtlCol="0" anchor="b"/>
          <a:lstStyle>
            <a:lvl1pPr>
              <a:defRPr lang="pl-PL" sz="3200"/>
            </a:lvl1pPr>
          </a:lstStyle>
          <a:p>
            <a:pPr rtl="0"/>
            <a:r>
              <a:rPr lang="pl-PL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6C0215A4-C64A-4FDE-8E67-809F9ECFC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9" y="987426"/>
            <a:ext cx="6172200" cy="4873625"/>
          </a:xfrm>
          <a:prstGeom prst="rect">
            <a:avLst/>
          </a:prstGeom>
        </p:spPr>
        <p:txBody>
          <a:bodyPr rtlCol="0"/>
          <a:lstStyle>
            <a:lvl1pPr>
              <a:defRPr lang="pl-PL" sz="3200"/>
            </a:lvl1pPr>
            <a:lvl2pPr>
              <a:defRPr lang="pl-PL" sz="2800"/>
            </a:lvl2pPr>
            <a:lvl3pPr>
              <a:defRPr lang="pl-PL" sz="2400"/>
            </a:lvl3pPr>
            <a:lvl4pPr>
              <a:defRPr lang="pl-PL" sz="2000"/>
            </a:lvl4pPr>
            <a:lvl5pPr>
              <a:defRPr lang="pl-PL" sz="2000"/>
            </a:lvl5pPr>
            <a:lvl6pPr>
              <a:defRPr lang="pl-PL" sz="2000"/>
            </a:lvl6pPr>
            <a:lvl7pPr>
              <a:defRPr lang="pl-PL" sz="2000"/>
            </a:lvl7pPr>
            <a:lvl8pPr>
              <a:defRPr lang="pl-PL" sz="2000"/>
            </a:lvl8pPr>
            <a:lvl9pPr>
              <a:defRPr lang="pl-PL" sz="2000"/>
            </a:lvl9pPr>
          </a:lstStyle>
          <a:p>
            <a:pPr lvl="0" rtl="0"/>
            <a:r>
              <a:rPr lang="pl-PL"/>
              <a:t>Kliknij, aby edytować style wzorców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</a:p>
        </p:txBody>
      </p:sp>
      <p:sp>
        <p:nvSpPr>
          <p:cNvPr id="4" name="Tekst — symbol zastępczy 3">
            <a:extLst>
              <a:ext uri="{FF2B5EF4-FFF2-40B4-BE49-F238E27FC236}">
                <a16:creationId xmlns:a16="http://schemas.microsoft.com/office/drawing/2014/main" id="{30899654-FEE0-4F7C-9F7E-E61364191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7" cy="3811588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pl-PL" sz="1600"/>
            </a:lvl1pPr>
            <a:lvl2pPr marL="457196" indent="0">
              <a:buNone/>
              <a:defRPr lang="pl-PL" sz="1400"/>
            </a:lvl2pPr>
            <a:lvl3pPr marL="914391" indent="0">
              <a:buNone/>
              <a:defRPr lang="pl-PL" sz="1200"/>
            </a:lvl3pPr>
            <a:lvl4pPr marL="1371587" indent="0">
              <a:buNone/>
              <a:defRPr lang="pl-PL" sz="1000"/>
            </a:lvl4pPr>
            <a:lvl5pPr marL="1828783" indent="0">
              <a:buNone/>
              <a:defRPr lang="pl-PL" sz="1000"/>
            </a:lvl5pPr>
            <a:lvl6pPr marL="2285978" indent="0">
              <a:buNone/>
              <a:defRPr lang="pl-PL" sz="1000"/>
            </a:lvl6pPr>
            <a:lvl7pPr marL="2743174" indent="0">
              <a:buNone/>
              <a:defRPr lang="pl-PL" sz="1000"/>
            </a:lvl7pPr>
            <a:lvl8pPr marL="3200370" indent="0">
              <a:buNone/>
              <a:defRPr lang="pl-PL" sz="1000"/>
            </a:lvl8pPr>
            <a:lvl9pPr marL="3657565" indent="0">
              <a:buNone/>
              <a:defRPr lang="pl-PL" sz="1000"/>
            </a:lvl9pPr>
          </a:lstStyle>
          <a:p>
            <a:pPr lvl="0" rtl="0"/>
            <a:r>
              <a:rPr lang="pl-PL"/>
              <a:t>Kliknij, aby edytować style wzorców tekstu</a:t>
            </a:r>
          </a:p>
        </p:txBody>
      </p: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610672D7-560C-46F5-B38A-5864AF61B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703E2F8D-62B3-48AF-BAF5-944399905ED0}" type="datetimeFigureOut">
              <a:rPr lang="pl-PL" smtClean="0"/>
              <a:t>2026.01.01</a:t>
            </a:fld>
            <a:endParaRPr lang="pl-PL" dirty="0"/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83333971-AB39-461C-BCDD-6F82E9DF4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endParaRPr lang="pl-PL" dirty="0"/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B7E7803C-62B5-41B0-9BE1-73F066620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5F44216D-285E-4743-ADC0-F517FFC76697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630835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077523E-938F-438E-ACC4-357650D6A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  <a:prstGeom prst="rect">
            <a:avLst/>
          </a:prstGeom>
        </p:spPr>
        <p:txBody>
          <a:bodyPr rtlCol="0" anchor="b"/>
          <a:lstStyle>
            <a:lvl1pPr>
              <a:defRPr lang="pl-PL" sz="3200"/>
            </a:lvl1pPr>
          </a:lstStyle>
          <a:p>
            <a:pPr rtl="0"/>
            <a:r>
              <a:rPr lang="pl-PL"/>
              <a:t>Kliknij, aby edytować styl wzorca tytułu</a:t>
            </a:r>
          </a:p>
        </p:txBody>
      </p:sp>
      <p:sp>
        <p:nvSpPr>
          <p:cNvPr id="3" name="Obraz — symbol zastępczy 2">
            <a:extLst>
              <a:ext uri="{FF2B5EF4-FFF2-40B4-BE49-F238E27FC236}">
                <a16:creationId xmlns:a16="http://schemas.microsoft.com/office/drawing/2014/main" id="{CFC72DA9-4F67-4E76-B94A-2A066F0CC9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9" y="987426"/>
            <a:ext cx="6172200" cy="487362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pl-PL" sz="3200"/>
            </a:lvl1pPr>
            <a:lvl2pPr marL="457196" indent="0">
              <a:buNone/>
              <a:defRPr lang="pl-PL" sz="2800"/>
            </a:lvl2pPr>
            <a:lvl3pPr marL="914391" indent="0">
              <a:buNone/>
              <a:defRPr lang="pl-PL" sz="2400"/>
            </a:lvl3pPr>
            <a:lvl4pPr marL="1371587" indent="0">
              <a:buNone/>
              <a:defRPr lang="pl-PL" sz="2000"/>
            </a:lvl4pPr>
            <a:lvl5pPr marL="1828783" indent="0">
              <a:buNone/>
              <a:defRPr lang="pl-PL" sz="2000"/>
            </a:lvl5pPr>
            <a:lvl6pPr marL="2285978" indent="0">
              <a:buNone/>
              <a:defRPr lang="pl-PL" sz="2000"/>
            </a:lvl6pPr>
            <a:lvl7pPr marL="2743174" indent="0">
              <a:buNone/>
              <a:defRPr lang="pl-PL" sz="2000"/>
            </a:lvl7pPr>
            <a:lvl8pPr marL="3200370" indent="0">
              <a:buNone/>
              <a:defRPr lang="pl-PL" sz="2000"/>
            </a:lvl8pPr>
            <a:lvl9pPr marL="3657565" indent="0">
              <a:buNone/>
              <a:defRPr lang="pl-PL" sz="2000"/>
            </a:lvl9pPr>
          </a:lstStyle>
          <a:p>
            <a:pPr rtl="0"/>
            <a:endParaRPr lang="pl-PL" dirty="0"/>
          </a:p>
        </p:txBody>
      </p:sp>
      <p:sp>
        <p:nvSpPr>
          <p:cNvPr id="4" name="Tekst — symbol zastępczy 3">
            <a:extLst>
              <a:ext uri="{FF2B5EF4-FFF2-40B4-BE49-F238E27FC236}">
                <a16:creationId xmlns:a16="http://schemas.microsoft.com/office/drawing/2014/main" id="{76E2FDD4-868B-425C-9784-E80DB7C01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7" cy="3811588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pl-PL" sz="1600"/>
            </a:lvl1pPr>
            <a:lvl2pPr marL="457196" indent="0">
              <a:buNone/>
              <a:defRPr lang="pl-PL" sz="1400"/>
            </a:lvl2pPr>
            <a:lvl3pPr marL="914391" indent="0">
              <a:buNone/>
              <a:defRPr lang="pl-PL" sz="1200"/>
            </a:lvl3pPr>
            <a:lvl4pPr marL="1371587" indent="0">
              <a:buNone/>
              <a:defRPr lang="pl-PL" sz="1000"/>
            </a:lvl4pPr>
            <a:lvl5pPr marL="1828783" indent="0">
              <a:buNone/>
              <a:defRPr lang="pl-PL" sz="1000"/>
            </a:lvl5pPr>
            <a:lvl6pPr marL="2285978" indent="0">
              <a:buNone/>
              <a:defRPr lang="pl-PL" sz="1000"/>
            </a:lvl6pPr>
            <a:lvl7pPr marL="2743174" indent="0">
              <a:buNone/>
              <a:defRPr lang="pl-PL" sz="1000"/>
            </a:lvl7pPr>
            <a:lvl8pPr marL="3200370" indent="0">
              <a:buNone/>
              <a:defRPr lang="pl-PL" sz="1000"/>
            </a:lvl8pPr>
            <a:lvl9pPr marL="3657565" indent="0">
              <a:buNone/>
              <a:defRPr lang="pl-PL" sz="1000"/>
            </a:lvl9pPr>
          </a:lstStyle>
          <a:p>
            <a:pPr lvl="0" rtl="0"/>
            <a:r>
              <a:rPr lang="pl-PL"/>
              <a:t>Kliknij, aby edytować style wzorców tekstu</a:t>
            </a:r>
          </a:p>
        </p:txBody>
      </p: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D7853192-BC34-458B-84D8-10413109E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703E2F8D-62B3-48AF-BAF5-944399905ED0}" type="datetimeFigureOut">
              <a:rPr lang="pl-PL" smtClean="0"/>
              <a:t>2026.01.01</a:t>
            </a:fld>
            <a:endParaRPr lang="pl-PL" dirty="0"/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AC4140DD-DF78-4ACA-994A-2C80E820B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endParaRPr lang="pl-PL" dirty="0"/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5B255A00-460B-4060-8FC4-6AE015CD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5F44216D-285E-4743-ADC0-F517FFC76697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142786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E289423-CD2E-4FE4-A0A5-BF1DF9A8B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rtlCol="0"/>
          <a:lstStyle>
            <a:defPPr>
              <a:defRPr lang="pl-PL"/>
            </a:defPPr>
          </a:lstStyle>
          <a:p>
            <a:pPr rtl="0"/>
            <a:r>
              <a:rPr lang="pl-PL"/>
              <a:t>Kliknij, aby edytować styl wzorca tytułu</a:t>
            </a:r>
          </a:p>
        </p:txBody>
      </p:sp>
      <p:sp>
        <p:nvSpPr>
          <p:cNvPr id="3" name="Tekst pionowy — symbol zastępczy 2">
            <a:extLst>
              <a:ext uri="{FF2B5EF4-FFF2-40B4-BE49-F238E27FC236}">
                <a16:creationId xmlns:a16="http://schemas.microsoft.com/office/drawing/2014/main" id="{FD721021-E600-4985-9CB7-C91662580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 rtlCol="0"/>
          <a:lstStyle>
            <a:defPPr>
              <a:defRPr lang="pl-PL"/>
            </a:defPPr>
          </a:lstStyle>
          <a:p>
            <a:pPr lvl="0" rtl="0"/>
            <a:r>
              <a:rPr lang="pl-PL"/>
              <a:t>Kliknij, aby edytować style wzorców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3CBF65E1-9312-40C9-B537-2EF2373A3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703E2F8D-62B3-48AF-BAF5-944399905ED0}" type="datetimeFigureOut">
              <a:rPr lang="pl-PL" smtClean="0"/>
              <a:t>2026.01.01</a:t>
            </a:fld>
            <a:endParaRPr lang="pl-PL" dirty="0"/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9727D5D2-711E-4128-B02F-A2F5F3B7B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FA8A264A-3B0E-4789-8D33-E3B8BB427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5F44216D-285E-4743-ADC0-F517FFC76697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567066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475CD398-88C4-4D5A-B800-669821089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 rtlCol="0"/>
          <a:lstStyle>
            <a:defPPr>
              <a:defRPr lang="pl-PL"/>
            </a:defPPr>
          </a:lstStyle>
          <a:p>
            <a:pPr rtl="0"/>
            <a:r>
              <a:rPr lang="pl-PL"/>
              <a:t>Kliknij, aby edytować styl wzorca tytułu</a:t>
            </a:r>
          </a:p>
        </p:txBody>
      </p:sp>
      <p:sp>
        <p:nvSpPr>
          <p:cNvPr id="3" name="Tekst pionowy — symbol zastępczy 2">
            <a:extLst>
              <a:ext uri="{FF2B5EF4-FFF2-40B4-BE49-F238E27FC236}">
                <a16:creationId xmlns:a16="http://schemas.microsoft.com/office/drawing/2014/main" id="{CA0AE657-6D14-4EC6-AF23-3733CA7EC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 rtlCol="0"/>
          <a:lstStyle>
            <a:defPPr>
              <a:defRPr lang="pl-PL"/>
            </a:defPPr>
          </a:lstStyle>
          <a:p>
            <a:pPr lvl="0" rtl="0"/>
            <a:r>
              <a:rPr lang="pl-PL"/>
              <a:t>Kliknij, aby edytować style wzorców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5C013624-5ED1-471D-B870-97A863791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703E2F8D-62B3-48AF-BAF5-944399905ED0}" type="datetimeFigureOut">
              <a:rPr lang="pl-PL" smtClean="0"/>
              <a:t>2026.01.01</a:t>
            </a:fld>
            <a:endParaRPr lang="pl-PL" dirty="0"/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B3A089F5-C44A-423E-A411-0170507EB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FEA2F323-E5A0-4612-B41A-6BBC2FFF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5F44216D-285E-4743-ADC0-F517FFC76697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156236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— symbol zastępczy 1">
            <a:extLst>
              <a:ext uri="{FF2B5EF4-FFF2-40B4-BE49-F238E27FC236}">
                <a16:creationId xmlns:a16="http://schemas.microsoft.com/office/drawing/2014/main" id="{7738DD69-FB8A-4188-BFE4-CBF509E5E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l-PL"/>
            </a:defPPr>
          </a:lstStyle>
          <a:p>
            <a:pPr rtl="0"/>
            <a:r>
              <a:rPr lang="pl-PL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F7815C50-137C-4155-8543-556E7E213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</a:lstStyle>
          <a:p>
            <a:pPr lvl="0" rtl="0"/>
            <a:r>
              <a:rPr lang="pl-PL"/>
              <a:t>Kliknij, aby edytować style wzorców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49C6A1DE-66DD-40F1-896C-01B693106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pl-PL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703E2F8D-62B3-48AF-BAF5-944399905ED0}" type="datetimeFigureOut">
              <a:rPr lang="pl-PL" smtClean="0"/>
              <a:t>2026.01.01</a:t>
            </a:fld>
            <a:endParaRPr lang="pl-PL" dirty="0"/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E07912B1-2F8B-49C2-9253-FDAAEF5D94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pl-PL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4743CF23-BB91-472C-8560-11C5F5282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5F44216D-285E-4743-ADC0-F517FFC76697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682915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91" rtl="0" eaLnBrk="1" latinLnBrk="0" hangingPunct="1">
        <a:lnSpc>
          <a:spcPct val="90000"/>
        </a:lnSpc>
        <a:spcBef>
          <a:spcPct val="0"/>
        </a:spcBef>
        <a:buNone/>
        <a:defRPr lang="pl-PL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8" indent="-228598" algn="l" defTabSz="91439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pl-PL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3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l-PL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9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l-PL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5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0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76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72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67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63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391" rtl="0" eaLnBrk="1" latinLnBrk="0" hangingPunct="1"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6" algn="l" defTabSz="914391" rtl="0" eaLnBrk="1" latinLnBrk="0" hangingPunct="1"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1" algn="l" defTabSz="914391" rtl="0" eaLnBrk="1" latinLnBrk="0" hangingPunct="1"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7" algn="l" defTabSz="914391" rtl="0" eaLnBrk="1" latinLnBrk="0" hangingPunct="1"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3" algn="l" defTabSz="914391" rtl="0" eaLnBrk="1" latinLnBrk="0" hangingPunct="1"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8" algn="l" defTabSz="914391" rtl="0" eaLnBrk="1" latinLnBrk="0" hangingPunct="1"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74" algn="l" defTabSz="914391" rtl="0" eaLnBrk="1" latinLnBrk="0" hangingPunct="1"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70" algn="l" defTabSz="914391" rtl="0" eaLnBrk="1" latinLnBrk="0" hangingPunct="1"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65" algn="l" defTabSz="914391" rtl="0" eaLnBrk="1" latinLnBrk="0" hangingPunct="1"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upport.microsoft.com/pl-pl/office/wprowadzenie-do-j%C4%99zyka-python-w-programie-excel-55643c2e-ff56-4168-b1ce-9428c8308545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Excel_Worksheet2.xlsx"/><Relationship Id="rId3" Type="http://schemas.openxmlformats.org/officeDocument/2006/relationships/image" Target="../media/image4.emf"/><Relationship Id="rId7" Type="http://schemas.openxmlformats.org/officeDocument/2006/relationships/image" Target="../media/image6.emf"/><Relationship Id="rId2" Type="http://schemas.openxmlformats.org/officeDocument/2006/relationships/package" Target="../embeddings/Microsoft_Excel_Macro-Enabled_Worksheet.xlsm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Excel_Worksheet1.xlsx"/><Relationship Id="rId5" Type="http://schemas.openxmlformats.org/officeDocument/2006/relationships/image" Target="../media/image5.emf"/><Relationship Id="rId4" Type="http://schemas.openxmlformats.org/officeDocument/2006/relationships/package" Target="../embeddings/Microsoft_Excel_Worksheet.xlsx"/><Relationship Id="rId9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support.microsoft.com/pl-pl/office/zmienianie-ponownego-obliczania-iteracji-lub-dok%C5%82adno%C5%9Bci-formu%C5%82y-w-programie-excel-73fc7dac-91cf-4d36-86e8-67124f6bcce4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29.emf"/><Relationship Id="rId5" Type="http://schemas.openxmlformats.org/officeDocument/2006/relationships/image" Target="../media/image25.png"/><Relationship Id="rId10" Type="http://schemas.openxmlformats.org/officeDocument/2006/relationships/oleObject" Target="../embeddings/oleObject1.bin"/><Relationship Id="rId4" Type="http://schemas.openxmlformats.org/officeDocument/2006/relationships/image" Target="../media/image24.png"/><Relationship Id="rId9" Type="http://schemas.openxmlformats.org/officeDocument/2006/relationships/hyperlink" Target="https://pandas.pydata.org/Pandas_Cheat_Sheet.pdf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support.microsoft.com/pl-pl/office/wprowadzenie-do-j%C4%99zyka-python-w-programie-excel-55643c2e-ff56-4168-b1ce-9428c8308545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matplotlib.org/3.5.3/tutorials/introductory/pyplot.html#sphx-glr-tutorials-introductory-pyplot-py" TargetMode="External"/><Relationship Id="rId2" Type="http://schemas.openxmlformats.org/officeDocument/2006/relationships/hyperlink" Target="https://seaborn.pydata.org/tutorial/function_overview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cikit-learn.org/stable/" TargetMode="Externa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hyperlink" Target="https://pandas.pydata.org/docs/user_guide/merging.html#appending-rows-to-a-datafram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4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machinelearningmastery.com/10-python-one-liners-for-feature-selection-like-a-pro/" TargetMode="External"/><Relationship Id="rId2" Type="http://schemas.openxmlformats.org/officeDocument/2006/relationships/hyperlink" Target="https://machinelearningmastery.com/10-python-one-liners-that-will-simplify-feature-engineerin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solegalli/Python-Feature-Engineering-Cookbook-Third-Edition" TargetMode="External"/><Relationship Id="rId4" Type="http://schemas.openxmlformats.org/officeDocument/2006/relationships/hyperlink" Target="https://machinelearningmastery.com/10-python-one-liners-that-will-boost-your-data-preparation-workflow/" TargetMode="Externa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hyperlink" Target="https://github.com/gto76/python-cheatsheet?tab=readme-ov-fil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a 1" descr="koła połączone liniami">
            <a:extLst>
              <a:ext uri="{FF2B5EF4-FFF2-40B4-BE49-F238E27FC236}">
                <a16:creationId xmlns:a16="http://schemas.microsoft.com/office/drawing/2014/main" id="{698A0E4F-CFB4-48D6-8D5D-D7F7DD3198A1}"/>
              </a:ext>
            </a:extLst>
          </p:cNvPr>
          <p:cNvGrpSpPr/>
          <p:nvPr/>
        </p:nvGrpSpPr>
        <p:grpSpPr>
          <a:xfrm>
            <a:off x="6867728" y="1031132"/>
            <a:ext cx="4046706" cy="4853637"/>
            <a:chOff x="6867728" y="1031132"/>
            <a:chExt cx="4046706" cy="4853637"/>
          </a:xfrm>
        </p:grpSpPr>
        <p:cxnSp>
          <p:nvCxnSpPr>
            <p:cNvPr id="8" name="Łącznik prosty 7" descr="linia prosta">
              <a:extLst>
                <a:ext uri="{FF2B5EF4-FFF2-40B4-BE49-F238E27FC236}">
                  <a16:creationId xmlns:a16="http://schemas.microsoft.com/office/drawing/2014/main" id="{C765D672-336B-734D-801A-36CBB0354E18}"/>
                </a:ext>
              </a:extLst>
            </p:cNvPr>
            <p:cNvCxnSpPr>
              <a:cxnSpLocks/>
            </p:cNvCxnSpPr>
            <p:nvPr/>
          </p:nvCxnSpPr>
          <p:spPr>
            <a:xfrm>
              <a:off x="7988238" y="2801566"/>
              <a:ext cx="1330860" cy="74818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Łącznik prosty 16" descr="linia prosta">
              <a:extLst>
                <a:ext uri="{FF2B5EF4-FFF2-40B4-BE49-F238E27FC236}">
                  <a16:creationId xmlns:a16="http://schemas.microsoft.com/office/drawing/2014/main" id="{89008531-943E-8C42-82ED-72460A2D10A4}"/>
                </a:ext>
              </a:extLst>
            </p:cNvPr>
            <p:cNvCxnSpPr>
              <a:cxnSpLocks/>
            </p:cNvCxnSpPr>
            <p:nvPr/>
          </p:nvCxnSpPr>
          <p:spPr>
            <a:xfrm>
              <a:off x="9708204" y="1960547"/>
              <a:ext cx="214008" cy="105502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6" name="Owal 5" descr="kształt owalny">
              <a:extLst>
                <a:ext uri="{FF2B5EF4-FFF2-40B4-BE49-F238E27FC236}">
                  <a16:creationId xmlns:a16="http://schemas.microsoft.com/office/drawing/2014/main" id="{9A66A37A-7FB5-194C-B2F8-BB77745D65B0}"/>
                </a:ext>
              </a:extLst>
            </p:cNvPr>
            <p:cNvSpPr/>
            <p:nvPr/>
          </p:nvSpPr>
          <p:spPr>
            <a:xfrm>
              <a:off x="6867728" y="1887166"/>
              <a:ext cx="1303506" cy="130350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l-PL"/>
              </a:defPPr>
            </a:lstStyle>
            <a:p>
              <a:pPr algn="ctr" rtl="0"/>
              <a:endParaRPr lang="pl-PL" dirty="0"/>
            </a:p>
          </p:txBody>
        </p:sp>
        <p:sp>
          <p:nvSpPr>
            <p:cNvPr id="13" name="Owal 12" descr="kształt owalny">
              <a:extLst>
                <a:ext uri="{FF2B5EF4-FFF2-40B4-BE49-F238E27FC236}">
                  <a16:creationId xmlns:a16="http://schemas.microsoft.com/office/drawing/2014/main" id="{9B093669-6BD2-2541-BF99-500AC2759CD6}"/>
                </a:ext>
              </a:extLst>
            </p:cNvPr>
            <p:cNvSpPr/>
            <p:nvPr/>
          </p:nvSpPr>
          <p:spPr>
            <a:xfrm>
              <a:off x="9144000" y="1031132"/>
              <a:ext cx="1031132" cy="103113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l-PL"/>
              </a:defPPr>
            </a:lstStyle>
            <a:p>
              <a:pPr algn="ctr" rtl="0"/>
              <a:endParaRPr lang="pl-PL" dirty="0"/>
            </a:p>
          </p:txBody>
        </p:sp>
        <p:sp>
          <p:nvSpPr>
            <p:cNvPr id="9" name="Owal 8" descr="kształt owalny">
              <a:extLst>
                <a:ext uri="{FF2B5EF4-FFF2-40B4-BE49-F238E27FC236}">
                  <a16:creationId xmlns:a16="http://schemas.microsoft.com/office/drawing/2014/main" id="{EEB60046-7AC0-4C4A-9CA7-4DE66AF0F9E2}"/>
                </a:ext>
              </a:extLst>
            </p:cNvPr>
            <p:cNvSpPr/>
            <p:nvPr/>
          </p:nvSpPr>
          <p:spPr>
            <a:xfrm>
              <a:off x="8598544" y="5000016"/>
              <a:ext cx="884753" cy="884753"/>
            </a:xfrm>
            <a:prstGeom prst="ellipse">
              <a:avLst/>
            </a:prstGeom>
            <a:solidFill>
              <a:srgbClr val="FFB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l-PL"/>
              </a:defPPr>
            </a:lstStyle>
            <a:p>
              <a:pPr algn="ctr" rtl="0"/>
              <a:endParaRPr lang="pl-PL" dirty="0"/>
            </a:p>
          </p:txBody>
        </p:sp>
        <p:cxnSp>
          <p:nvCxnSpPr>
            <p:cNvPr id="10" name="Łącznik prosty 9" descr="linia prosta">
              <a:extLst>
                <a:ext uri="{FF2B5EF4-FFF2-40B4-BE49-F238E27FC236}">
                  <a16:creationId xmlns:a16="http://schemas.microsoft.com/office/drawing/2014/main" id="{DC6AFA79-D8E3-E745-9969-5BF09667F3B4}"/>
                </a:ext>
              </a:extLst>
            </p:cNvPr>
            <p:cNvCxnSpPr>
              <a:cxnSpLocks/>
              <a:endCxn id="9" idx="7"/>
            </p:cNvCxnSpPr>
            <p:nvPr/>
          </p:nvCxnSpPr>
          <p:spPr>
            <a:xfrm flipH="1">
              <a:off x="9353728" y="4465840"/>
              <a:ext cx="501713" cy="663745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Owal 10" descr="kształt owalny">
              <a:extLst>
                <a:ext uri="{FF2B5EF4-FFF2-40B4-BE49-F238E27FC236}">
                  <a16:creationId xmlns:a16="http://schemas.microsoft.com/office/drawing/2014/main" id="{398897D7-2466-E540-8D23-AD7AEA562812}"/>
                </a:ext>
              </a:extLst>
            </p:cNvPr>
            <p:cNvSpPr/>
            <p:nvPr/>
          </p:nvSpPr>
          <p:spPr>
            <a:xfrm>
              <a:off x="9144000" y="3015574"/>
              <a:ext cx="1770434" cy="177043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l-PL"/>
              </a:defPPr>
            </a:lstStyle>
            <a:p>
              <a:pPr algn="ctr" rtl="0"/>
              <a:endParaRPr lang="pl-PL" dirty="0"/>
            </a:p>
          </p:txBody>
        </p:sp>
      </p:grpSp>
      <p:sp>
        <p:nvSpPr>
          <p:cNvPr id="12" name="Tytuł 11">
            <a:extLst>
              <a:ext uri="{FF2B5EF4-FFF2-40B4-BE49-F238E27FC236}">
                <a16:creationId xmlns:a16="http://schemas.microsoft.com/office/drawing/2014/main" id="{409200F7-98BA-391C-22E4-D4675F7AE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988" y="2953724"/>
            <a:ext cx="4875154" cy="2130561"/>
          </a:xfrm>
        </p:spPr>
        <p:txBody>
          <a:bodyPr/>
          <a:lstStyle/>
          <a:p>
            <a:r>
              <a:rPr lang="pl-PL" dirty="0">
                <a:solidFill>
                  <a:srgbClr val="0070C0"/>
                </a:solidFill>
                <a:cs typeface="Segoe UI Semibold"/>
              </a:rPr>
              <a:t>Ex</a:t>
            </a:r>
            <a:r>
              <a:rPr lang="pl-PL" dirty="0">
                <a:solidFill>
                  <a:schemeClr val="tx1">
                    <a:lumMod val="65000"/>
                    <a:lumOff val="35000"/>
                  </a:schemeClr>
                </a:solidFill>
                <a:cs typeface="Segoe UI Semibold"/>
              </a:rPr>
              <a:t>c</a:t>
            </a:r>
            <a:r>
              <a:rPr lang="pl-PL" dirty="0">
                <a:solidFill>
                  <a:srgbClr val="FFB900"/>
                </a:solidFill>
                <a:cs typeface="Segoe UI Semibold"/>
              </a:rPr>
              <a:t>el</a:t>
            </a:r>
            <a:r>
              <a:rPr lang="pl-PL">
                <a:cs typeface="Segoe UI Semibold"/>
              </a:rPr>
              <a:t>=</a:t>
            </a:r>
            <a:r>
              <a:rPr lang="pl-PL">
                <a:solidFill>
                  <a:schemeClr val="accent6">
                    <a:lumMod val="76000"/>
                  </a:schemeClr>
                </a:solidFill>
                <a:cs typeface="Segoe UI Semibold"/>
              </a:rPr>
              <a:t>PY(</a:t>
            </a:r>
            <a:endParaRPr lang="pl-PL" dirty="0">
              <a:solidFill>
                <a:schemeClr val="accent6">
                  <a:lumMod val="76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8590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276DC587-CF85-CD6D-9884-E87733683ED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5925" y="2610570"/>
            <a:ext cx="5327904" cy="3977640"/>
          </a:xfrm>
        </p:spPr>
        <p:txBody>
          <a:bodyPr/>
          <a:lstStyle/>
          <a:p>
            <a:pPr marL="0" indent="0">
              <a:buNone/>
            </a:pPr>
            <a:r>
              <a:rPr lang="pl-PL" sz="1800" b="1" dirty="0"/>
              <a:t>Zalety</a:t>
            </a:r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Działa bezpośrednio w komórkach arkusza, z łatwym/</a:t>
            </a:r>
            <a:r>
              <a:rPr lang="pl-PL" dirty="0" err="1"/>
              <a:t>klikalnym</a:t>
            </a:r>
            <a:r>
              <a:rPr lang="pl-PL" dirty="0"/>
              <a:t> dostępem do komórek w kodzie </a:t>
            </a:r>
            <a:r>
              <a:rPr lang="pl-PL" dirty="0" err="1"/>
              <a:t>Python</a:t>
            </a:r>
            <a:endParaRPr lang="pl-PL" dirty="0"/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Funkcje niestandardowe w komórkach zamiast kodu VBA</a:t>
            </a:r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Wykorzystanie możliwości </a:t>
            </a:r>
            <a:r>
              <a:rPr lang="pl-PL" dirty="0" err="1"/>
              <a:t>Python</a:t>
            </a:r>
            <a:r>
              <a:rPr lang="pl-PL" dirty="0"/>
              <a:t> w zakresie analizy danych:</a:t>
            </a:r>
          </a:p>
          <a:p>
            <a:pPr lvl="1">
              <a:spcBef>
                <a:spcPts val="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 err="1"/>
              <a:t>pandas</a:t>
            </a:r>
            <a:r>
              <a:rPr lang="pl-PL" dirty="0"/>
              <a:t>, </a:t>
            </a:r>
            <a:r>
              <a:rPr lang="pl-PL" dirty="0" err="1"/>
              <a:t>numpy</a:t>
            </a:r>
            <a:r>
              <a:rPr lang="pl-PL" dirty="0"/>
              <a:t>, </a:t>
            </a:r>
            <a:r>
              <a:rPr lang="pl-PL" dirty="0" err="1"/>
              <a:t>scipy</a:t>
            </a:r>
            <a:r>
              <a:rPr lang="pl-PL" dirty="0"/>
              <a:t> -&gt; </a:t>
            </a:r>
            <a:r>
              <a:rPr lang="pl-PL" dirty="0" err="1"/>
              <a:t>dataframe</a:t>
            </a:r>
            <a:r>
              <a:rPr lang="pl-PL" dirty="0"/>
              <a:t>, macierze zaawansowane operacje </a:t>
            </a:r>
          </a:p>
          <a:p>
            <a:pPr lvl="1">
              <a:spcBef>
                <a:spcPts val="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wizualizacje – </a:t>
            </a:r>
            <a:r>
              <a:rPr lang="pl-PL" dirty="0" err="1"/>
              <a:t>matplotlib</a:t>
            </a:r>
            <a:r>
              <a:rPr lang="pl-PL" dirty="0"/>
              <a:t>, </a:t>
            </a:r>
            <a:r>
              <a:rPr lang="pl-PL" dirty="0" err="1"/>
              <a:t>seaborn</a:t>
            </a:r>
            <a:r>
              <a:rPr lang="pl-PL" dirty="0"/>
              <a:t> </a:t>
            </a:r>
          </a:p>
          <a:p>
            <a:pPr lvl="1">
              <a:spcBef>
                <a:spcPts val="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Uczenie maszynowe – </a:t>
            </a:r>
            <a:r>
              <a:rPr lang="pl-PL" dirty="0" err="1"/>
              <a:t>sklearn</a:t>
            </a:r>
            <a:r>
              <a:rPr lang="pl-PL" dirty="0"/>
              <a:t>, </a:t>
            </a:r>
            <a:r>
              <a:rPr lang="pl-PL" dirty="0" err="1"/>
              <a:t>statsmodel</a:t>
            </a:r>
            <a:r>
              <a:rPr lang="pl-PL" dirty="0"/>
              <a:t> </a:t>
            </a:r>
          </a:p>
          <a:p>
            <a:pPr lvl="1">
              <a:spcBef>
                <a:spcPts val="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Wyrażenia regularne, </a:t>
            </a:r>
            <a:r>
              <a:rPr lang="pl-PL" dirty="0" err="1"/>
              <a:t>json’y</a:t>
            </a:r>
            <a:r>
              <a:rPr lang="pl-PL" dirty="0"/>
              <a:t>, </a:t>
            </a:r>
            <a:r>
              <a:rPr lang="pl-PL" dirty="0" err="1"/>
              <a:t>xml</a:t>
            </a:r>
            <a:endParaRPr lang="pl-PL" dirty="0"/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Pozwala automatyzować </a:t>
            </a:r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Jeżeli otwieramy w Excel bez licencji na PY to widać formule =</a:t>
            </a:r>
            <a:r>
              <a:rPr lang="pl-PL" dirty="0" err="1"/>
              <a:t>py</a:t>
            </a:r>
            <a:r>
              <a:rPr lang="pl-PL" dirty="0"/>
              <a:t>("operacje") i wyniki są dostępne</a:t>
            </a:r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Bardzo niska bariera wejścia z podstawową wiedzą z </a:t>
            </a:r>
            <a:r>
              <a:rPr lang="pl-PL" dirty="0" err="1"/>
              <a:t>Python</a:t>
            </a:r>
            <a:r>
              <a:rPr lang="pl-PL" dirty="0"/>
              <a:t> (np. dla zaawansowanych wykresów) lub dobrze udokumentowanymi pakietami </a:t>
            </a:r>
            <a:r>
              <a:rPr lang="pl-PL" dirty="0" err="1"/>
              <a:t>Pythona</a:t>
            </a:r>
            <a:r>
              <a:rPr lang="pl-PL" dirty="0"/>
              <a:t> (na przykładach)</a:t>
            </a:r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05DC59D4-2C25-68F4-47D2-E202C9060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… wstaw pytona       do tabelkowa</a:t>
            </a:r>
          </a:p>
        </p:txBody>
      </p:sp>
      <p:pic>
        <p:nvPicPr>
          <p:cNvPr id="5" name="Obraz 4" descr="Obraz zawierający zrzut ekranu, Grafika, symbol, zieleń&#10;&#10;Zawartość wygenerowana przez AI może być niepoprawna.">
            <a:extLst>
              <a:ext uri="{FF2B5EF4-FFF2-40B4-BE49-F238E27FC236}">
                <a16:creationId xmlns:a16="http://schemas.microsoft.com/office/drawing/2014/main" id="{8A1425E7-8555-1C5E-DDEE-625212F62A4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6627" y="29170"/>
            <a:ext cx="301782" cy="300750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8D2D51CE-71EE-412A-09D6-BAEA8FFE605C}"/>
              </a:ext>
            </a:extLst>
          </p:cNvPr>
          <p:cNvSpPr txBox="1"/>
          <p:nvPr/>
        </p:nvSpPr>
        <p:spPr>
          <a:xfrm>
            <a:off x="405352" y="612742"/>
            <a:ext cx="10350631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>
                <a:solidFill>
                  <a:schemeClr val="accent6">
                    <a:lumMod val="75000"/>
                  </a:schemeClr>
                </a:solidFill>
              </a:rPr>
              <a:t>Co to jest </a:t>
            </a:r>
            <a:r>
              <a:rPr lang="pl-PL" b="1" dirty="0" err="1">
                <a:solidFill>
                  <a:schemeClr val="accent6">
                    <a:lumMod val="75000"/>
                  </a:schemeClr>
                </a:solidFill>
              </a:rPr>
              <a:t>Python</a:t>
            </a:r>
            <a:r>
              <a:rPr lang="pl-PL" b="1" dirty="0">
                <a:solidFill>
                  <a:schemeClr val="accent6">
                    <a:lumMod val="75000"/>
                  </a:schemeClr>
                </a:solidFill>
              </a:rPr>
              <a:t> w Excel?</a:t>
            </a:r>
          </a:p>
          <a:p>
            <a:pPr marL="228598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w programie Excel zapewnia możliwości analizy w języku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w programie Excel. </a:t>
            </a:r>
          </a:p>
          <a:p>
            <a:pPr marL="228598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Służy do przetwarzania danych w programie Excel za pomocą kodu w języku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</a:p>
          <a:p>
            <a:pPr marL="228598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Wpisujesz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bezpośrednio w komórce, obliczenia w języku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są uruchamiane w chmurze firmy Microsoft, a </a:t>
            </a:r>
          </a:p>
          <a:p>
            <a:pPr marL="228598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Wyniki są zwracane do arkusza.</a:t>
            </a:r>
          </a:p>
          <a:p>
            <a:pPr marL="228598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w programie Excel zawiera podstawowy zestaw bibliotek w języku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udostępnianych przez dystrybucję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Anaconda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który umożliwia uproszczenie analizy danych, znajdowanie wzorców i ukrytych informacji oraz wizualizowanie danych za pomocą wykresów. </a:t>
            </a:r>
          </a:p>
        </p:txBody>
      </p:sp>
      <p:sp>
        <p:nvSpPr>
          <p:cNvPr id="7" name="Numer slajdu — symbol zastępczy 5">
            <a:extLst>
              <a:ext uri="{FF2B5EF4-FFF2-40B4-BE49-F238E27FC236}">
                <a16:creationId xmlns:a16="http://schemas.microsoft.com/office/drawing/2014/main" id="{FC6BA40F-9054-13CC-732D-680FDD1BD9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2</a:t>
            </a:fld>
            <a:endParaRPr lang="pl-PL" dirty="0"/>
          </a:p>
        </p:txBody>
      </p:sp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BAD2CD82-078A-8077-C650-1C589FF1D2DB}"/>
              </a:ext>
            </a:extLst>
          </p:cNvPr>
          <p:cNvSpPr txBox="1">
            <a:spLocks/>
          </p:cNvSpPr>
          <p:nvPr/>
        </p:nvSpPr>
        <p:spPr>
          <a:xfrm>
            <a:off x="6096000" y="2610570"/>
            <a:ext cx="5327904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l-PL" sz="1800" b="1" dirty="0"/>
              <a:t>Wady</a:t>
            </a:r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Dostępny w wersjach subskrypcyjnych (o365)</a:t>
            </a:r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Obliczenia w chmurze – czasem wolno działa, konieczne połączenie z </a:t>
            </a:r>
            <a:r>
              <a:rPr lang="pl-PL" dirty="0" err="1"/>
              <a:t>internetem</a:t>
            </a:r>
            <a:r>
              <a:rPr lang="pl-PL" dirty="0"/>
              <a:t> (są limity zasobów) </a:t>
            </a:r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Brak możliwości instalowania własnych bibliotek – tylko dostępne preinstalowane </a:t>
            </a:r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Nie ma operacji na plikach – pobierz dane z arkusza, przez Power Query albo VBA </a:t>
            </a:r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Mieszanie formuł </a:t>
            </a:r>
            <a:r>
              <a:rPr lang="pl-PL" dirty="0" err="1"/>
              <a:t>excel</a:t>
            </a:r>
            <a:r>
              <a:rPr lang="pl-PL" dirty="0"/>
              <a:t> z </a:t>
            </a:r>
            <a:r>
              <a:rPr lang="pl-PL" dirty="0" err="1"/>
              <a:t>python</a:t>
            </a:r>
            <a:r>
              <a:rPr lang="pl-PL" dirty="0"/>
              <a:t> w arkuszu </a:t>
            </a:r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Nie napiszesz własnych modułów ani ich nie zaimportujesz </a:t>
            </a:r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Nie wyeksportujesz zrobionego modelu bez „</a:t>
            </a:r>
            <a:r>
              <a:rPr lang="pl-PL" dirty="0" err="1"/>
              <a:t>trick’ów</a:t>
            </a:r>
            <a:r>
              <a:rPr lang="pl-PL" dirty="0"/>
              <a:t>” </a:t>
            </a:r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Nie podasz dalej wyników w arkuszu ponad zwracane w komórce </a:t>
            </a:r>
            <a:r>
              <a:rPr lang="pl-PL" dirty="0" err="1"/>
              <a:t>python</a:t>
            </a:r>
            <a:r>
              <a:rPr lang="pl-PL" dirty="0"/>
              <a:t> – musisz je konsumować inaczej</a:t>
            </a:r>
          </a:p>
          <a:p>
            <a:pPr marL="0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</p:txBody>
      </p:sp>
      <p:pic>
        <p:nvPicPr>
          <p:cNvPr id="10" name="Obraz 9" descr="Obraz zawierający clipart, symbol, Grafika, design&#10;&#10;Zawartość wygenerowana przez AI może być niepoprawna.">
            <a:extLst>
              <a:ext uri="{FF2B5EF4-FFF2-40B4-BE49-F238E27FC236}">
                <a16:creationId xmlns:a16="http://schemas.microsoft.com/office/drawing/2014/main" id="{9C5AF33E-060B-3A9B-60F0-75B7B2A5473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56708" y="38143"/>
            <a:ext cx="292667" cy="300751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53D1D827-10F9-27EB-F075-98AB3545BB76}"/>
              </a:ext>
            </a:extLst>
          </p:cNvPr>
          <p:cNvSpPr txBox="1"/>
          <p:nvPr/>
        </p:nvSpPr>
        <p:spPr>
          <a:xfrm>
            <a:off x="179109" y="6473826"/>
            <a:ext cx="116421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000" dirty="0">
                <a:solidFill>
                  <a:schemeClr val="bg1">
                    <a:lumMod val="50000"/>
                  </a:schemeClr>
                </a:solidFill>
              </a:rPr>
              <a:t>Źródła:</a:t>
            </a:r>
            <a:r>
              <a:rPr lang="pl-PL" sz="1000" dirty="0"/>
              <a:t> </a:t>
            </a:r>
            <a:r>
              <a:rPr lang="pl-PL" sz="1000" dirty="0">
                <a:hlinkClick r:id="rId4"/>
              </a:rPr>
              <a:t>https://support.microsoft.com/pl-pl/office/wprowadzenie-do-j%C4%99zyka-python-w-programie-excel-55643c2e-ff56-4168-b1ce-9428c8308545</a:t>
            </a:r>
            <a:r>
              <a:rPr lang="pl-PL" sz="1000" dirty="0"/>
              <a:t> , </a:t>
            </a:r>
          </a:p>
          <a:p>
            <a:r>
              <a:rPr lang="pl-PL" sz="1000" dirty="0"/>
              <a:t>własne ( </a:t>
            </a:r>
            <a:r>
              <a:rPr lang="pl-PL" sz="1000" dirty="0" err="1"/>
              <a:t>internety</a:t>
            </a:r>
            <a:r>
              <a:rPr lang="pl-PL" sz="1000" dirty="0"/>
              <a:t>, </a:t>
            </a:r>
            <a:r>
              <a:rPr lang="pl-PL" sz="1000" dirty="0" err="1"/>
              <a:t>youtube’y</a:t>
            </a:r>
            <a:r>
              <a:rPr lang="pl-PL" sz="1000" dirty="0"/>
              <a:t>, </a:t>
            </a:r>
            <a:r>
              <a:rPr lang="pl-PL" sz="1000" dirty="0" err="1"/>
              <a:t>giepety</a:t>
            </a:r>
            <a:r>
              <a:rPr lang="pl-PL" sz="1000" dirty="0"/>
              <a:t>), na barierę wejścia krótkie szkolenie na </a:t>
            </a:r>
            <a:r>
              <a:rPr lang="pl-PL" sz="1000" dirty="0" err="1"/>
              <a:t>Udemy</a:t>
            </a:r>
            <a:r>
              <a:rPr lang="pl-PL" sz="1000" dirty="0"/>
              <a:t> w cenie pizzy (małej)</a:t>
            </a:r>
          </a:p>
          <a:p>
            <a:endParaRPr lang="pl-PL" sz="1000" dirty="0"/>
          </a:p>
        </p:txBody>
      </p:sp>
    </p:spTree>
    <p:extLst>
      <p:ext uri="{BB962C8B-B14F-4D97-AF65-F5344CB8AC3E}">
        <p14:creationId xmlns:p14="http://schemas.microsoft.com/office/powerpoint/2010/main" val="242995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A7419-AF17-CA0E-2DB8-F4DCF593F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D7CA4AFE-9BF0-8FEA-E5A6-CD3CDC09C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… czy warto?</a:t>
            </a:r>
          </a:p>
        </p:txBody>
      </p:sp>
      <p:sp>
        <p:nvSpPr>
          <p:cNvPr id="7" name="Numer slajdu — symbol zastępczy 5">
            <a:extLst>
              <a:ext uri="{FF2B5EF4-FFF2-40B4-BE49-F238E27FC236}">
                <a16:creationId xmlns:a16="http://schemas.microsoft.com/office/drawing/2014/main" id="{5DA963DD-1B69-10A4-2F41-9515300A81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3</a:t>
            </a:fld>
            <a:endParaRPr lang="pl-PL" dirty="0"/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B33F515C-3C99-DA5C-C44B-D70935B18CBB}"/>
              </a:ext>
            </a:extLst>
          </p:cNvPr>
          <p:cNvSpPr txBox="1"/>
          <p:nvPr/>
        </p:nvSpPr>
        <p:spPr>
          <a:xfrm>
            <a:off x="557752" y="568384"/>
            <a:ext cx="1035063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598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598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…to zależy</a:t>
            </a:r>
          </a:p>
          <a:p>
            <a:pPr marL="228598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warto dla wykresów:</a:t>
            </a:r>
          </a:p>
          <a:p>
            <a:pPr marL="685798" lvl="1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łatwo generować powtarzalne paczki prezentacyjne z aktualizacją danych wejściowych</a:t>
            </a:r>
          </a:p>
          <a:p>
            <a:pPr marL="685798" lvl="1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łatwo replikować już stworzone szablony wykresów na nowych danych</a:t>
            </a:r>
          </a:p>
          <a:p>
            <a:pPr marL="228598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warto dla podstawowej analityki danych:</a:t>
            </a:r>
          </a:p>
          <a:p>
            <a:pPr marL="685798" lvl="1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szybka eksploracja danych: filtrowania, agregacje, wizualizacje</a:t>
            </a:r>
          </a:p>
          <a:p>
            <a:pPr marL="685798" lvl="1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łatwe przekształcenia danych złożonymi formułami, zamiast zagnieżdżonymi formułami</a:t>
            </a:r>
          </a:p>
          <a:p>
            <a:pPr marL="685798" lvl="1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złożone funkcje definiowane w komórce, a nie w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vba</a:t>
            </a:r>
            <a:endParaRPr lang="pl-PL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598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zbudujesz/prototypujesz model w kilku linijkach kodu, a jak przygotujesz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template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excela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to zrobisz to w sekundy jak masz dane </a:t>
            </a:r>
          </a:p>
          <a:p>
            <a:pPr marL="228598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wadą jest „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excel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”:</a:t>
            </a:r>
          </a:p>
          <a:p>
            <a:pPr marL="685798" lvl="1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łatwo coś skasujesz</a:t>
            </a:r>
          </a:p>
          <a:p>
            <a:pPr marL="685798" lvl="1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trzeba ogarnąć proces przeliczeń całego skoroszytu, żeby pracować efektywnie z bardziej skomplikowanymi tematami</a:t>
            </a:r>
          </a:p>
          <a:p>
            <a:pPr marL="685798" lvl="1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samo środowisko =PY( wyszło dopiero co z fazy beta, będzie ulepszane, ale to też oznacza zmiany</a:t>
            </a:r>
          </a:p>
          <a:p>
            <a:pPr marL="685798" lvl="1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 wersji próbnej lepiej działa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excel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w przeglądarce, w aplikacji klasycznej lubi zgubić połączenie</a:t>
            </a:r>
          </a:p>
          <a:p>
            <a:pPr marL="685798" lvl="1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obliczenia lecą w chmurze – w wersji na okres próbny o365 przygotowany tu materiał zjadł miesięczny limit użycia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premium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ale spadek mocy w poziomie standard jest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niezuważalny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- jak jest w Office komercyjnym … do sprawdzenia.</a:t>
            </a:r>
          </a:p>
          <a:p>
            <a:pPr marL="685798" lvl="1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funkcjonalności raczej jako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Notepad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do analizy danych ze względu na ‚ulotność przeliczeń’ i brak możliwości podawania wyników dalej w komórki arkusza inaczej niż zmienne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python’a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których użycie wymaga kolejnych komórek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pythona</a:t>
            </a:r>
            <a:endParaRPr lang="pl-PL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685798" lvl="1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Przeładowany ‚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python’em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’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excel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wolno przelicza formuły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python’a</a:t>
            </a:r>
            <a:endParaRPr lang="pl-PL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685798" lvl="1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18E3D9DB-EBF2-2877-B880-819B0C2EFF67}"/>
              </a:ext>
            </a:extLst>
          </p:cNvPr>
          <p:cNvSpPr txBox="1"/>
          <p:nvPr/>
        </p:nvSpPr>
        <p:spPr>
          <a:xfrm>
            <a:off x="804363" y="5339350"/>
            <a:ext cx="10350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91">
              <a:buClr>
                <a:schemeClr val="accent6">
                  <a:lumMod val="75000"/>
                </a:schemeClr>
              </a:buClr>
            </a:pPr>
            <a:r>
              <a:rPr lang="pl-PL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Excel wykorzystany do przygotowania materiałów:</a:t>
            </a:r>
          </a:p>
        </p:txBody>
      </p:sp>
      <p:graphicFrame>
        <p:nvGraphicFramePr>
          <p:cNvPr id="6" name="Obiekt 5">
            <a:extLst>
              <a:ext uri="{FF2B5EF4-FFF2-40B4-BE49-F238E27FC236}">
                <a16:creationId xmlns:a16="http://schemas.microsoft.com/office/drawing/2014/main" id="{F338F17C-3748-91CF-0195-1574249DF3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4036050"/>
              </p:ext>
            </p:extLst>
          </p:nvPr>
        </p:nvGraphicFramePr>
        <p:xfrm>
          <a:off x="5988514" y="5429685"/>
          <a:ext cx="647234" cy="54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showAsIcon="1" r:id="rId2" imgW="914400" imgH="771525" progId="Excel.SheetMacroEnabled.12">
                  <p:embed/>
                </p:oleObj>
              </mc:Choice>
              <mc:Fallback>
                <p:oleObj name="Macro-Enabled Worksheet" showAsIcon="1" r:id="rId2" imgW="914400" imgH="771525" progId="Excel.SheetMacroEnabled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988514" y="5429685"/>
                        <a:ext cx="647234" cy="5461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iekt 1">
            <a:extLst>
              <a:ext uri="{FF2B5EF4-FFF2-40B4-BE49-F238E27FC236}">
                <a16:creationId xmlns:a16="http://schemas.microsoft.com/office/drawing/2014/main" id="{762EE044-6F0A-C987-777C-21292810ED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6205961"/>
              </p:ext>
            </p:extLst>
          </p:nvPr>
        </p:nvGraphicFramePr>
        <p:xfrm>
          <a:off x="5264770" y="5429685"/>
          <a:ext cx="714908" cy="6032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4" imgW="914400" imgH="771525" progId="Excel.Sheet.12">
                  <p:embed/>
                </p:oleObj>
              </mc:Choice>
              <mc:Fallback>
                <p:oleObj name="Worksheet" showAsIcon="1" r:id="rId4" imgW="914400" imgH="7715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64770" y="5429685"/>
                        <a:ext cx="714908" cy="6032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iekt 3">
            <a:extLst>
              <a:ext uri="{FF2B5EF4-FFF2-40B4-BE49-F238E27FC236}">
                <a16:creationId xmlns:a16="http://schemas.microsoft.com/office/drawing/2014/main" id="{8F064B99-3983-384E-5D3E-716D005962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2176531"/>
              </p:ext>
            </p:extLst>
          </p:nvPr>
        </p:nvGraphicFramePr>
        <p:xfrm>
          <a:off x="6778209" y="5472945"/>
          <a:ext cx="647234" cy="54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6" imgW="914400" imgH="771525" progId="Excel.Sheet.12">
                  <p:embed/>
                </p:oleObj>
              </mc:Choice>
              <mc:Fallback>
                <p:oleObj name="Worksheet" showAsIcon="1" r:id="rId6" imgW="914400" imgH="7715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778209" y="5472945"/>
                        <a:ext cx="647234" cy="5461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iekt 4">
            <a:extLst>
              <a:ext uri="{FF2B5EF4-FFF2-40B4-BE49-F238E27FC236}">
                <a16:creationId xmlns:a16="http://schemas.microsoft.com/office/drawing/2014/main" id="{959F3752-3E87-B318-FEA4-B7826532B2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729713"/>
              </p:ext>
            </p:extLst>
          </p:nvPr>
        </p:nvGraphicFramePr>
        <p:xfrm>
          <a:off x="7616393" y="5472945"/>
          <a:ext cx="607581" cy="5126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8" imgW="914400" imgH="771525" progId="Excel.Sheet.12">
                  <p:embed/>
                </p:oleObj>
              </mc:Choice>
              <mc:Fallback>
                <p:oleObj name="Worksheet" showAsIcon="1" r:id="rId8" imgW="914400" imgH="7715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616393" y="5472945"/>
                        <a:ext cx="607581" cy="5126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07237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F9A5D-388F-9B78-5111-0023D8E74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F232A8F1-9194-36FF-5C09-59A50589CC71}"/>
              </a:ext>
            </a:extLst>
          </p:cNvPr>
          <p:cNvSpPr txBox="1">
            <a:spLocks/>
          </p:cNvSpPr>
          <p:nvPr/>
        </p:nvSpPr>
        <p:spPr>
          <a:xfrm>
            <a:off x="451707" y="2680406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 dirty="0"/>
              <a:t>Pierwsze kroki</a:t>
            </a:r>
          </a:p>
          <a:p>
            <a:endParaRPr lang="pl-PL" b="1" dirty="0"/>
          </a:p>
        </p:txBody>
      </p:sp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3C255921-DDFB-C8C7-4BE6-DAF8660649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4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74833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6FA95902-84E0-A578-E808-B0ABBA2BD56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9658" y="546100"/>
            <a:ext cx="9793009" cy="1012943"/>
          </a:xfrm>
        </p:spPr>
        <p:txBody>
          <a:bodyPr/>
          <a:lstStyle/>
          <a:p>
            <a:r>
              <a:rPr lang="pl-PL" b="1" dirty="0"/>
              <a:t>Tak, jeżeli wpisując w dowolnej komórce </a:t>
            </a:r>
            <a:r>
              <a:rPr lang="pl-PL" b="1" dirty="0" err="1"/>
              <a:t>excel’a</a:t>
            </a:r>
            <a:r>
              <a:rPr lang="pl-PL" b="1" dirty="0"/>
              <a:t> =PY( zobaczysz coś takiego:</a:t>
            </a:r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7B5AABBA-3393-773C-AE4F-5B9636174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… czy ja to mam?</a:t>
            </a:r>
          </a:p>
        </p:txBody>
      </p:sp>
      <p:pic>
        <p:nvPicPr>
          <p:cNvPr id="5" name="Obraz 4" descr="Obraz zawierający zrzut ekranu, linia, Prostokąt, zieleń&#10;&#10;Zawartość wygenerowana przez AI może być niepoprawna.">
            <a:extLst>
              <a:ext uri="{FF2B5EF4-FFF2-40B4-BE49-F238E27FC236}">
                <a16:creationId xmlns:a16="http://schemas.microsoft.com/office/drawing/2014/main" id="{50C9A2DC-C003-44D6-25FB-480FE60CE54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94453" y="902326"/>
            <a:ext cx="3858214" cy="656717"/>
          </a:xfrm>
          <a:prstGeom prst="rect">
            <a:avLst/>
          </a:prstGeom>
        </p:spPr>
      </p:pic>
      <p:pic>
        <p:nvPicPr>
          <p:cNvPr id="7" name="Obraz 6" descr="Obraz zawierający tekst, oprogramowanie, linia, Czcionka&#10;&#10;Zawartość wygenerowana przez AI może być niepoprawna.">
            <a:extLst>
              <a:ext uri="{FF2B5EF4-FFF2-40B4-BE49-F238E27FC236}">
                <a16:creationId xmlns:a16="http://schemas.microsoft.com/office/drawing/2014/main" id="{5341C359-7EB6-EC12-FB34-6C11EF96967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461" y="813254"/>
            <a:ext cx="4744530" cy="1562301"/>
          </a:xfrm>
          <a:prstGeom prst="rect">
            <a:avLst/>
          </a:prstGeom>
        </p:spPr>
      </p:pic>
      <p:sp>
        <p:nvSpPr>
          <p:cNvPr id="8" name="Strzałka: w prawo 7">
            <a:extLst>
              <a:ext uri="{FF2B5EF4-FFF2-40B4-BE49-F238E27FC236}">
                <a16:creationId xmlns:a16="http://schemas.microsoft.com/office/drawing/2014/main" id="{0316366C-53F5-73F9-9757-1BDE4DD7F30E}"/>
              </a:ext>
            </a:extLst>
          </p:cNvPr>
          <p:cNvSpPr/>
          <p:nvPr/>
        </p:nvSpPr>
        <p:spPr>
          <a:xfrm>
            <a:off x="5542961" y="1008609"/>
            <a:ext cx="553039" cy="4184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highlight>
                <a:srgbClr val="FF0000"/>
              </a:highlight>
            </a:endParaRPr>
          </a:p>
        </p:txBody>
      </p:sp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0C875FF1-0287-FB76-EE50-951E7986DBDF}"/>
              </a:ext>
            </a:extLst>
          </p:cNvPr>
          <p:cNvSpPr txBox="1">
            <a:spLocks/>
          </p:cNvSpPr>
          <p:nvPr/>
        </p:nvSpPr>
        <p:spPr>
          <a:xfrm>
            <a:off x="264670" y="3262297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/>
              <a:t>…lub sprawdź jak wygląda wstążka formuł w Twojej dystrybucji </a:t>
            </a:r>
            <a:r>
              <a:rPr lang="pl-PL" dirty="0" err="1"/>
              <a:t>excel’a</a:t>
            </a:r>
            <a:endParaRPr lang="pl-PL" dirty="0"/>
          </a:p>
          <a:p>
            <a:endParaRPr lang="pl-PL" dirty="0"/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85557450-5445-B7D5-6109-8F814A06F6F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828" y="3712432"/>
            <a:ext cx="11832343" cy="1389683"/>
          </a:xfrm>
          <a:prstGeom prst="rect">
            <a:avLst/>
          </a:prstGeom>
        </p:spPr>
      </p:pic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8F2DDFD7-8110-FFA6-4240-61572DC5B4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5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18531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BDC07-1052-DA0C-1F56-FC7A66607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E9A9C637-07AA-64AB-DFD7-51D774B08C3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9659" y="546099"/>
            <a:ext cx="7973024" cy="6292851"/>
          </a:xfrm>
        </p:spPr>
        <p:txBody>
          <a:bodyPr>
            <a:normAutofit/>
          </a:bodyPr>
          <a:lstStyle/>
          <a:p>
            <a:r>
              <a:rPr lang="pl-PL" b="1" dirty="0"/>
              <a:t>Moja pierwsza formuła: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Zdefiniujemy zmienną tekstową w=”Witaj </a:t>
            </a:r>
            <a:r>
              <a:rPr lang="pl-PL" dirty="0" err="1"/>
              <a:t>Pythonie</a:t>
            </a:r>
            <a:r>
              <a:rPr lang="pl-PL" dirty="0"/>
              <a:t>”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Wpisz w dowolnej komórce arkusza: =PY(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Następnie już w komórce w trybie </a:t>
            </a:r>
            <a:r>
              <a:rPr lang="pl-PL" dirty="0" err="1"/>
              <a:t>Python</a:t>
            </a:r>
            <a:r>
              <a:rPr lang="pl-PL" dirty="0"/>
              <a:t> wprowadź: w=”Witaj </a:t>
            </a:r>
            <a:r>
              <a:rPr lang="pl-PL" dirty="0" err="1"/>
              <a:t>Pythonie</a:t>
            </a:r>
            <a:r>
              <a:rPr lang="pl-PL" dirty="0"/>
              <a:t>”</a:t>
            </a:r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Wykonaj kod, uwaga </a:t>
            </a:r>
            <a:r>
              <a:rPr lang="pl-PL" dirty="0" err="1"/>
              <a:t>Enter</a:t>
            </a:r>
            <a:r>
              <a:rPr lang="pl-PL" dirty="0"/>
              <a:t> złamie wiersz w komórce – </a:t>
            </a:r>
            <a:r>
              <a:rPr lang="pl-PL" b="1" dirty="0"/>
              <a:t>kod komórki zatwierdzasz </a:t>
            </a:r>
            <a:r>
              <a:rPr lang="pl-PL" b="1" dirty="0" err="1"/>
              <a:t>Ctrl+Enter</a:t>
            </a:r>
            <a:endParaRPr lang="pl-PL" b="1" dirty="0"/>
          </a:p>
          <a:p>
            <a:pPr marL="342900" indent="-342900">
              <a:buFont typeface="+mj-lt"/>
              <a:buAutoNum type="arabicPeriod"/>
            </a:pPr>
            <a:endParaRPr lang="pl-PL" b="1" dirty="0"/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Co mogę z tym zrobić? Tj. z wynikiem w komórce typu [PY] … :</a:t>
            </a:r>
          </a:p>
          <a:p>
            <a:pPr marL="800095" lvl="1" indent="-342900">
              <a:buFont typeface="+mj-lt"/>
              <a:buAutoNum type="alphaLcParenR"/>
            </a:pPr>
            <a:r>
              <a:rPr lang="pl-PL" dirty="0"/>
              <a:t>kliknąć kursorem [PY] i podejrzeć wynik:</a:t>
            </a:r>
          </a:p>
          <a:p>
            <a:pPr marL="800095" lvl="1" indent="-342900">
              <a:buFont typeface="+mj-lt"/>
              <a:buAutoNum type="alphaLcParenR"/>
            </a:pPr>
            <a:endParaRPr lang="pl-PL" dirty="0"/>
          </a:p>
          <a:p>
            <a:pPr marL="800095" lvl="1" indent="-342900">
              <a:buFont typeface="+mj-lt"/>
              <a:buAutoNum type="alphaLcParenR"/>
            </a:pPr>
            <a:r>
              <a:rPr lang="pl-PL" dirty="0"/>
              <a:t>Skopiować wartość do komórki po prawej – ikonka z plusem</a:t>
            </a:r>
          </a:p>
          <a:p>
            <a:pPr marL="800095" lvl="1" indent="-342900">
              <a:buFont typeface="+mj-lt"/>
              <a:buAutoNum type="alphaLcParenR"/>
            </a:pPr>
            <a:endParaRPr lang="pl-PL" dirty="0"/>
          </a:p>
          <a:p>
            <a:pPr marL="800095" lvl="1" indent="-342900">
              <a:buFont typeface="+mj-lt"/>
              <a:buAutoNum type="alphaLcParenR"/>
            </a:pPr>
            <a:endParaRPr lang="pl-PL" dirty="0"/>
          </a:p>
          <a:p>
            <a:pPr marL="800095" lvl="1" indent="-342900">
              <a:buFont typeface="+mj-lt"/>
              <a:buAutoNum type="alphaLcParenR"/>
            </a:pPr>
            <a:endParaRPr lang="pl-PL" dirty="0"/>
          </a:p>
          <a:p>
            <a:pPr marL="800095" lvl="1" indent="-342900">
              <a:buFont typeface="+mj-lt"/>
              <a:buAutoNum type="alphaLcParenR"/>
            </a:pPr>
            <a:r>
              <a:rPr lang="pl-PL" dirty="0"/>
              <a:t>Zmienić typ wyniku (dodatkowa ikona przy pasku formuł) – w przypadku zmiany  na wartość </a:t>
            </a:r>
            <a:r>
              <a:rPr lang="pl-PL" dirty="0" err="1"/>
              <a:t>excel</a:t>
            </a:r>
            <a:r>
              <a:rPr lang="pl-PL" dirty="0"/>
              <a:t> kod </a:t>
            </a:r>
            <a:r>
              <a:rPr lang="pl-PL" dirty="0" err="1"/>
              <a:t>python</a:t>
            </a:r>
            <a:r>
              <a:rPr lang="pl-PL" dirty="0"/>
              <a:t> będzie nadal dostępny w komórce, a jeżeli rezultaty są </a:t>
            </a:r>
            <a:r>
              <a:rPr lang="pl-PL" dirty="0" err="1"/>
              <a:t>wielo</a:t>
            </a:r>
            <a:r>
              <a:rPr lang="pl-PL" dirty="0"/>
              <a:t>- wierszowe bądź kolumnowe to wypełnią komórki w dół i prawo od komórki z kodem </a:t>
            </a:r>
          </a:p>
          <a:p>
            <a:pPr marL="800095" lvl="1" indent="-342900">
              <a:buFont typeface="+mj-lt"/>
              <a:buAutoNum type="alphaLcParenR"/>
            </a:pPr>
            <a:r>
              <a:rPr lang="pl-PL" dirty="0"/>
              <a:t>Funkcje również dostępne z menu ”pod prawym przyciskiem myszy”</a:t>
            </a:r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pPr marL="342900" indent="-342900">
              <a:buFont typeface="+mj-lt"/>
              <a:buAutoNum type="arabicPeriod"/>
            </a:pPr>
            <a:endParaRPr lang="pl-PL" b="1" dirty="0"/>
          </a:p>
          <a:p>
            <a:pPr marL="342900" indent="-342900">
              <a:buFont typeface="+mj-lt"/>
              <a:buAutoNum type="arabicPeriod"/>
            </a:pPr>
            <a:r>
              <a:rPr lang="pl-PL" b="1" dirty="0"/>
              <a:t>Przeliczanie wszystkich formuł PY, może być czasochłonne i </a:t>
            </a:r>
          </a:p>
          <a:p>
            <a:pPr marL="0" indent="0"/>
            <a:r>
              <a:rPr lang="pl-PL" b="1" dirty="0"/>
              <a:t>       często zbędne, więc uważnie przeczytaj kolejny </a:t>
            </a:r>
            <a:r>
              <a:rPr lang="pl-PL" b="1" dirty="0" err="1"/>
              <a:t>slide</a:t>
            </a:r>
            <a:endParaRPr lang="pl-PL" b="1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A28D5B41-1B5D-0BC4-8063-32D20333C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… Witaj </a:t>
            </a:r>
            <a:r>
              <a:rPr lang="pl-PL" dirty="0" err="1"/>
              <a:t>Pythonie</a:t>
            </a:r>
            <a:endParaRPr lang="pl-PL" dirty="0"/>
          </a:p>
        </p:txBody>
      </p:sp>
      <p:pic>
        <p:nvPicPr>
          <p:cNvPr id="6" name="Obraz 5" descr="Obraz zawierający tekst, zrzut ekranu, Czcionka, linia&#10;&#10;Zawartość wygenerowana przez AI może być niepoprawna.">
            <a:extLst>
              <a:ext uri="{FF2B5EF4-FFF2-40B4-BE49-F238E27FC236}">
                <a16:creationId xmlns:a16="http://schemas.microsoft.com/office/drawing/2014/main" id="{E0BB2A73-674E-3C6B-93C2-C891481A468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26420" y="770593"/>
            <a:ext cx="3276318" cy="892635"/>
          </a:xfrm>
          <a:prstGeom prst="rect">
            <a:avLst/>
          </a:prstGeom>
        </p:spPr>
      </p:pic>
      <p:pic>
        <p:nvPicPr>
          <p:cNvPr id="12" name="Obraz 11" descr="Obraz zawierający tekst, zrzut ekranu, Czcionka, linia&#10;&#10;Zawartość wygenerowana przez AI może być niepoprawna.">
            <a:extLst>
              <a:ext uri="{FF2B5EF4-FFF2-40B4-BE49-F238E27FC236}">
                <a16:creationId xmlns:a16="http://schemas.microsoft.com/office/drawing/2014/main" id="{873414AB-5203-7558-16F8-73A67637B1A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38893" y="1804658"/>
            <a:ext cx="3639970" cy="546850"/>
          </a:xfrm>
          <a:prstGeom prst="rect">
            <a:avLst/>
          </a:prstGeom>
        </p:spPr>
      </p:pic>
      <p:pic>
        <p:nvPicPr>
          <p:cNvPr id="14" name="Obraz 13" descr="Obraz zawierający tekst, Wykres, zrzut ekranu&#10;&#10;Zawartość wygenerowana przez AI może być niepoprawna.">
            <a:extLst>
              <a:ext uri="{FF2B5EF4-FFF2-40B4-BE49-F238E27FC236}">
                <a16:creationId xmlns:a16="http://schemas.microsoft.com/office/drawing/2014/main" id="{F496FD0E-CD05-85C7-38F4-B72B11DA174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58599" y="2596508"/>
            <a:ext cx="4320264" cy="1597842"/>
          </a:xfrm>
          <a:prstGeom prst="rect">
            <a:avLst/>
          </a:prstGeom>
        </p:spPr>
      </p:pic>
      <p:pic>
        <p:nvPicPr>
          <p:cNvPr id="16" name="Obraz 15" descr="Obraz zawierający tekst, zrzut ekranu, linia, Czcionka&#10;&#10;Zawartość wygenerowana przez AI może być niepoprawna.">
            <a:extLst>
              <a:ext uri="{FF2B5EF4-FFF2-40B4-BE49-F238E27FC236}">
                <a16:creationId xmlns:a16="http://schemas.microsoft.com/office/drawing/2014/main" id="{2114F8D1-A4B6-C02A-57AF-27432F6EDE1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0455" y="3381666"/>
            <a:ext cx="3276317" cy="954114"/>
          </a:xfrm>
          <a:prstGeom prst="rect">
            <a:avLst/>
          </a:prstGeom>
        </p:spPr>
      </p:pic>
      <p:pic>
        <p:nvPicPr>
          <p:cNvPr id="18" name="Obraz 17" descr="Obraz zawierający tekst, Czcionka, linia, numer&#10;&#10;Zawartość wygenerowana przez AI może być niepoprawna.">
            <a:extLst>
              <a:ext uri="{FF2B5EF4-FFF2-40B4-BE49-F238E27FC236}">
                <a16:creationId xmlns:a16="http://schemas.microsoft.com/office/drawing/2014/main" id="{5387B7B4-E9D9-39D8-8606-76057BBC5B8F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0350" y="4335780"/>
            <a:ext cx="3290845" cy="915267"/>
          </a:xfrm>
          <a:prstGeom prst="rect">
            <a:avLst/>
          </a:prstGeom>
        </p:spPr>
      </p:pic>
      <p:pic>
        <p:nvPicPr>
          <p:cNvPr id="20" name="Obraz 19" descr="Obraz zawierający tekst, zrzut ekranu, numer, oprogramowanie&#10;&#10;Zawartość wygenerowana przez AI może być niepoprawna.">
            <a:extLst>
              <a:ext uri="{FF2B5EF4-FFF2-40B4-BE49-F238E27FC236}">
                <a16:creationId xmlns:a16="http://schemas.microsoft.com/office/drawing/2014/main" id="{966C97D7-BF11-F8E2-4CD4-B17895FFA413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20981" y="4931972"/>
            <a:ext cx="1497360" cy="1926028"/>
          </a:xfrm>
          <a:prstGeom prst="rect">
            <a:avLst/>
          </a:prstGeom>
        </p:spPr>
      </p:pic>
      <p:sp>
        <p:nvSpPr>
          <p:cNvPr id="21" name="Numer slajdu — symbol zastępczy 5">
            <a:extLst>
              <a:ext uri="{FF2B5EF4-FFF2-40B4-BE49-F238E27FC236}">
                <a16:creationId xmlns:a16="http://schemas.microsoft.com/office/drawing/2014/main" id="{0F38023E-6E25-48E3-C647-4E35611194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6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267802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AA5E1-3FBE-E28D-E980-79F78158D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D910071A-268B-9812-AC1C-BC3EC8E3AB1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9658" y="546099"/>
            <a:ext cx="11555821" cy="6292851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l-PL" sz="1600" b="1" dirty="0">
                <a:solidFill>
                  <a:schemeClr val="tx1"/>
                </a:solidFill>
              </a:rPr>
              <a:t>Kolejność przeliczania Skoroszytu Excela:</a:t>
            </a:r>
          </a:p>
          <a:p>
            <a:pPr marL="800095" lvl="1" indent="-342900">
              <a:buFont typeface="+mj-lt"/>
              <a:buAutoNum type="arabicPeriod"/>
            </a:pPr>
            <a:r>
              <a:rPr lang="pl-PL" sz="1600" dirty="0">
                <a:solidFill>
                  <a:schemeClr val="tx1"/>
                </a:solidFill>
              </a:rPr>
              <a:t>W pierwszym arkuszu od pierwszej komórki w prawo do końca wiersza i następnie kolejny wiersz</a:t>
            </a:r>
          </a:p>
          <a:p>
            <a:pPr marL="800095" lvl="1" indent="-342900">
              <a:buFont typeface="+mj-lt"/>
              <a:buAutoNum type="arabicPeriod"/>
            </a:pPr>
            <a:r>
              <a:rPr lang="pl-PL" sz="1600" dirty="0">
                <a:solidFill>
                  <a:schemeClr val="tx1"/>
                </a:solidFill>
              </a:rPr>
              <a:t>Po kolei kolejne arkusze</a:t>
            </a:r>
          </a:p>
          <a:p>
            <a:pPr marL="342900" indent="-342900">
              <a:buFont typeface="+mj-lt"/>
              <a:buAutoNum type="arabicPeriod"/>
            </a:pPr>
            <a:r>
              <a:rPr lang="pl-PL" sz="1600" b="1" dirty="0">
                <a:solidFill>
                  <a:srgbClr val="FF0000"/>
                </a:solidFill>
              </a:rPr>
              <a:t>Warto wyłączyć automatyczne przeliczenia skoroszytu </a:t>
            </a:r>
            <a:r>
              <a:rPr lang="pl-PL" sz="1600" dirty="0"/>
              <a:t>– pasek Formuły/Opcje obliczania/Ręczne</a:t>
            </a:r>
          </a:p>
          <a:p>
            <a:pPr marL="342900" indent="-342900">
              <a:buFont typeface="+mj-lt"/>
              <a:buAutoNum type="arabicPeriod"/>
            </a:pPr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sz="1600" dirty="0"/>
          </a:p>
          <a:p>
            <a:pPr marL="342900" indent="-342900">
              <a:buFont typeface="+mj-lt"/>
              <a:buAutoNum type="arabicPeriod"/>
            </a:pPr>
            <a:r>
              <a:rPr lang="pl-PL" sz="1600" dirty="0"/>
              <a:t>Przeliczanie – menu formuły </a:t>
            </a:r>
          </a:p>
          <a:p>
            <a:pPr marL="800095" lvl="1" indent="-342900">
              <a:buFont typeface="+mj-lt"/>
              <a:buAutoNum type="alphaLcParenR"/>
            </a:pPr>
            <a:r>
              <a:rPr lang="pl-PL" sz="1600" dirty="0"/>
              <a:t>Automatycznie – zawsze po każdej zmianie </a:t>
            </a:r>
          </a:p>
          <a:p>
            <a:pPr marL="800095" lvl="1" indent="-342900">
              <a:buFont typeface="+mj-lt"/>
              <a:buAutoNum type="alphaLcParenR"/>
            </a:pPr>
            <a:r>
              <a:rPr lang="pl-PL" sz="1600" dirty="0"/>
              <a:t>Częściowo </a:t>
            </a:r>
          </a:p>
          <a:p>
            <a:pPr marL="800095" lvl="1" indent="-342900">
              <a:buFont typeface="+mj-lt"/>
              <a:buAutoNum type="alphaLcParenR"/>
            </a:pPr>
            <a:r>
              <a:rPr lang="pl-PL" sz="1600" b="1" dirty="0"/>
              <a:t>Ręcznie </a:t>
            </a:r>
          </a:p>
          <a:p>
            <a:pPr lvl="2"/>
            <a:r>
              <a:rPr lang="pl-PL" dirty="0"/>
              <a:t>F9 - cały skoroszyt </a:t>
            </a:r>
          </a:p>
          <a:p>
            <a:pPr lvl="2"/>
            <a:r>
              <a:rPr lang="pl-PL" b="1" dirty="0"/>
              <a:t>Shift+F9 - arkusz </a:t>
            </a:r>
          </a:p>
          <a:p>
            <a:pPr marL="342900" lvl="2" indent="-34290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+mj-lt"/>
              <a:buAutoNum type="arabicPeriod" startAt="4"/>
            </a:pPr>
            <a:r>
              <a:rPr lang="pl-PL" sz="1600" dirty="0"/>
              <a:t>Szczegóły ustawień przeliczania w </a:t>
            </a:r>
            <a:r>
              <a:rPr lang="pl-PL" sz="1600" dirty="0">
                <a:hlinkClick r:id="rId2"/>
              </a:rPr>
              <a:t>pomocy pakietu </a:t>
            </a:r>
            <a:r>
              <a:rPr lang="pl-PL" sz="1600" dirty="0" err="1">
                <a:hlinkClick r:id="rId2"/>
              </a:rPr>
              <a:t>office</a:t>
            </a:r>
            <a:r>
              <a:rPr lang="pl-PL" sz="1600" dirty="0">
                <a:hlinkClick r:id="rId2"/>
              </a:rPr>
              <a:t> </a:t>
            </a: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ED275144-E916-50AE-6E76-8E6439E04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… jestem zajęty – automatyczne przeliczanie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F36F6F3E-ED94-3156-655F-18EFE9E0A09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3253" y="1855177"/>
            <a:ext cx="9037881" cy="1070142"/>
          </a:xfrm>
          <a:prstGeom prst="rect">
            <a:avLst/>
          </a:prstGeom>
        </p:spPr>
      </p:pic>
      <p:sp>
        <p:nvSpPr>
          <p:cNvPr id="7" name="Numer slajdu — symbol zastępczy 5">
            <a:extLst>
              <a:ext uri="{FF2B5EF4-FFF2-40B4-BE49-F238E27FC236}">
                <a16:creationId xmlns:a16="http://schemas.microsoft.com/office/drawing/2014/main" id="{756BAEF5-985C-E137-AEBF-8FF36BD56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7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595094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C1BAF-31F8-2F92-2AE1-2E5DF2D18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BF1A6868-BD8B-44F6-6AAF-8D1A5A4EBE1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9659" y="546099"/>
            <a:ext cx="5736341" cy="2178247"/>
          </a:xfrm>
        </p:spPr>
        <p:txBody>
          <a:bodyPr>
            <a:normAutofit/>
          </a:bodyPr>
          <a:lstStyle/>
          <a:p>
            <a:r>
              <a:rPr lang="pl-PL" b="1" dirty="0"/>
              <a:t>Jakie mam zainstalowane pakiety: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Z pakietem Office jest dostępna dystrybucja </a:t>
            </a:r>
            <a:r>
              <a:rPr lang="pl-PL" dirty="0" err="1"/>
              <a:t>python</a:t>
            </a:r>
            <a:r>
              <a:rPr lang="pl-PL" dirty="0"/>
              <a:t> </a:t>
            </a:r>
            <a:r>
              <a:rPr lang="pl-PL" dirty="0" err="1"/>
              <a:t>Anaconda</a:t>
            </a:r>
            <a:endParaRPr lang="pl-PL" dirty="0"/>
          </a:p>
          <a:p>
            <a:pPr marL="342900" indent="-342900">
              <a:buFont typeface="+mj-lt"/>
              <a:buAutoNum type="arabicPeriod"/>
            </a:pPr>
            <a:r>
              <a:rPr lang="pl-PL" dirty="0" err="1"/>
              <a:t>Szczegołów</a:t>
            </a:r>
            <a:r>
              <a:rPr lang="pl-PL" dirty="0"/>
              <a:t> można szukać na stronach Microsoft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Wstępnie wczytywane jest kilka pakietów, które można sprawdzić przez Formuły/Inicjowanie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Lista pakietów wstępnie wczytywanych nie jest jeszcze edytowalna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Można od razu korzystać z zdefiniowanych tam </a:t>
            </a:r>
            <a:r>
              <a:rPr lang="pl-PL" dirty="0" err="1"/>
              <a:t>alias’ów</a:t>
            </a:r>
            <a:r>
              <a:rPr lang="pl-PL" dirty="0"/>
              <a:t> pakietów</a:t>
            </a:r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pPr marL="0" indent="0"/>
            <a:endParaRPr lang="pl-PL" dirty="0"/>
          </a:p>
          <a:p>
            <a:pPr marL="0" indent="0"/>
            <a:endParaRPr lang="pl-PL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9C10070D-D72F-363E-3DCA-8E7D2CFA2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… dajcie mi edytor kodu</a:t>
            </a:r>
          </a:p>
        </p:txBody>
      </p:sp>
      <p:pic>
        <p:nvPicPr>
          <p:cNvPr id="5" name="Obraz 4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A1DEDE29-5761-9B63-10AC-698DF9EC8A3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599916"/>
            <a:ext cx="2149792" cy="928319"/>
          </a:xfrm>
          <a:prstGeom prst="rect">
            <a:avLst/>
          </a:prstGeom>
        </p:spPr>
      </p:pic>
      <p:pic>
        <p:nvPicPr>
          <p:cNvPr id="7" name="Obraz 6" descr="Obraz zawierający tekst, zrzut ekranu, Czcionka, wyświetlacz&#10;&#10;Zawartość wygenerowana przez AI może być niepoprawna.">
            <a:extLst>
              <a:ext uri="{FF2B5EF4-FFF2-40B4-BE49-F238E27FC236}">
                <a16:creationId xmlns:a16="http://schemas.microsoft.com/office/drawing/2014/main" id="{8C18D50F-507C-9322-0596-A9BF1FBEF88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32683" y="592518"/>
            <a:ext cx="3658505" cy="2357585"/>
          </a:xfrm>
          <a:prstGeom prst="rect">
            <a:avLst/>
          </a:prstGeom>
        </p:spPr>
      </p:pic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6961C37B-E993-9BAE-EDCD-926D98832ADA}"/>
              </a:ext>
            </a:extLst>
          </p:cNvPr>
          <p:cNvSpPr txBox="1">
            <a:spLocks/>
          </p:cNvSpPr>
          <p:nvPr/>
        </p:nvSpPr>
        <p:spPr>
          <a:xfrm>
            <a:off x="359659" y="3545549"/>
            <a:ext cx="6431839" cy="14968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b="1" dirty="0"/>
              <a:t>Edytor kodu: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Edytor kodu znajdziesz w </a:t>
            </a:r>
            <a:r>
              <a:rPr lang="pl-PL" dirty="0" err="1"/>
              <a:t>Fromuły</a:t>
            </a:r>
            <a:r>
              <a:rPr lang="pl-PL" dirty="0"/>
              <a:t>/Edytor lub z menu ”prawego przycisku myszy”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W menu Edytora wybierz, który komórki kodowe chcesz oglądać.</a:t>
            </a:r>
          </a:p>
          <a:p>
            <a:pPr marL="342900" indent="-342900">
              <a:buFont typeface="+mj-lt"/>
              <a:buAutoNum type="arabicPeriod"/>
            </a:pPr>
            <a:r>
              <a:rPr lang="pl-PL" b="1" dirty="0"/>
              <a:t>W edytorze zobaczysz więcej … </a:t>
            </a:r>
            <a:r>
              <a:rPr lang="pl-PL" dirty="0"/>
              <a:t>w tym szczegóły błędów, czy </a:t>
            </a:r>
            <a:r>
              <a:rPr lang="pl-PL" dirty="0" err="1"/>
              <a:t>print</a:t>
            </a:r>
            <a:r>
              <a:rPr lang="pl-PL" dirty="0"/>
              <a:t>(…)</a:t>
            </a:r>
          </a:p>
          <a:p>
            <a:pPr marL="0" indent="0"/>
            <a:endParaRPr lang="pl-PL" dirty="0"/>
          </a:p>
          <a:p>
            <a:pPr marL="0" indent="0"/>
            <a:endParaRPr lang="pl-PL" dirty="0"/>
          </a:p>
          <a:p>
            <a:pPr marL="0" indent="0"/>
            <a:endParaRPr lang="pl-PL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pic>
        <p:nvPicPr>
          <p:cNvPr id="10" name="Obraz 9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7D3E3BAF-AA69-4928-DC5E-7123FF49B49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26386" y="3087105"/>
            <a:ext cx="2005146" cy="2340686"/>
          </a:xfrm>
          <a:prstGeom prst="rect">
            <a:avLst/>
          </a:prstGeom>
        </p:spPr>
      </p:pic>
      <p:pic>
        <p:nvPicPr>
          <p:cNvPr id="12" name="Obraz 11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8B12E5FA-5AB2-8C46-0A0A-66FAB66F7A2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68903" y="4381755"/>
            <a:ext cx="2031405" cy="2274633"/>
          </a:xfrm>
          <a:prstGeom prst="rect">
            <a:avLst/>
          </a:prstGeom>
        </p:spPr>
      </p:pic>
      <p:sp>
        <p:nvSpPr>
          <p:cNvPr id="13" name="Symbol zastępczy zawartości 1">
            <a:extLst>
              <a:ext uri="{FF2B5EF4-FFF2-40B4-BE49-F238E27FC236}">
                <a16:creationId xmlns:a16="http://schemas.microsoft.com/office/drawing/2014/main" id="{7C25BD03-D900-D98F-B5F0-1D127C703034}"/>
              </a:ext>
            </a:extLst>
          </p:cNvPr>
          <p:cNvSpPr txBox="1">
            <a:spLocks/>
          </p:cNvSpPr>
          <p:nvPr/>
        </p:nvSpPr>
        <p:spPr>
          <a:xfrm>
            <a:off x="325401" y="4919613"/>
            <a:ext cx="7150055" cy="149683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b="1" dirty="0"/>
              <a:t>…a jakie widzę błędy w komórkach? …a takie: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pl-PL" dirty="0"/>
              <a:t>#POŁĄCZ! - brak połączenia z silnikiem </a:t>
            </a:r>
            <a:r>
              <a:rPr lang="pl-PL" dirty="0" err="1"/>
              <a:t>python’a</a:t>
            </a:r>
            <a:r>
              <a:rPr lang="pl-PL" dirty="0"/>
              <a:t> w chmurze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pl-PL" dirty="0"/>
              <a:t>#ZAJĘTY! - w trakcie obliczania 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pl-PL" dirty="0"/>
              <a:t>#PYTHON! - błąd skryptu 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pl-PL" dirty="0"/>
              <a:t>#OBL! - nieprzeliczone poprzednie wartości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pl-PL" dirty="0"/>
              <a:t>#ROZLANIE! – jeżeli wyniki będą wchodziły na wykorzystywane komórki </a:t>
            </a:r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pPr marL="0" indent="0"/>
            <a:endParaRPr lang="pl-PL" dirty="0"/>
          </a:p>
          <a:p>
            <a:pPr marL="0" indent="0"/>
            <a:endParaRPr lang="pl-PL" dirty="0"/>
          </a:p>
          <a:p>
            <a:pPr marL="0" indent="0"/>
            <a:endParaRPr lang="pl-PL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14" name="Symbol zastępczy zawartości 1">
            <a:extLst>
              <a:ext uri="{FF2B5EF4-FFF2-40B4-BE49-F238E27FC236}">
                <a16:creationId xmlns:a16="http://schemas.microsoft.com/office/drawing/2014/main" id="{D9E2594F-B03D-A6E7-4FBC-8F3678FE0BC9}"/>
              </a:ext>
            </a:extLst>
          </p:cNvPr>
          <p:cNvSpPr txBox="1">
            <a:spLocks/>
          </p:cNvSpPr>
          <p:nvPr/>
        </p:nvSpPr>
        <p:spPr>
          <a:xfrm>
            <a:off x="325400" y="2246680"/>
            <a:ext cx="5770599" cy="1326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b="1" dirty="0"/>
              <a:t>Dostępne pakiety sprawdź sobie sam pisząc =PY(:</a:t>
            </a:r>
          </a:p>
          <a:p>
            <a:pPr marL="457195" lvl="1" indent="0" fontAlgn="base">
              <a:spcBef>
                <a:spcPts val="0"/>
              </a:spcBef>
              <a:buNone/>
            </a:pPr>
            <a:r>
              <a:rPr lang="pl-PL" i="1" dirty="0"/>
              <a:t>import </a:t>
            </a:r>
            <a:r>
              <a:rPr lang="pl-PL" i="1" dirty="0" err="1"/>
              <a:t>importlib.metadata</a:t>
            </a:r>
            <a:r>
              <a:rPr lang="pl-PL" i="1" dirty="0"/>
              <a:t> as md</a:t>
            </a:r>
            <a:endParaRPr lang="pl-PL" dirty="0"/>
          </a:p>
          <a:p>
            <a:pPr marL="457195" lvl="1" indent="0" fontAlgn="base">
              <a:spcBef>
                <a:spcPts val="0"/>
              </a:spcBef>
              <a:buNone/>
            </a:pPr>
            <a:r>
              <a:rPr lang="pl-PL" i="1" dirty="0" err="1"/>
              <a:t>mapping</a:t>
            </a:r>
            <a:r>
              <a:rPr lang="pl-PL" i="1" dirty="0"/>
              <a:t> = </a:t>
            </a:r>
            <a:r>
              <a:rPr lang="pl-PL" i="1" dirty="0" err="1"/>
              <a:t>md.packages_distributions</a:t>
            </a:r>
            <a:r>
              <a:rPr lang="pl-PL" i="1" dirty="0"/>
              <a:t>()</a:t>
            </a:r>
            <a:endParaRPr lang="pl-PL" dirty="0"/>
          </a:p>
          <a:p>
            <a:pPr marL="457195" lvl="1" indent="0" fontAlgn="base">
              <a:spcBef>
                <a:spcPts val="0"/>
              </a:spcBef>
              <a:buNone/>
            </a:pPr>
            <a:r>
              <a:rPr lang="pl-PL" i="1" dirty="0" err="1"/>
              <a:t>names</a:t>
            </a:r>
            <a:r>
              <a:rPr lang="pl-PL" i="1" dirty="0"/>
              <a:t> = </a:t>
            </a:r>
            <a:r>
              <a:rPr lang="pl-PL" i="1" dirty="0" err="1"/>
              <a:t>sorted</a:t>
            </a:r>
            <a:r>
              <a:rPr lang="pl-PL" i="1" dirty="0"/>
              <a:t>(set(sum(</a:t>
            </a:r>
            <a:r>
              <a:rPr lang="pl-PL" i="1" dirty="0" err="1"/>
              <a:t>mapping.values</a:t>
            </a:r>
            <a:r>
              <a:rPr lang="pl-PL" i="1" dirty="0"/>
              <a:t>(), [])))</a:t>
            </a:r>
            <a:endParaRPr lang="pl-PL" dirty="0"/>
          </a:p>
          <a:p>
            <a:pPr marL="457195" lvl="1" indent="0" fontAlgn="base">
              <a:spcBef>
                <a:spcPts val="0"/>
              </a:spcBef>
              <a:buNone/>
            </a:pPr>
            <a:r>
              <a:rPr lang="pl-PL" i="1" dirty="0" err="1"/>
              <a:t>pd.DataFrame</a:t>
            </a:r>
            <a:r>
              <a:rPr lang="pl-PL" i="1" dirty="0"/>
              <a:t>(</a:t>
            </a:r>
            <a:r>
              <a:rPr lang="pl-PL" i="1" dirty="0" err="1"/>
              <a:t>names</a:t>
            </a:r>
            <a:r>
              <a:rPr lang="pl-PL" i="1" dirty="0"/>
              <a:t>, </a:t>
            </a:r>
            <a:r>
              <a:rPr lang="pl-PL" i="1" dirty="0" err="1"/>
              <a:t>columns</a:t>
            </a:r>
            <a:r>
              <a:rPr lang="pl-PL" i="1" dirty="0"/>
              <a:t>=["</a:t>
            </a:r>
            <a:r>
              <a:rPr lang="pl-PL" i="1" dirty="0" err="1"/>
              <a:t>package</a:t>
            </a:r>
            <a:r>
              <a:rPr lang="pl-PL" i="1" dirty="0"/>
              <a:t>"])</a:t>
            </a:r>
            <a:endParaRPr lang="pl-PL" dirty="0"/>
          </a:p>
          <a:p>
            <a:pPr marL="0" indent="0"/>
            <a:endParaRPr lang="pl-PL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17" name="Numer slajdu — symbol zastępczy 5">
            <a:extLst>
              <a:ext uri="{FF2B5EF4-FFF2-40B4-BE49-F238E27FC236}">
                <a16:creationId xmlns:a16="http://schemas.microsoft.com/office/drawing/2014/main" id="{6F446468-DF17-5EF8-5E8F-6FAA62271F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8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41420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370EA-2CD7-9AFB-D08D-6754FCBCE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3904B081-79D9-2CB4-85A9-511C4029726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9659" y="550399"/>
            <a:ext cx="7973024" cy="6292851"/>
          </a:xfrm>
        </p:spPr>
        <p:txBody>
          <a:bodyPr>
            <a:normAutofit/>
          </a:bodyPr>
          <a:lstStyle/>
          <a:p>
            <a:r>
              <a:rPr lang="pl-PL" sz="1200" b="1" dirty="0"/>
              <a:t>Moja pierwsze </a:t>
            </a:r>
            <a:r>
              <a:rPr lang="pl-PL" sz="1200" b="1" dirty="0" err="1"/>
              <a:t>dataframe</a:t>
            </a:r>
            <a:r>
              <a:rPr lang="pl-PL" sz="1200" b="1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pl-PL" sz="1200" dirty="0"/>
              <a:t>Dane z ’</a:t>
            </a:r>
            <a:r>
              <a:rPr lang="pl-PL" sz="1200" dirty="0" err="1"/>
              <a:t>excel’a</a:t>
            </a:r>
            <a:r>
              <a:rPr lang="pl-PL" sz="1200" dirty="0"/>
              <a:t>’ jako ramka (</a:t>
            </a:r>
            <a:r>
              <a:rPr lang="pl-PL" sz="1200" dirty="0" err="1"/>
              <a:t>dataframe</a:t>
            </a:r>
            <a:r>
              <a:rPr lang="pl-PL" sz="1200" dirty="0"/>
              <a:t>)</a:t>
            </a:r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r>
              <a:rPr lang="pl-PL" sz="1200" dirty="0"/>
              <a:t>Narysuj pierwszy wykres</a:t>
            </a:r>
          </a:p>
          <a:p>
            <a:pPr lvl="1"/>
            <a:r>
              <a:rPr lang="pl-PL" sz="1200" dirty="0"/>
              <a:t>wykres zobaczysz w edytorze</a:t>
            </a:r>
          </a:p>
          <a:p>
            <a:pPr lvl="1"/>
            <a:r>
              <a:rPr lang="pl-PL" sz="1200" dirty="0"/>
              <a:t>możesz go </a:t>
            </a:r>
            <a:r>
              <a:rPr lang="pl-PL" sz="1200" dirty="0" err="1"/>
              <a:t>wykopiować</a:t>
            </a:r>
            <a:r>
              <a:rPr lang="pl-PL" sz="1200" dirty="0"/>
              <a:t> ikonką wykresu obok </a:t>
            </a:r>
            <a:r>
              <a:rPr lang="pl-PL" sz="1200" dirty="0" err="1"/>
              <a:t>komówi</a:t>
            </a:r>
            <a:r>
              <a:rPr lang="pl-PL" sz="1200" dirty="0"/>
              <a:t>, gdzie wprowadziłeś =PY(</a:t>
            </a:r>
          </a:p>
          <a:p>
            <a:pPr lvl="1"/>
            <a:r>
              <a:rPr lang="pl-PL" sz="1200" dirty="0"/>
              <a:t>lub powiększyć komórkę (lub połączyć z </a:t>
            </a:r>
            <a:r>
              <a:rPr lang="pl-PL" sz="1200" dirty="0" err="1"/>
              <a:t>innmi</a:t>
            </a:r>
            <a:r>
              <a:rPr lang="pl-PL" sz="1200" dirty="0"/>
              <a:t>) z kodem =PY(, bo wykres tam jest</a:t>
            </a:r>
          </a:p>
          <a:p>
            <a:pPr marL="342900" indent="-342900">
              <a:buFont typeface="+mj-lt"/>
              <a:buAutoNum type="arabicPeriod"/>
            </a:pPr>
            <a:r>
              <a:rPr lang="pl-PL" sz="1200" dirty="0"/>
              <a:t>…to </a:t>
            </a:r>
            <a:r>
              <a:rPr lang="pl-PL" sz="1200" dirty="0" err="1"/>
              <a:t>pivot</a:t>
            </a:r>
            <a:r>
              <a:rPr lang="pl-PL" sz="1200" dirty="0"/>
              <a:t> </a:t>
            </a:r>
            <a:r>
              <a:rPr lang="pl-PL" sz="1200" dirty="0" err="1"/>
              <a:t>or</a:t>
            </a:r>
            <a:r>
              <a:rPr lang="pl-PL" sz="1200" dirty="0"/>
              <a:t> to </a:t>
            </a:r>
            <a:r>
              <a:rPr lang="pl-PL" sz="1200" dirty="0" err="1"/>
              <a:t>unpivot</a:t>
            </a:r>
            <a:r>
              <a:rPr lang="pl-PL" sz="1200" dirty="0"/>
              <a:t> …(</a:t>
            </a:r>
            <a:r>
              <a:rPr lang="pl-PL" sz="1200" dirty="0" err="1"/>
              <a:t>melt</a:t>
            </a:r>
            <a:r>
              <a:rPr lang="pl-PL" sz="1200" dirty="0"/>
              <a:t>) – transformujemy dane</a:t>
            </a:r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r>
              <a:rPr lang="pl-PL" sz="1200" dirty="0"/>
              <a:t>….albo odpytujemy </a:t>
            </a:r>
            <a:r>
              <a:rPr lang="pl-PL" sz="1200" dirty="0" err="1"/>
              <a:t>Dataframe</a:t>
            </a:r>
            <a:r>
              <a:rPr lang="pl-PL" sz="1200" dirty="0"/>
              <a:t> jak tabelę w </a:t>
            </a:r>
            <a:r>
              <a:rPr lang="pl-PL" sz="1200" dirty="0" err="1"/>
              <a:t>sql</a:t>
            </a:r>
            <a:r>
              <a:rPr lang="pl-PL" sz="1200" dirty="0"/>
              <a:t> w klauzuli </a:t>
            </a:r>
            <a:r>
              <a:rPr lang="pl-PL" sz="1200" dirty="0" err="1"/>
              <a:t>where</a:t>
            </a:r>
            <a:r>
              <a:rPr lang="pl-PL" sz="1200" dirty="0"/>
              <a:t>, używając </a:t>
            </a:r>
            <a:r>
              <a:rPr lang="pl-PL" sz="1200" dirty="0" err="1"/>
              <a:t>query</a:t>
            </a:r>
            <a:r>
              <a:rPr lang="pl-PL" sz="1200" dirty="0"/>
              <a:t>:</a:t>
            </a:r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endParaRPr lang="pl-PL" sz="1200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C3A02717-7EB5-2CB5-3A8B-744368B98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… Witaj             </a:t>
            </a:r>
            <a:r>
              <a:rPr lang="pl-PL" dirty="0" err="1"/>
              <a:t>Pandas</a:t>
            </a:r>
            <a:r>
              <a:rPr lang="pl-PL" dirty="0"/>
              <a:t> </a:t>
            </a:r>
          </a:p>
        </p:txBody>
      </p:sp>
      <p:sp>
        <p:nvSpPr>
          <p:cNvPr id="21" name="Numer slajdu — symbol zastępczy 5">
            <a:extLst>
              <a:ext uri="{FF2B5EF4-FFF2-40B4-BE49-F238E27FC236}">
                <a16:creationId xmlns:a16="http://schemas.microsoft.com/office/drawing/2014/main" id="{70A36262-AEA1-EF44-1990-40FDC57B44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9</a:t>
            </a:fld>
            <a:endParaRPr lang="pl-PL" dirty="0"/>
          </a:p>
        </p:txBody>
      </p:sp>
      <p:pic>
        <p:nvPicPr>
          <p:cNvPr id="5" name="Obraz 4" descr="Obraz zawierający clipart, rysowanie, szkic, niedźwiedź&#10;&#10;Zawartość wygenerowana przez AI może być niepoprawna.">
            <a:extLst>
              <a:ext uri="{FF2B5EF4-FFF2-40B4-BE49-F238E27FC236}">
                <a16:creationId xmlns:a16="http://schemas.microsoft.com/office/drawing/2014/main" id="{A8C3050D-0E6B-F2B1-481C-35BD6774F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530" y="27941"/>
            <a:ext cx="271424" cy="309519"/>
          </a:xfrm>
          <a:prstGeom prst="rect">
            <a:avLst/>
          </a:prstGeom>
        </p:spPr>
      </p:pic>
      <p:pic>
        <p:nvPicPr>
          <p:cNvPr id="7" name="Obraz 6" descr="Obraz zawierający clipart, rysowanie, szkic, niedźwiedź&#10;&#10;Zawartość wygenerowana przez AI może być niepoprawna.">
            <a:extLst>
              <a:ext uri="{FF2B5EF4-FFF2-40B4-BE49-F238E27FC236}">
                <a16:creationId xmlns:a16="http://schemas.microsoft.com/office/drawing/2014/main" id="{178D3DA9-C9BF-1552-E0B5-85BEA6475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642" y="27941"/>
            <a:ext cx="271424" cy="309519"/>
          </a:xfrm>
          <a:prstGeom prst="rect">
            <a:avLst/>
          </a:prstGeom>
        </p:spPr>
      </p:pic>
      <p:pic>
        <p:nvPicPr>
          <p:cNvPr id="8" name="Obraz 7" descr="Obraz zawierający clipart, rysowanie, szkic, niedźwiedź&#10;&#10;Zawartość wygenerowana przez AI może być niepoprawna.">
            <a:extLst>
              <a:ext uri="{FF2B5EF4-FFF2-40B4-BE49-F238E27FC236}">
                <a16:creationId xmlns:a16="http://schemas.microsoft.com/office/drawing/2014/main" id="{EF0FA8BF-1983-4644-74BC-D63913987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892" y="25581"/>
            <a:ext cx="271424" cy="309519"/>
          </a:xfrm>
          <a:prstGeom prst="rect">
            <a:avLst/>
          </a:prstGeom>
        </p:spPr>
      </p:pic>
      <p:pic>
        <p:nvPicPr>
          <p:cNvPr id="10" name="Obraz 9" descr="Obraz zawierający tekst, linia, zrzut ekranu&#10;&#10;Zawartość wygenerowana przez AI może być niepoprawna.">
            <a:extLst>
              <a:ext uri="{FF2B5EF4-FFF2-40B4-BE49-F238E27FC236}">
                <a16:creationId xmlns:a16="http://schemas.microsoft.com/office/drawing/2014/main" id="{400EF3A4-4C94-34E9-4A5D-B735C6E94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2519" y="572128"/>
            <a:ext cx="2335525" cy="988617"/>
          </a:xfrm>
          <a:prstGeom prst="rect">
            <a:avLst/>
          </a:prstGeom>
        </p:spPr>
      </p:pic>
      <p:sp>
        <p:nvSpPr>
          <p:cNvPr id="27" name="Symbol zastępczy zawartości 1">
            <a:extLst>
              <a:ext uri="{FF2B5EF4-FFF2-40B4-BE49-F238E27FC236}">
                <a16:creationId xmlns:a16="http://schemas.microsoft.com/office/drawing/2014/main" id="{2A3B9181-0854-337A-4498-AA34FFDA37C7}"/>
              </a:ext>
            </a:extLst>
          </p:cNvPr>
          <p:cNvSpPr txBox="1">
            <a:spLocks/>
          </p:cNvSpPr>
          <p:nvPr/>
        </p:nvSpPr>
        <p:spPr>
          <a:xfrm>
            <a:off x="729802" y="2856159"/>
            <a:ext cx="3990357" cy="1702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l-PL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200" dirty="0" err="1"/>
              <a:t>UnPivot</a:t>
            </a:r>
            <a:r>
              <a:rPr lang="pl-PL" sz="1200" dirty="0"/>
              <a:t> (</a:t>
            </a:r>
            <a:r>
              <a:rPr lang="pl-PL" sz="1200" dirty="0" err="1"/>
              <a:t>melt</a:t>
            </a:r>
            <a:r>
              <a:rPr lang="pl-PL" sz="1200" dirty="0"/>
              <a:t>)</a:t>
            </a:r>
          </a:p>
          <a:p>
            <a:pPr marL="342900" indent="-342900">
              <a:buFont typeface="+mj-lt"/>
              <a:buAutoNum type="arabicPeriod" startAt="2"/>
            </a:pPr>
            <a:endParaRPr lang="pl-PL" dirty="0"/>
          </a:p>
          <a:p>
            <a:pPr marL="342900" indent="-342900">
              <a:buFont typeface="+mj-lt"/>
              <a:buAutoNum type="arabicPeriod" startAt="2"/>
            </a:pPr>
            <a:endParaRPr lang="pl-PL" dirty="0"/>
          </a:p>
          <a:p>
            <a:pPr marL="342900" indent="-342900">
              <a:buFont typeface="+mj-lt"/>
              <a:buAutoNum type="arabicPeriod" startAt="2"/>
            </a:pPr>
            <a:endParaRPr lang="pl-PL" dirty="0"/>
          </a:p>
          <a:p>
            <a:endParaRPr lang="pl-PL" dirty="0"/>
          </a:p>
        </p:txBody>
      </p:sp>
      <p:sp>
        <p:nvSpPr>
          <p:cNvPr id="28" name="Symbol zastępczy zawartości 1">
            <a:extLst>
              <a:ext uri="{FF2B5EF4-FFF2-40B4-BE49-F238E27FC236}">
                <a16:creationId xmlns:a16="http://schemas.microsoft.com/office/drawing/2014/main" id="{C28851BE-4514-3D58-7DFE-C630D0F42443}"/>
              </a:ext>
            </a:extLst>
          </p:cNvPr>
          <p:cNvSpPr txBox="1">
            <a:spLocks/>
          </p:cNvSpPr>
          <p:nvPr/>
        </p:nvSpPr>
        <p:spPr>
          <a:xfrm>
            <a:off x="4633684" y="2841311"/>
            <a:ext cx="3990357" cy="1702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l-PL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200" dirty="0" err="1"/>
              <a:t>Pivot</a:t>
            </a:r>
            <a:endParaRPr lang="pl-PL" sz="1200" dirty="0"/>
          </a:p>
          <a:p>
            <a:pPr marL="342900" indent="-342900">
              <a:buFont typeface="+mj-lt"/>
              <a:buAutoNum type="arabicPeriod" startAt="2"/>
            </a:pPr>
            <a:endParaRPr lang="pl-PL" dirty="0"/>
          </a:p>
          <a:p>
            <a:pPr marL="342900" indent="-342900">
              <a:buFont typeface="+mj-lt"/>
              <a:buAutoNum type="arabicPeriod" startAt="2"/>
            </a:pPr>
            <a:endParaRPr lang="pl-PL" dirty="0"/>
          </a:p>
          <a:p>
            <a:pPr marL="342900" indent="-342900">
              <a:buFont typeface="+mj-lt"/>
              <a:buAutoNum type="arabicPeriod" startAt="2"/>
            </a:pPr>
            <a:endParaRPr lang="pl-PL" dirty="0"/>
          </a:p>
          <a:p>
            <a:endParaRPr lang="pl-PL" dirty="0"/>
          </a:p>
        </p:txBody>
      </p:sp>
      <p:pic>
        <p:nvPicPr>
          <p:cNvPr id="32" name="Obraz 31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EAB0BDE6-BBDC-56A9-5271-632B8DAC9A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766" y="5948771"/>
            <a:ext cx="2107276" cy="916208"/>
          </a:xfrm>
          <a:prstGeom prst="rect">
            <a:avLst/>
          </a:prstGeom>
        </p:spPr>
      </p:pic>
      <p:pic>
        <p:nvPicPr>
          <p:cNvPr id="34" name="Obraz 33" descr="Obraz zawierający tekst, zrzut ekranu, oprogramowanie, numer&#10;&#10;Zawartość wygenerowana przez AI może być niepoprawna.">
            <a:extLst>
              <a:ext uri="{FF2B5EF4-FFF2-40B4-BE49-F238E27FC236}">
                <a16:creationId xmlns:a16="http://schemas.microsoft.com/office/drawing/2014/main" id="{D853C6AB-9B89-ECEF-C7EB-F27FFF6FB4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9444" y="575792"/>
            <a:ext cx="3477296" cy="1644787"/>
          </a:xfrm>
          <a:prstGeom prst="rect">
            <a:avLst/>
          </a:prstGeom>
        </p:spPr>
      </p:pic>
      <p:pic>
        <p:nvPicPr>
          <p:cNvPr id="36" name="Obraz 35" descr="Obraz zawierający tekst, zrzut ekranu, diagram, numer&#10;&#10;Zawartość wygenerowana przez AI może być niepoprawna.">
            <a:extLst>
              <a:ext uri="{FF2B5EF4-FFF2-40B4-BE49-F238E27FC236}">
                <a16:creationId xmlns:a16="http://schemas.microsoft.com/office/drawing/2014/main" id="{FE48852D-FF96-497D-1591-B802A57407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0" y="1979053"/>
            <a:ext cx="3078732" cy="2341449"/>
          </a:xfrm>
          <a:prstGeom prst="rect">
            <a:avLst/>
          </a:prstGeom>
        </p:spPr>
      </p:pic>
      <p:pic>
        <p:nvPicPr>
          <p:cNvPr id="38" name="Obraz 37" descr="Obraz zawierający tekst, zrzut ekranu, numer, oprogramowanie&#10;&#10;Zawartość wygenerowana przez AI może być niepoprawna.">
            <a:extLst>
              <a:ext uri="{FF2B5EF4-FFF2-40B4-BE49-F238E27FC236}">
                <a16:creationId xmlns:a16="http://schemas.microsoft.com/office/drawing/2014/main" id="{4CFC2435-7BC0-A080-A01B-4A02D046B7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3258" y="3355029"/>
            <a:ext cx="2634697" cy="2328160"/>
          </a:xfrm>
          <a:prstGeom prst="rect">
            <a:avLst/>
          </a:prstGeom>
        </p:spPr>
      </p:pic>
      <p:pic>
        <p:nvPicPr>
          <p:cNvPr id="40" name="Obraz 39" descr="Obraz zawierający tekst, zrzut ekranu, oprogramowanie, numer&#10;&#10;Zawartość wygenerowana przez AI może być niepoprawna.">
            <a:extLst>
              <a:ext uri="{FF2B5EF4-FFF2-40B4-BE49-F238E27FC236}">
                <a16:creationId xmlns:a16="http://schemas.microsoft.com/office/drawing/2014/main" id="{0803C1A6-5E06-605C-6C2F-3C6E3B2B40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20159" y="3355029"/>
            <a:ext cx="3938306" cy="2137637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28275FA0-28AF-3893-CE88-68F240E118FA}"/>
              </a:ext>
            </a:extLst>
          </p:cNvPr>
          <p:cNvSpPr txBox="1"/>
          <p:nvPr/>
        </p:nvSpPr>
        <p:spPr>
          <a:xfrm>
            <a:off x="1158094" y="5683189"/>
            <a:ext cx="58687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800" b="1" dirty="0">
                <a:solidFill>
                  <a:schemeClr val="bg2">
                    <a:lumMod val="90000"/>
                  </a:schemeClr>
                </a:solidFill>
              </a:rPr>
              <a:t>Patrz później również na: </a:t>
            </a:r>
            <a:r>
              <a:rPr lang="pl-PL" sz="800" b="1" dirty="0" err="1">
                <a:solidFill>
                  <a:schemeClr val="bg2">
                    <a:lumMod val="90000"/>
                  </a:schemeClr>
                </a:solidFill>
              </a:rPr>
              <a:t>df.pivot</a:t>
            </a:r>
            <a:r>
              <a:rPr lang="pl-PL" sz="800" b="1" dirty="0">
                <a:solidFill>
                  <a:schemeClr val="bg2">
                    <a:lumMod val="90000"/>
                  </a:schemeClr>
                </a:solidFill>
              </a:rPr>
              <a:t> / </a:t>
            </a:r>
            <a:r>
              <a:rPr lang="pl-PL" sz="800" b="1" dirty="0" err="1">
                <a:solidFill>
                  <a:schemeClr val="bg2">
                    <a:lumMod val="90000"/>
                  </a:schemeClr>
                </a:solidFill>
              </a:rPr>
              <a:t>df.melt</a:t>
            </a:r>
            <a:r>
              <a:rPr lang="pl-PL" sz="800" b="1" dirty="0">
                <a:solidFill>
                  <a:schemeClr val="bg2">
                    <a:lumMod val="90000"/>
                  </a:schemeClr>
                </a:solidFill>
              </a:rPr>
              <a:t> / </a:t>
            </a:r>
            <a:r>
              <a:rPr lang="pl-PL" sz="800" b="1" dirty="0" err="1">
                <a:solidFill>
                  <a:schemeClr val="bg2">
                    <a:lumMod val="90000"/>
                  </a:schemeClr>
                </a:solidFill>
              </a:rPr>
              <a:t>df.wide_to_long</a:t>
            </a:r>
            <a:r>
              <a:rPr lang="pl-PL" sz="800" b="1" dirty="0">
                <a:solidFill>
                  <a:schemeClr val="bg2">
                    <a:lumMod val="90000"/>
                  </a:schemeClr>
                </a:solidFill>
              </a:rPr>
              <a:t> / </a:t>
            </a:r>
            <a:r>
              <a:rPr lang="pl-PL" sz="800" b="1" dirty="0" err="1">
                <a:solidFill>
                  <a:schemeClr val="bg2">
                    <a:lumMod val="90000"/>
                  </a:schemeClr>
                </a:solidFill>
              </a:rPr>
              <a:t>df.explode</a:t>
            </a:r>
            <a:r>
              <a:rPr lang="pl-PL" sz="800" b="1" dirty="0">
                <a:solidFill>
                  <a:schemeClr val="bg2">
                    <a:lumMod val="90000"/>
                  </a:schemeClr>
                </a:solidFill>
              </a:rPr>
              <a:t> / </a:t>
            </a:r>
            <a:r>
              <a:rPr lang="pl-PL" sz="800" b="1" dirty="0" err="1">
                <a:solidFill>
                  <a:schemeClr val="bg2">
                    <a:lumMod val="90000"/>
                  </a:schemeClr>
                </a:solidFill>
              </a:rPr>
              <a:t>df.stack</a:t>
            </a:r>
            <a:r>
              <a:rPr lang="pl-PL" sz="800" b="1" dirty="0">
                <a:solidFill>
                  <a:schemeClr val="bg2">
                    <a:lumMod val="90000"/>
                  </a:schemeClr>
                </a:solidFill>
              </a:rPr>
              <a:t> / </a:t>
            </a:r>
            <a:r>
              <a:rPr lang="pl-PL" sz="800" b="1" dirty="0" err="1">
                <a:solidFill>
                  <a:schemeClr val="bg2">
                    <a:lumMod val="90000"/>
                  </a:schemeClr>
                </a:solidFill>
              </a:rPr>
              <a:t>df.unstack</a:t>
            </a:r>
            <a:r>
              <a:rPr lang="pl-PL" sz="800" b="1" dirty="0">
                <a:solidFill>
                  <a:schemeClr val="bg2">
                    <a:lumMod val="90000"/>
                  </a:schemeClr>
                </a:solidFill>
              </a:rPr>
              <a:t> / </a:t>
            </a:r>
            <a:r>
              <a:rPr lang="pl-PL" sz="800" b="1" dirty="0" err="1">
                <a:solidFill>
                  <a:schemeClr val="bg2">
                    <a:lumMod val="90000"/>
                  </a:schemeClr>
                </a:solidFill>
              </a:rPr>
              <a:t>df.pivot_table</a:t>
            </a:r>
            <a:r>
              <a:rPr lang="pl-PL" sz="800" b="1" dirty="0">
                <a:solidFill>
                  <a:schemeClr val="bg2">
                    <a:lumMod val="90000"/>
                  </a:schemeClr>
                </a:solidFill>
              </a:rPr>
              <a:t>  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5ABD72D6-DD25-9E7C-5467-62098CFEEC4F}"/>
              </a:ext>
            </a:extLst>
          </p:cNvPr>
          <p:cNvSpPr txBox="1"/>
          <p:nvPr/>
        </p:nvSpPr>
        <p:spPr>
          <a:xfrm>
            <a:off x="-49491" y="6619405"/>
            <a:ext cx="116421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000" dirty="0">
                <a:solidFill>
                  <a:schemeClr val="bg1">
                    <a:lumMod val="50000"/>
                  </a:schemeClr>
                </a:solidFill>
              </a:rPr>
              <a:t>Zajrzyj:</a:t>
            </a:r>
            <a:r>
              <a:rPr lang="pl-PL" sz="1000" dirty="0"/>
              <a:t> </a:t>
            </a:r>
            <a:r>
              <a:rPr lang="pl-PL" sz="1000" dirty="0">
                <a:hlinkClick r:id="rId9"/>
              </a:rPr>
              <a:t>https://pandas.pydata.org/Pandas_Cheat_Sheet.pdf</a:t>
            </a:r>
            <a:endParaRPr lang="pl-PL" sz="1000" dirty="0"/>
          </a:p>
          <a:p>
            <a:endParaRPr lang="pl-PL" sz="1000" dirty="0"/>
          </a:p>
        </p:txBody>
      </p:sp>
      <p:graphicFrame>
        <p:nvGraphicFramePr>
          <p:cNvPr id="9" name="Obiekt 8">
            <a:extLst>
              <a:ext uri="{FF2B5EF4-FFF2-40B4-BE49-F238E27FC236}">
                <a16:creationId xmlns:a16="http://schemas.microsoft.com/office/drawing/2014/main" id="{E3B3EB5D-1945-914D-BF91-12ECF21594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5086182"/>
              </p:ext>
            </p:extLst>
          </p:nvPr>
        </p:nvGraphicFramePr>
        <p:xfrm>
          <a:off x="3434771" y="6569267"/>
          <a:ext cx="383541" cy="32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DF" showAsIcon="1" r:id="rId10" imgW="914400" imgH="771525" progId="FoxitReader.Document">
                  <p:embed/>
                </p:oleObj>
              </mc:Choice>
              <mc:Fallback>
                <p:oleObj name="PDF" showAsIcon="1" r:id="rId10" imgW="914400" imgH="771525" progId="FoxitReader.Documen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434771" y="6569267"/>
                        <a:ext cx="383541" cy="323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02574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B13C1-328D-8360-3E22-667A8C478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787CD16B-55F7-A893-BF0F-821860FF48E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9659" y="546099"/>
            <a:ext cx="8234444" cy="6292851"/>
          </a:xfrm>
        </p:spPr>
        <p:txBody>
          <a:bodyPr>
            <a:normAutofit/>
          </a:bodyPr>
          <a:lstStyle/>
          <a:p>
            <a:pPr marL="0" indent="0"/>
            <a:r>
              <a:rPr lang="pl-PL" sz="1600" b="1" dirty="0">
                <a:solidFill>
                  <a:schemeClr val="tx1"/>
                </a:solidFill>
              </a:rPr>
              <a:t>Teraz będzie Ci łatwiej (chyba) przejrzeć </a:t>
            </a:r>
            <a:r>
              <a:rPr lang="pl-PL" sz="1600" b="1" dirty="0">
                <a:solidFill>
                  <a:schemeClr val="tx1"/>
                </a:solidFill>
                <a:hlinkClick r:id="rId2"/>
              </a:rPr>
              <a:t>Pomoc</a:t>
            </a:r>
            <a:endParaRPr lang="pl-PL" sz="1600" b="1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600" b="1" dirty="0"/>
              <a:t>Jeśli nie ZCN to skróty klawiaturowe: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/>
              <a:t>=PY( </a:t>
            </a:r>
            <a:r>
              <a:rPr lang="pl-PL" dirty="0"/>
              <a:t>– w komórce włącza wpisywanie formuł </a:t>
            </a:r>
            <a:r>
              <a:rPr lang="pl-PL" dirty="0" err="1"/>
              <a:t>Python</a:t>
            </a:r>
            <a:r>
              <a:rPr lang="pl-PL" dirty="0"/>
              <a:t> – prawy nawias „zamknie się sam”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 err="1">
                <a:highlight>
                  <a:srgbClr val="00FFFF"/>
                </a:highlight>
              </a:rPr>
              <a:t>Ctrl+Alt+Shift+P</a:t>
            </a:r>
            <a:r>
              <a:rPr lang="pl-PL" b="1" dirty="0">
                <a:highlight>
                  <a:srgbClr val="00FFFF"/>
                </a:highlight>
              </a:rPr>
              <a:t> </a:t>
            </a:r>
            <a:r>
              <a:rPr lang="pl-PL" dirty="0"/>
              <a:t>– podobnie jak powyższe włącza formuły </a:t>
            </a:r>
            <a:r>
              <a:rPr lang="pl-PL" dirty="0" err="1"/>
              <a:t>Python</a:t>
            </a:r>
            <a:r>
              <a:rPr lang="pl-PL" dirty="0"/>
              <a:t> w komórce 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 err="1">
                <a:highlight>
                  <a:srgbClr val="00FFFF"/>
                </a:highlight>
              </a:rPr>
              <a:t>Ctrl+Shift+U</a:t>
            </a:r>
            <a:r>
              <a:rPr lang="pl-PL" b="1" dirty="0">
                <a:highlight>
                  <a:srgbClr val="00FFFF"/>
                </a:highlight>
              </a:rPr>
              <a:t> </a:t>
            </a:r>
            <a:r>
              <a:rPr lang="pl-PL" dirty="0"/>
              <a:t>– rozwija lub zwija pasek formuły w Excelu 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 err="1">
                <a:solidFill>
                  <a:srgbClr val="FF0000"/>
                </a:solidFill>
              </a:rPr>
              <a:t>Ctrl+Enter</a:t>
            </a:r>
            <a:r>
              <a:rPr lang="pl-PL" b="1" dirty="0">
                <a:solidFill>
                  <a:srgbClr val="FF0000"/>
                </a:solidFill>
              </a:rPr>
              <a:t> </a:t>
            </a:r>
            <a:r>
              <a:rPr lang="pl-PL" dirty="0"/>
              <a:t>– zatwierdza formuły </a:t>
            </a:r>
            <a:r>
              <a:rPr lang="pl-PL" dirty="0" err="1"/>
              <a:t>Python</a:t>
            </a:r>
            <a:r>
              <a:rPr lang="pl-PL" dirty="0"/>
              <a:t> w komórce do wykonania 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 err="1">
                <a:highlight>
                  <a:srgbClr val="00FFFF"/>
                </a:highlight>
              </a:rPr>
              <a:t>Ctrl+Alt+Shift+M</a:t>
            </a:r>
            <a:r>
              <a:rPr lang="pl-PL" b="1" dirty="0">
                <a:highlight>
                  <a:srgbClr val="00FFFF"/>
                </a:highlight>
              </a:rPr>
              <a:t> </a:t>
            </a:r>
            <a:r>
              <a:rPr lang="pl-PL" dirty="0"/>
              <a:t>- przełącza wynik formuł w </a:t>
            </a:r>
            <a:r>
              <a:rPr lang="pl-PL" dirty="0" err="1"/>
              <a:t>Python</a:t>
            </a:r>
            <a:r>
              <a:rPr lang="pl-PL" dirty="0"/>
              <a:t> między obiektami </a:t>
            </a:r>
            <a:r>
              <a:rPr lang="pl-PL" dirty="0" err="1"/>
              <a:t>Python</a:t>
            </a:r>
            <a:r>
              <a:rPr lang="pl-PL" dirty="0"/>
              <a:t> a wartościami programu Excel 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 err="1"/>
              <a:t>Ctrl</a:t>
            </a:r>
            <a:r>
              <a:rPr lang="pl-PL" b="1" dirty="0"/>
              <a:t>+~ </a:t>
            </a:r>
            <a:r>
              <a:rPr lang="pl-PL" dirty="0"/>
              <a:t>- wyświetla kod </a:t>
            </a:r>
            <a:r>
              <a:rPr lang="pl-PL" dirty="0" err="1"/>
              <a:t>python</a:t>
            </a:r>
            <a:r>
              <a:rPr lang="pl-PL" dirty="0"/>
              <a:t> w komórce, tak samo jak dla formuł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/>
              <a:t>Ctrl+F2 </a:t>
            </a:r>
            <a:r>
              <a:rPr lang="pl-PL" dirty="0"/>
              <a:t>- przełącza między trybem edycji w komórce a paskiem formuły 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/>
              <a:t>Ctrl+Shift+F5 </a:t>
            </a:r>
            <a:r>
              <a:rPr lang="pl-PL" dirty="0"/>
              <a:t>– gdy dostępny tryb karty to otwiera kartę w celu wyświetlenia dodatkowych danych 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/>
              <a:t>F2 </a:t>
            </a:r>
            <a:r>
              <a:rPr lang="pl-PL" dirty="0"/>
              <a:t>- przełącza pomiędzy trybem edycji w komórce, a trybem wybierania zakresów przy użyciu klawiatury (tryb </a:t>
            </a:r>
            <a:r>
              <a:rPr lang="pl-PL" dirty="0" err="1"/>
              <a:t>Enter</a:t>
            </a:r>
            <a:r>
              <a:rPr lang="pl-PL" dirty="0"/>
              <a:t>) 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 err="1"/>
              <a:t>Ctrl+T</a:t>
            </a:r>
            <a:r>
              <a:rPr lang="pl-PL" b="1" dirty="0"/>
              <a:t> </a:t>
            </a:r>
            <a:r>
              <a:rPr lang="pl-PL" dirty="0"/>
              <a:t>– tworzy tabele </a:t>
            </a:r>
            <a:r>
              <a:rPr lang="pl-PL" dirty="0" err="1"/>
              <a:t>excel’a</a:t>
            </a:r>
            <a:r>
              <a:rPr lang="pl-PL" dirty="0"/>
              <a:t> na zaznaczonym obszarze danych w arkuszu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/>
              <a:t>F9 </a:t>
            </a:r>
            <a:r>
              <a:rPr lang="pl-PL" dirty="0"/>
              <a:t> - jeżeli skoroszyt jest w trybie Obliczania ręcznego lub częściowego to ponownie przelicza skoroszyt 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/>
              <a:t>Shift+F9 </a:t>
            </a:r>
            <a:r>
              <a:rPr lang="pl-PL" dirty="0"/>
              <a:t>– przelicza arkusz 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 err="1"/>
              <a:t>Ctrl+Alt+Shift+C</a:t>
            </a:r>
            <a:r>
              <a:rPr lang="pl-PL" b="1" dirty="0"/>
              <a:t> </a:t>
            </a:r>
            <a:r>
              <a:rPr lang="pl-PL" dirty="0"/>
              <a:t>- zmienia wykres </a:t>
            </a:r>
            <a:r>
              <a:rPr lang="pl-PL" dirty="0" err="1"/>
              <a:t>Python</a:t>
            </a:r>
            <a:r>
              <a:rPr lang="pl-PL" dirty="0"/>
              <a:t> z obiektu na połączony wykres przestawny 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/>
              <a:t>Ctrl+Alt+Shift+F9 </a:t>
            </a:r>
            <a:r>
              <a:rPr lang="pl-PL" dirty="0"/>
              <a:t>– resetuje środowisko uruchomieniowe </a:t>
            </a:r>
            <a:r>
              <a:rPr lang="pl-PL" dirty="0" err="1"/>
              <a:t>Python'a</a:t>
            </a:r>
            <a:r>
              <a:rPr lang="pl-PL" dirty="0"/>
              <a:t> (przydatne przy #BUSY!, #CONNECT!) 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4362FACB-B2DF-87B0-65D4-951ED4E7E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… więcej przykładów – jeszcze nie </a:t>
            </a:r>
          </a:p>
        </p:txBody>
      </p:sp>
      <p:pic>
        <p:nvPicPr>
          <p:cNvPr id="6" name="Obraz 5" descr="Obraz zawierający tekst, zrzut ekranu, Czcionka, dokument&#10;&#10;Zawartość wygenerowana przez AI może być niepoprawna.">
            <a:extLst>
              <a:ext uri="{FF2B5EF4-FFF2-40B4-BE49-F238E27FC236}">
                <a16:creationId xmlns:a16="http://schemas.microsoft.com/office/drawing/2014/main" id="{BE64A289-91C1-32A2-ED57-64AF1FC22CF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94102" y="491215"/>
            <a:ext cx="3321377" cy="5820686"/>
          </a:xfrm>
          <a:prstGeom prst="rect">
            <a:avLst/>
          </a:prstGeom>
        </p:spPr>
      </p:pic>
      <p:sp>
        <p:nvSpPr>
          <p:cNvPr id="9" name="Numer slajdu — symbol zastępczy 5">
            <a:extLst>
              <a:ext uri="{FF2B5EF4-FFF2-40B4-BE49-F238E27FC236}">
                <a16:creationId xmlns:a16="http://schemas.microsoft.com/office/drawing/2014/main" id="{64F6D287-FC39-6E1F-98BD-18E3CB7A73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10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878282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26510-7433-CCD4-6062-F961D8701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B90EC777-1AE2-4B65-FA89-9FA37D220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… rachujemy</a:t>
            </a:r>
          </a:p>
        </p:txBody>
      </p:sp>
      <p:sp>
        <p:nvSpPr>
          <p:cNvPr id="11" name="Symbol zastępczy zawartości 1">
            <a:extLst>
              <a:ext uri="{FF2B5EF4-FFF2-40B4-BE49-F238E27FC236}">
                <a16:creationId xmlns:a16="http://schemas.microsoft.com/office/drawing/2014/main" id="{0A0850DF-5539-2B9C-D50B-3E82F23D3BF4}"/>
              </a:ext>
            </a:extLst>
          </p:cNvPr>
          <p:cNvSpPr txBox="1">
            <a:spLocks/>
          </p:cNvSpPr>
          <p:nvPr/>
        </p:nvSpPr>
        <p:spPr>
          <a:xfrm>
            <a:off x="359658" y="501728"/>
            <a:ext cx="8039623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pl-PL" dirty="0"/>
              <a:t>Zdefiniujmy obiekty/zmienne w komórkach – widok formuł (</a:t>
            </a:r>
            <a:r>
              <a:rPr lang="pl-PL" dirty="0" err="1"/>
              <a:t>ctrl</a:t>
            </a:r>
            <a:r>
              <a:rPr lang="pl-PL" dirty="0"/>
              <a:t>+~) i edytor</a:t>
            </a:r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r>
              <a:rPr lang="pl-PL" dirty="0"/>
              <a:t>Zobaczmy wyniki w arkuszu</a:t>
            </a:r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0" indent="0"/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pic>
        <p:nvPicPr>
          <p:cNvPr id="24" name="Obraz 23" descr="Obraz zawierający tekst, linia, Czcionka, zrzut ekranu&#10;&#10;Zawartość wygenerowana przez AI może być niepoprawna.">
            <a:extLst>
              <a:ext uri="{FF2B5EF4-FFF2-40B4-BE49-F238E27FC236}">
                <a16:creationId xmlns:a16="http://schemas.microsoft.com/office/drawing/2014/main" id="{840F8D39-EBC4-8F4D-5EDB-486BB959363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74" y="811832"/>
            <a:ext cx="12069452" cy="3627664"/>
          </a:xfrm>
          <a:prstGeom prst="rect">
            <a:avLst/>
          </a:prstGeom>
        </p:spPr>
      </p:pic>
      <p:pic>
        <p:nvPicPr>
          <p:cNvPr id="26" name="Obraz 25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381D1E90-6CFD-96FE-FD3B-54768964727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76601" y="4605183"/>
            <a:ext cx="3181428" cy="2233768"/>
          </a:xfrm>
          <a:prstGeom prst="rect">
            <a:avLst/>
          </a:prstGeom>
        </p:spPr>
      </p:pic>
      <p:sp>
        <p:nvSpPr>
          <p:cNvPr id="27" name="Numer slajdu — symbol zastępczy 5">
            <a:extLst>
              <a:ext uri="{FF2B5EF4-FFF2-40B4-BE49-F238E27FC236}">
                <a16:creationId xmlns:a16="http://schemas.microsoft.com/office/drawing/2014/main" id="{E210596E-DF1A-689D-521E-8E8B5197E9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11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036609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15ECA-5670-0783-D6F1-4BDE5DCD7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CE598224-F0D7-AF9E-002C-B7E5F435C9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9659" y="546099"/>
            <a:ext cx="7973024" cy="6292851"/>
          </a:xfrm>
        </p:spPr>
        <p:txBody>
          <a:bodyPr>
            <a:normAutofit/>
          </a:bodyPr>
          <a:lstStyle/>
          <a:p>
            <a:r>
              <a:rPr lang="pl-PL" b="1" dirty="0"/>
              <a:t>Wyczyść daty w różnych formatach w jednej linijce…albo kilku:</a:t>
            </a:r>
          </a:p>
          <a:p>
            <a:endParaRPr lang="pl-PL" b="1" dirty="0"/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…gdy ma względnie ”normalny” bałagan</a:t>
            </a:r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ECCC5B6C-2318-3D0B-731D-9C057A8AB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… posprzątaj  </a:t>
            </a:r>
            <a:r>
              <a:rPr lang="pl-PL" dirty="0">
                <a:solidFill>
                  <a:schemeClr val="bg2"/>
                </a:solidFill>
              </a:rPr>
              <a:t>    </a:t>
            </a:r>
            <a:r>
              <a:rPr lang="pl-PL" dirty="0"/>
              <a:t>daty</a:t>
            </a:r>
          </a:p>
        </p:txBody>
      </p:sp>
      <p:sp>
        <p:nvSpPr>
          <p:cNvPr id="21" name="Numer slajdu — symbol zastępczy 5">
            <a:extLst>
              <a:ext uri="{FF2B5EF4-FFF2-40B4-BE49-F238E27FC236}">
                <a16:creationId xmlns:a16="http://schemas.microsoft.com/office/drawing/2014/main" id="{B5779CDF-F0F6-095D-1660-384B44F2A5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12</a:t>
            </a:fld>
            <a:endParaRPr lang="pl-PL" dirty="0"/>
          </a:p>
        </p:txBody>
      </p:sp>
      <p:pic>
        <p:nvPicPr>
          <p:cNvPr id="5" name="Obraz 4" descr="Obraz zawierający clipart, rysowanie, szkic, niedźwiedź&#10;&#10;Zawartość wygenerowana przez AI może być niepoprawna.">
            <a:extLst>
              <a:ext uri="{FF2B5EF4-FFF2-40B4-BE49-F238E27FC236}">
                <a16:creationId xmlns:a16="http://schemas.microsoft.com/office/drawing/2014/main" id="{CB43BFA6-59CB-287E-2C2F-7F9B0E268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894" y="37011"/>
            <a:ext cx="271424" cy="309519"/>
          </a:xfrm>
          <a:prstGeom prst="rect">
            <a:avLst/>
          </a:prstGeom>
        </p:spPr>
      </p:pic>
      <p:pic>
        <p:nvPicPr>
          <p:cNvPr id="6" name="Obraz 5" descr="Obraz zawierający tekst, elektronika, zrzut ekranu, oprogramowanie&#10;&#10;Zawartość wygenerowana przez AI może być niepoprawna.">
            <a:extLst>
              <a:ext uri="{FF2B5EF4-FFF2-40B4-BE49-F238E27FC236}">
                <a16:creationId xmlns:a16="http://schemas.microsoft.com/office/drawing/2014/main" id="{F6DB1597-0721-8564-2AF5-C843EC922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054" y="1493748"/>
            <a:ext cx="4436955" cy="3567744"/>
          </a:xfrm>
          <a:prstGeom prst="rect">
            <a:avLst/>
          </a:prstGeom>
        </p:spPr>
      </p:pic>
      <p:sp>
        <p:nvSpPr>
          <p:cNvPr id="7" name="Symbol zastępczy zawartości 1">
            <a:extLst>
              <a:ext uri="{FF2B5EF4-FFF2-40B4-BE49-F238E27FC236}">
                <a16:creationId xmlns:a16="http://schemas.microsoft.com/office/drawing/2014/main" id="{125272CB-AAFF-0783-BD43-23558FDFDD27}"/>
              </a:ext>
            </a:extLst>
          </p:cNvPr>
          <p:cNvSpPr txBox="1">
            <a:spLocks/>
          </p:cNvSpPr>
          <p:nvPr/>
        </p:nvSpPr>
        <p:spPr>
          <a:xfrm>
            <a:off x="5285829" y="827287"/>
            <a:ext cx="7973024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l-PL" b="1" dirty="0"/>
          </a:p>
          <a:p>
            <a:pPr marL="342900" indent="-342900">
              <a:buFont typeface="+mj-lt"/>
              <a:buAutoNum type="arabicPeriod" startAt="2"/>
            </a:pPr>
            <a:r>
              <a:rPr lang="pl-PL" dirty="0"/>
              <a:t>…albo ”duży” bałagan to trochę trudniej z mapowaniem wyrażeń regularnych</a:t>
            </a:r>
          </a:p>
          <a:p>
            <a:pPr marL="342900" indent="-342900">
              <a:buFont typeface="+mj-lt"/>
              <a:buAutoNum type="arabicPeriod" startAt="2"/>
            </a:pPr>
            <a:endParaRPr lang="pl-PL" dirty="0"/>
          </a:p>
          <a:p>
            <a:pPr marL="342900" indent="-342900">
              <a:buFont typeface="+mj-lt"/>
              <a:buAutoNum type="arabicPeriod" startAt="2"/>
            </a:pPr>
            <a:endParaRPr lang="pl-PL" dirty="0"/>
          </a:p>
          <a:p>
            <a:pPr marL="342900" indent="-342900">
              <a:buFont typeface="+mj-lt"/>
              <a:buAutoNum type="arabicPeriod" startAt="2"/>
            </a:pPr>
            <a:endParaRPr lang="pl-PL" dirty="0"/>
          </a:p>
          <a:p>
            <a:endParaRPr lang="pl-PL" dirty="0"/>
          </a:p>
        </p:txBody>
      </p:sp>
      <p:pic>
        <p:nvPicPr>
          <p:cNvPr id="9" name="Obraz 8" descr="Obraz zawierający tekst, elektronika, zrzut ekranu, oprogramowanie&#10;&#10;Zawartość wygenerowana przez AI może być niepoprawna.">
            <a:extLst>
              <a:ext uri="{FF2B5EF4-FFF2-40B4-BE49-F238E27FC236}">
                <a16:creationId xmlns:a16="http://schemas.microsoft.com/office/drawing/2014/main" id="{46A9A348-1332-D1D7-F3EB-76CE7679D4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5270" y="1438140"/>
            <a:ext cx="5851017" cy="536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128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0B166-1645-C1A7-B473-446E11DC9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3B002896-866C-F0E8-129C-CB8F6D46F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– </a:t>
            </a:r>
            <a:r>
              <a:rPr lang="pl-PL" dirty="0" err="1"/>
              <a:t>ctrl+c</a:t>
            </a:r>
            <a:r>
              <a:rPr lang="pl-PL" dirty="0"/>
              <a:t> -&gt; </a:t>
            </a:r>
            <a:r>
              <a:rPr lang="pl-PL" dirty="0" err="1"/>
              <a:t>ctrl+v</a:t>
            </a:r>
            <a:endParaRPr lang="pl-PL" dirty="0"/>
          </a:p>
        </p:txBody>
      </p:sp>
      <p:sp>
        <p:nvSpPr>
          <p:cNvPr id="11" name="Symbol zastępczy zawartości 1">
            <a:extLst>
              <a:ext uri="{FF2B5EF4-FFF2-40B4-BE49-F238E27FC236}">
                <a16:creationId xmlns:a16="http://schemas.microsoft.com/office/drawing/2014/main" id="{2FF3F277-C48A-C683-6247-58217E1274C5}"/>
              </a:ext>
            </a:extLst>
          </p:cNvPr>
          <p:cNvSpPr txBox="1">
            <a:spLocks/>
          </p:cNvSpPr>
          <p:nvPr/>
        </p:nvSpPr>
        <p:spPr>
          <a:xfrm>
            <a:off x="359658" y="546099"/>
            <a:ext cx="11254165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pl-PL" b="1" dirty="0"/>
              <a:t>Kopiowanie</a:t>
            </a:r>
          </a:p>
          <a:p>
            <a:pPr marL="342900" indent="-342900">
              <a:buAutoNum type="arabicPeriod"/>
            </a:pPr>
            <a:r>
              <a:rPr lang="pl-PL" dirty="0"/>
              <a:t>Kopiowanie i przeciąganie komórek z =</a:t>
            </a:r>
            <a:r>
              <a:rPr lang="pl-PL" dirty="0" err="1"/>
              <a:t>Py</a:t>
            </a:r>
            <a:r>
              <a:rPr lang="pl-PL" dirty="0"/>
              <a:t>( działa tak samo jak dla każdej innej komórki.</a:t>
            </a:r>
          </a:p>
          <a:p>
            <a:pPr marL="342900" indent="-342900">
              <a:buAutoNum type="arabicPeriod"/>
            </a:pPr>
            <a:r>
              <a:rPr lang="pl-PL" b="1" dirty="0">
                <a:solidFill>
                  <a:srgbClr val="FF0000"/>
                </a:solidFill>
              </a:rPr>
              <a:t>Pamiętaj o kolejności przeliczania arkusza  i czy kopiując nie nadpisujesz istotnych dla Twojej logiki informacji generowanej  wcześniej.</a:t>
            </a:r>
          </a:p>
          <a:p>
            <a:pPr marL="342900" indent="-342900">
              <a:buAutoNum type="arabicPeriod"/>
            </a:pPr>
            <a:endParaRPr lang="pl-PL" b="1" dirty="0"/>
          </a:p>
          <a:p>
            <a:pPr marL="342900" indent="-342900">
              <a:buAutoNum type="arabicPeriod"/>
            </a:pPr>
            <a:endParaRPr lang="pl-PL" dirty="0"/>
          </a:p>
          <a:p>
            <a:pPr marL="0" indent="0"/>
            <a:r>
              <a:rPr lang="pl-PL" b="1" dirty="0"/>
              <a:t>…a co z $?</a:t>
            </a:r>
          </a:p>
          <a:p>
            <a:pPr marL="342900" indent="-342900">
              <a:buAutoNum type="arabicPeriod"/>
            </a:pPr>
            <a:r>
              <a:rPr lang="pl-PL" dirty="0"/>
              <a:t>Dolary działają i są rozumiane w =PY( przez odwołania do komórek (funkcja xl())</a:t>
            </a:r>
          </a:p>
          <a:p>
            <a:pPr marL="342900" indent="-342900">
              <a:buAutoNum type="arabicPeriod"/>
            </a:pPr>
            <a:r>
              <a:rPr lang="pl-PL" dirty="0"/>
              <a:t>…ale $ trzeba dopisywać ręcznie</a:t>
            </a:r>
          </a:p>
          <a:p>
            <a:pPr marL="342900" indent="-342900">
              <a:buAutoNum type="arabicPeriod"/>
            </a:pPr>
            <a:r>
              <a:rPr lang="pl-PL" dirty="0"/>
              <a:t> Poniżej efekty kopiowania „żółtych” komórek na „łososiowe”</a:t>
            </a:r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0" indent="0"/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pic>
        <p:nvPicPr>
          <p:cNvPr id="4" name="Obraz 3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EAE9ED10-E053-A21A-D5B8-984BB64C9CF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7993" y="3658586"/>
            <a:ext cx="3420899" cy="2112488"/>
          </a:xfrm>
          <a:prstGeom prst="rect">
            <a:avLst/>
          </a:prstGeom>
        </p:spPr>
      </p:pic>
      <p:pic>
        <p:nvPicPr>
          <p:cNvPr id="6" name="Obraz 5" descr="Obraz zawierający tekst, zrzut ekranu, numer, Czcionka&#10;&#10;Zawartość wygenerowana przez AI może być niepoprawna.">
            <a:extLst>
              <a:ext uri="{FF2B5EF4-FFF2-40B4-BE49-F238E27FC236}">
                <a16:creationId xmlns:a16="http://schemas.microsoft.com/office/drawing/2014/main" id="{EA10FE9B-3164-15D9-F9D8-76853115DE1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92370" y="3658586"/>
            <a:ext cx="3243594" cy="2019017"/>
          </a:xfrm>
          <a:prstGeom prst="rect">
            <a:avLst/>
          </a:prstGeom>
        </p:spPr>
      </p:pic>
      <p:sp>
        <p:nvSpPr>
          <p:cNvPr id="7" name="Numer slajdu — symbol zastępczy 5">
            <a:extLst>
              <a:ext uri="{FF2B5EF4-FFF2-40B4-BE49-F238E27FC236}">
                <a16:creationId xmlns:a16="http://schemas.microsoft.com/office/drawing/2014/main" id="{9616C5BD-AFAC-4717-7937-FF1E89069A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13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716774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67A2F-36DB-27A8-1468-D98561939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E12D26B9-3364-3656-8CF1-DDAAD3FC1B01}"/>
              </a:ext>
            </a:extLst>
          </p:cNvPr>
          <p:cNvSpPr txBox="1">
            <a:spLocks/>
          </p:cNvSpPr>
          <p:nvPr/>
        </p:nvSpPr>
        <p:spPr>
          <a:xfrm>
            <a:off x="451707" y="2680406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 dirty="0"/>
              <a:t>Bez danych się nie uda</a:t>
            </a:r>
          </a:p>
          <a:p>
            <a:endParaRPr lang="pl-PL" b="1" dirty="0"/>
          </a:p>
        </p:txBody>
      </p:sp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7772801C-E259-E53D-8F70-4E8D9C398B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14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875235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FE071-9334-15FA-AD97-8186EA15B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187E1EC0-B531-B817-F6CF-FE63BFEE774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00442" y="546099"/>
            <a:ext cx="8234444" cy="6292851"/>
          </a:xfrm>
        </p:spPr>
        <p:txBody>
          <a:bodyPr>
            <a:normAutofit/>
          </a:bodyPr>
          <a:lstStyle/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82F56AEB-FAD9-978C-81D6-B5982E5DA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– weź </a:t>
            </a:r>
            <a:r>
              <a:rPr lang="pl-PL" dirty="0" err="1"/>
              <a:t>se</a:t>
            </a:r>
            <a:r>
              <a:rPr lang="pl-PL" dirty="0"/>
              <a:t> dane [1]</a:t>
            </a:r>
          </a:p>
        </p:txBody>
      </p:sp>
      <p:pic>
        <p:nvPicPr>
          <p:cNvPr id="5" name="Obraz 4" descr="Obraz zawierający tekst, zrzut ekranu, numer, Czcionka&#10;&#10;Zawartość wygenerowana przez AI może być niepoprawna.">
            <a:extLst>
              <a:ext uri="{FF2B5EF4-FFF2-40B4-BE49-F238E27FC236}">
                <a16:creationId xmlns:a16="http://schemas.microsoft.com/office/drawing/2014/main" id="{B377F1A7-9F75-4978-36D4-7DF9351E87B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913" y="1869821"/>
            <a:ext cx="3390932" cy="2266189"/>
          </a:xfrm>
          <a:prstGeom prst="rect">
            <a:avLst/>
          </a:prstGeom>
        </p:spPr>
      </p:pic>
      <p:pic>
        <p:nvPicPr>
          <p:cNvPr id="8" name="Obraz 7" descr="Obraz zawierający tekst, zrzut ekranu, numer, oprogramowanie&#10;&#10;Zawartość wygenerowana przez AI może być niepoprawna.">
            <a:extLst>
              <a:ext uri="{FF2B5EF4-FFF2-40B4-BE49-F238E27FC236}">
                <a16:creationId xmlns:a16="http://schemas.microsoft.com/office/drawing/2014/main" id="{EDFC7D52-B5C3-AE6E-A960-764246EA173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913" y="4371992"/>
            <a:ext cx="5164266" cy="2064536"/>
          </a:xfrm>
          <a:prstGeom prst="rect">
            <a:avLst/>
          </a:prstGeom>
        </p:spPr>
      </p:pic>
      <p:pic>
        <p:nvPicPr>
          <p:cNvPr id="10" name="Obraz 9" descr="Obraz zawierający tekst, zrzut ekranu, oprogramowanie, numer&#10;&#10;Zawartość wygenerowana przez AI może być niepoprawna.">
            <a:extLst>
              <a:ext uri="{FF2B5EF4-FFF2-40B4-BE49-F238E27FC236}">
                <a16:creationId xmlns:a16="http://schemas.microsoft.com/office/drawing/2014/main" id="{01CFE233-1A18-0D19-30EC-7574F86700D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1628481"/>
            <a:ext cx="4558955" cy="4808047"/>
          </a:xfrm>
          <a:prstGeom prst="rect">
            <a:avLst/>
          </a:prstGeom>
        </p:spPr>
      </p:pic>
      <p:sp>
        <p:nvSpPr>
          <p:cNvPr id="11" name="Symbol zastępczy zawartości 1">
            <a:extLst>
              <a:ext uri="{FF2B5EF4-FFF2-40B4-BE49-F238E27FC236}">
                <a16:creationId xmlns:a16="http://schemas.microsoft.com/office/drawing/2014/main" id="{B0FEB927-8749-C6BA-6D32-39A32A25CA3D}"/>
              </a:ext>
            </a:extLst>
          </p:cNvPr>
          <p:cNvSpPr txBox="1">
            <a:spLocks/>
          </p:cNvSpPr>
          <p:nvPr/>
        </p:nvSpPr>
        <p:spPr>
          <a:xfrm>
            <a:off x="359659" y="546099"/>
            <a:ext cx="5355520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pl-PL" dirty="0"/>
              <a:t>Utwórz tabelę danych Excel z nazwą </a:t>
            </a:r>
            <a:r>
              <a:rPr lang="pl-PL" dirty="0" err="1"/>
              <a:t>tmp_dane</a:t>
            </a:r>
            <a:endParaRPr lang="pl-PL" dirty="0"/>
          </a:p>
          <a:p>
            <a:pPr marL="342900" indent="-342900">
              <a:buAutoNum type="arabicPeriod"/>
            </a:pPr>
            <a:r>
              <a:rPr lang="pl-PL" dirty="0"/>
              <a:t>Wpisz w A16 =PY( i zaznacz obszar tabeli </a:t>
            </a:r>
            <a:r>
              <a:rPr lang="pl-PL" dirty="0" err="1"/>
              <a:t>tmp_dane</a:t>
            </a:r>
            <a:endParaRPr lang="pl-PL" dirty="0"/>
          </a:p>
          <a:p>
            <a:pPr marL="342900" indent="-342900">
              <a:buAutoNum type="arabicPeriod"/>
            </a:pPr>
            <a:r>
              <a:rPr lang="pl-PL" dirty="0"/>
              <a:t>Kod w komórce A16 wygenerował się automatycznie</a:t>
            </a:r>
          </a:p>
          <a:p>
            <a:pPr marL="342900" indent="-342900">
              <a:buAutoNum type="arabicPeriod"/>
            </a:pPr>
            <a:r>
              <a:rPr lang="pl-PL" dirty="0"/>
              <a:t>Zatwierdź kod </a:t>
            </a:r>
            <a:r>
              <a:rPr lang="pl-PL" dirty="0" err="1"/>
              <a:t>Ctrl+Enter</a:t>
            </a:r>
            <a:endParaRPr lang="pl-PL" dirty="0"/>
          </a:p>
          <a:p>
            <a:pPr marL="342900" indent="-342900">
              <a:buAutoNum type="arabicPeriod"/>
            </a:pPr>
            <a:r>
              <a:rPr lang="pl-PL" dirty="0" err="1"/>
              <a:t>Zmien</a:t>
            </a:r>
            <a:r>
              <a:rPr lang="pl-PL" dirty="0"/>
              <a:t> typ wyniku na dane </a:t>
            </a:r>
            <a:r>
              <a:rPr lang="pl-PL" dirty="0" err="1"/>
              <a:t>excela</a:t>
            </a: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sp>
        <p:nvSpPr>
          <p:cNvPr id="12" name="Symbol zastępczy zawartości 1">
            <a:extLst>
              <a:ext uri="{FF2B5EF4-FFF2-40B4-BE49-F238E27FC236}">
                <a16:creationId xmlns:a16="http://schemas.microsoft.com/office/drawing/2014/main" id="{61DEA18A-702E-FB5C-A89E-113D9ADBC487}"/>
              </a:ext>
            </a:extLst>
          </p:cNvPr>
          <p:cNvSpPr txBox="1">
            <a:spLocks/>
          </p:cNvSpPr>
          <p:nvPr/>
        </p:nvSpPr>
        <p:spPr>
          <a:xfrm>
            <a:off x="5715179" y="678132"/>
            <a:ext cx="5355520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 startAt="6"/>
            </a:pPr>
            <a:r>
              <a:rPr lang="pl-PL" dirty="0"/>
              <a:t>Dodaj nowy rekord do tabeli </a:t>
            </a:r>
            <a:r>
              <a:rPr lang="pl-PL" dirty="0" err="1"/>
              <a:t>tmp_dane</a:t>
            </a:r>
            <a:endParaRPr lang="pl-PL" dirty="0"/>
          </a:p>
          <a:p>
            <a:pPr marL="342900" indent="-342900">
              <a:buAutoNum type="arabicPeriod" startAt="6"/>
            </a:pPr>
            <a:r>
              <a:rPr lang="pl-PL" b="1" dirty="0">
                <a:solidFill>
                  <a:srgbClr val="FF0000"/>
                </a:solidFill>
              </a:rPr>
              <a:t>Wyniki </a:t>
            </a:r>
            <a:r>
              <a:rPr lang="pl-PL" b="1" dirty="0" err="1">
                <a:solidFill>
                  <a:srgbClr val="FF0000"/>
                </a:solidFill>
              </a:rPr>
              <a:t>Python</a:t>
            </a:r>
            <a:r>
              <a:rPr lang="pl-PL" b="1" dirty="0">
                <a:solidFill>
                  <a:srgbClr val="FF0000"/>
                </a:solidFill>
              </a:rPr>
              <a:t> w A16 zaktualizują się po przeliczeniu o nowe dane bo referencją dla PY była tabela, a nie obszar komórek.</a:t>
            </a:r>
          </a:p>
          <a:p>
            <a:pPr marL="342900" indent="-342900">
              <a:buAutoNum type="arabicPeriod" startAt="6"/>
            </a:pPr>
            <a:endParaRPr lang="pl-PL" dirty="0"/>
          </a:p>
        </p:txBody>
      </p:sp>
      <p:sp>
        <p:nvSpPr>
          <p:cNvPr id="15" name="Numer slajdu — symbol zastępczy 5">
            <a:extLst>
              <a:ext uri="{FF2B5EF4-FFF2-40B4-BE49-F238E27FC236}">
                <a16:creationId xmlns:a16="http://schemas.microsoft.com/office/drawing/2014/main" id="{37AEA0F4-EE8F-23D0-F4E1-47BD08FF1A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15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630581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C41D7-7A81-D98A-4A71-A399A92FB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E4552294-36B5-2806-7790-955F232DD8B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00442" y="546099"/>
            <a:ext cx="8234444" cy="6292851"/>
          </a:xfrm>
        </p:spPr>
        <p:txBody>
          <a:bodyPr>
            <a:normAutofit/>
          </a:bodyPr>
          <a:lstStyle/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0F7938AA-0E34-F426-3C7A-072C23EFF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– weź </a:t>
            </a:r>
            <a:r>
              <a:rPr lang="pl-PL" dirty="0" err="1"/>
              <a:t>se</a:t>
            </a:r>
            <a:r>
              <a:rPr lang="pl-PL" dirty="0"/>
              <a:t> dane [2]</a:t>
            </a:r>
          </a:p>
        </p:txBody>
      </p:sp>
      <p:sp>
        <p:nvSpPr>
          <p:cNvPr id="11" name="Symbol zastępczy zawartości 1">
            <a:extLst>
              <a:ext uri="{FF2B5EF4-FFF2-40B4-BE49-F238E27FC236}">
                <a16:creationId xmlns:a16="http://schemas.microsoft.com/office/drawing/2014/main" id="{E281D938-AB0D-40E9-3347-5792DEDCE751}"/>
              </a:ext>
            </a:extLst>
          </p:cNvPr>
          <p:cNvSpPr txBox="1">
            <a:spLocks/>
          </p:cNvSpPr>
          <p:nvPr/>
        </p:nvSpPr>
        <p:spPr>
          <a:xfrm>
            <a:off x="359659" y="546099"/>
            <a:ext cx="5355520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pl-PL" dirty="0"/>
              <a:t>Utwórz tabelę przestawną na podstawie </a:t>
            </a:r>
            <a:r>
              <a:rPr lang="pl-PL" dirty="0" err="1"/>
              <a:t>tmp_dane</a:t>
            </a:r>
            <a:r>
              <a:rPr lang="pl-PL" dirty="0"/>
              <a:t> przed dodaniem wiersza z id 8 i grupą D</a:t>
            </a:r>
          </a:p>
          <a:p>
            <a:pPr marL="342900" indent="-342900">
              <a:buAutoNum type="arabicPeriod"/>
            </a:pPr>
            <a:r>
              <a:rPr lang="pl-PL" dirty="0"/>
              <a:t>Wpisz w A16 =PY( i zaznacz obszar tabeli przestawnej</a:t>
            </a:r>
          </a:p>
          <a:p>
            <a:pPr marL="342900" indent="-342900">
              <a:buAutoNum type="arabicPeriod"/>
            </a:pPr>
            <a:r>
              <a:rPr lang="pl-PL" dirty="0"/>
              <a:t>Kod w komórce A16 wygenerował się automatycznie</a:t>
            </a:r>
          </a:p>
          <a:p>
            <a:pPr marL="342900" indent="-342900">
              <a:buAutoNum type="arabicPeriod"/>
            </a:pPr>
            <a:r>
              <a:rPr lang="pl-PL" dirty="0"/>
              <a:t>Zatwierdź kod </a:t>
            </a:r>
            <a:r>
              <a:rPr lang="pl-PL" dirty="0" err="1"/>
              <a:t>Ctrl+Enter</a:t>
            </a:r>
            <a:endParaRPr lang="pl-PL" dirty="0"/>
          </a:p>
          <a:p>
            <a:pPr marL="342900" indent="-342900">
              <a:buAutoNum type="arabicPeriod"/>
            </a:pPr>
            <a:r>
              <a:rPr lang="pl-PL" dirty="0" err="1"/>
              <a:t>Zmien</a:t>
            </a:r>
            <a:r>
              <a:rPr lang="pl-PL" dirty="0"/>
              <a:t> typ wyniku na dane </a:t>
            </a:r>
            <a:r>
              <a:rPr lang="pl-PL" dirty="0" err="1"/>
              <a:t>excela</a:t>
            </a: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sp>
        <p:nvSpPr>
          <p:cNvPr id="12" name="Symbol zastępczy zawartości 1">
            <a:extLst>
              <a:ext uri="{FF2B5EF4-FFF2-40B4-BE49-F238E27FC236}">
                <a16:creationId xmlns:a16="http://schemas.microsoft.com/office/drawing/2014/main" id="{C6DD5A8A-CDC8-B7C0-9027-1B2B58B32B31}"/>
              </a:ext>
            </a:extLst>
          </p:cNvPr>
          <p:cNvSpPr txBox="1">
            <a:spLocks/>
          </p:cNvSpPr>
          <p:nvPr/>
        </p:nvSpPr>
        <p:spPr>
          <a:xfrm>
            <a:off x="5715179" y="718268"/>
            <a:ext cx="5355520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 startAt="6"/>
            </a:pPr>
            <a:r>
              <a:rPr lang="pl-PL" dirty="0"/>
              <a:t>Dodaj nowy rekord do tabeli </a:t>
            </a:r>
            <a:r>
              <a:rPr lang="pl-PL" dirty="0" err="1"/>
              <a:t>tmp_dane</a:t>
            </a:r>
            <a:r>
              <a:rPr lang="pl-PL" dirty="0"/>
              <a:t> id 8 i </a:t>
            </a:r>
            <a:r>
              <a:rPr lang="pl-PL" dirty="0" err="1"/>
              <a:t>grp</a:t>
            </a:r>
            <a:r>
              <a:rPr lang="pl-PL" dirty="0"/>
              <a:t> D</a:t>
            </a:r>
          </a:p>
          <a:p>
            <a:pPr marL="342900" indent="-342900">
              <a:buAutoNum type="arabicPeriod" startAt="6"/>
            </a:pPr>
            <a:r>
              <a:rPr lang="pl-PL" dirty="0"/>
              <a:t>Wyniki </a:t>
            </a:r>
            <a:r>
              <a:rPr lang="pl-PL" dirty="0" err="1"/>
              <a:t>Python</a:t>
            </a:r>
            <a:r>
              <a:rPr lang="pl-PL" dirty="0"/>
              <a:t> w A16 zaktualizują się po przeliczeniu</a:t>
            </a:r>
          </a:p>
          <a:p>
            <a:pPr marL="342900" indent="-342900">
              <a:buAutoNum type="arabicPeriod" startAt="6"/>
            </a:pPr>
            <a:r>
              <a:rPr lang="pl-PL" b="1" dirty="0">
                <a:solidFill>
                  <a:srgbClr val="FF0000"/>
                </a:solidFill>
              </a:rPr>
              <a:t>W wynikach </a:t>
            </a:r>
            <a:r>
              <a:rPr lang="pl-PL" b="1" dirty="0" err="1">
                <a:solidFill>
                  <a:srgbClr val="FF0000"/>
                </a:solidFill>
              </a:rPr>
              <a:t>Pythona</a:t>
            </a:r>
            <a:r>
              <a:rPr lang="pl-PL" b="1" dirty="0">
                <a:solidFill>
                  <a:srgbClr val="FF0000"/>
                </a:solidFill>
              </a:rPr>
              <a:t>, znika wiersz suma końcowa a pojawia się grupa D, bo referencją danych był obszar komórek, a nie tabela </a:t>
            </a:r>
            <a:r>
              <a:rPr lang="pl-PL" b="1" dirty="0" err="1">
                <a:solidFill>
                  <a:srgbClr val="FF0000"/>
                </a:solidFill>
              </a:rPr>
              <a:t>excela</a:t>
            </a:r>
            <a:r>
              <a:rPr lang="pl-PL" b="1" dirty="0">
                <a:solidFill>
                  <a:srgbClr val="FF0000"/>
                </a:solidFill>
              </a:rPr>
              <a:t>, ani tabela przestawna</a:t>
            </a:r>
          </a:p>
          <a:p>
            <a:pPr marL="342900" indent="-342900">
              <a:buFont typeface="Wingdings" panose="05000000000000000000" pitchFamily="2" charset="2"/>
              <a:buAutoNum type="arabicPeriod" startAt="6"/>
            </a:pPr>
            <a:r>
              <a:rPr lang="pl-PL" b="1" dirty="0">
                <a:solidFill>
                  <a:srgbClr val="FF0000"/>
                </a:solidFill>
              </a:rPr>
              <a:t>=PY nie obsługuje aktualnie </a:t>
            </a:r>
            <a:r>
              <a:rPr lang="pl-PL" b="1" dirty="0" err="1">
                <a:solidFill>
                  <a:srgbClr val="FF0000"/>
                </a:solidFill>
              </a:rPr>
              <a:t>odwołań</a:t>
            </a:r>
            <a:r>
              <a:rPr lang="pl-PL" b="1" dirty="0">
                <a:solidFill>
                  <a:srgbClr val="FF0000"/>
                </a:solidFill>
              </a:rPr>
              <a:t> do tabel przestawnych po ich nazwie</a:t>
            </a:r>
          </a:p>
          <a:p>
            <a:pPr marL="342900" indent="-342900">
              <a:buAutoNum type="arabicPeriod" startAt="6"/>
            </a:pPr>
            <a:endParaRPr lang="pl-PL" b="1" dirty="0"/>
          </a:p>
          <a:p>
            <a:pPr marL="342900" indent="-342900">
              <a:buAutoNum type="arabicPeriod" startAt="6"/>
            </a:pPr>
            <a:endParaRPr lang="pl-PL" dirty="0"/>
          </a:p>
          <a:p>
            <a:pPr marL="0" indent="0"/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pic>
        <p:nvPicPr>
          <p:cNvPr id="9" name="Obraz 8" descr="Obraz zawierający tekst, zrzut ekranu, wyświetlacz, numer&#10;&#10;Zawartość wygenerowana przez AI może być niepoprawna.">
            <a:extLst>
              <a:ext uri="{FF2B5EF4-FFF2-40B4-BE49-F238E27FC236}">
                <a16:creationId xmlns:a16="http://schemas.microsoft.com/office/drawing/2014/main" id="{51EB680B-4C3E-BFA5-1626-B70CF4AF669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7160" y="2337096"/>
            <a:ext cx="2305913" cy="2183807"/>
          </a:xfrm>
          <a:prstGeom prst="rect">
            <a:avLst/>
          </a:prstGeom>
        </p:spPr>
      </p:pic>
      <p:pic>
        <p:nvPicPr>
          <p:cNvPr id="16" name="Obraz 15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574F1C4F-4101-4396-015B-16BE8F75579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7160" y="4800558"/>
            <a:ext cx="2997473" cy="979211"/>
          </a:xfrm>
          <a:prstGeom prst="rect">
            <a:avLst/>
          </a:prstGeom>
        </p:spPr>
      </p:pic>
      <p:pic>
        <p:nvPicPr>
          <p:cNvPr id="18" name="Obraz 17" descr="Obraz zawierający tekst, zrzut ekranu, wyświetlacz, numer&#10;&#10;Zawartość wygenerowana przez AI może być niepoprawna.">
            <a:extLst>
              <a:ext uri="{FF2B5EF4-FFF2-40B4-BE49-F238E27FC236}">
                <a16:creationId xmlns:a16="http://schemas.microsoft.com/office/drawing/2014/main" id="{4D2FC3FF-FC83-77E1-BEA1-99CACEC80CB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2680" y="2727166"/>
            <a:ext cx="2893217" cy="3978174"/>
          </a:xfrm>
          <a:prstGeom prst="rect">
            <a:avLst/>
          </a:prstGeom>
        </p:spPr>
      </p:pic>
      <p:sp>
        <p:nvSpPr>
          <p:cNvPr id="19" name="Numer slajdu — symbol zastępczy 5">
            <a:extLst>
              <a:ext uri="{FF2B5EF4-FFF2-40B4-BE49-F238E27FC236}">
                <a16:creationId xmlns:a16="http://schemas.microsoft.com/office/drawing/2014/main" id="{C2EB8028-A7B6-EBDB-D588-89DFBAF88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16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6612743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BB27B-E5F2-9668-EF7D-A254D20B4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D2F7F297-948C-54C9-73B7-8A9F2AE2D28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37228" y="546099"/>
            <a:ext cx="6397657" cy="6292851"/>
          </a:xfrm>
        </p:spPr>
        <p:txBody>
          <a:bodyPr>
            <a:normAutofit/>
          </a:bodyPr>
          <a:lstStyle/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908503A3-8FCA-59C8-D3D5-8C4E35BBB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– weź </a:t>
            </a:r>
            <a:r>
              <a:rPr lang="pl-PL" dirty="0" err="1"/>
              <a:t>se</a:t>
            </a:r>
            <a:r>
              <a:rPr lang="pl-PL" dirty="0"/>
              <a:t> dane [3]</a:t>
            </a:r>
          </a:p>
        </p:txBody>
      </p:sp>
      <p:sp>
        <p:nvSpPr>
          <p:cNvPr id="11" name="Symbol zastępczy zawartości 1">
            <a:extLst>
              <a:ext uri="{FF2B5EF4-FFF2-40B4-BE49-F238E27FC236}">
                <a16:creationId xmlns:a16="http://schemas.microsoft.com/office/drawing/2014/main" id="{8547F80C-6A74-851B-103A-7755EF459380}"/>
              </a:ext>
            </a:extLst>
          </p:cNvPr>
          <p:cNvSpPr txBox="1">
            <a:spLocks/>
          </p:cNvSpPr>
          <p:nvPr/>
        </p:nvSpPr>
        <p:spPr>
          <a:xfrm>
            <a:off x="359659" y="546099"/>
            <a:ext cx="5355520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pl-PL" dirty="0"/>
              <a:t>Utwórz tabelę przestawną na podstawie </a:t>
            </a:r>
            <a:r>
              <a:rPr lang="pl-PL" dirty="0" err="1"/>
              <a:t>tmp_dane</a:t>
            </a:r>
            <a:r>
              <a:rPr lang="pl-PL" dirty="0"/>
              <a:t> przed dodaniem wiersza z id 8 i grupą D i nazwij obszar </a:t>
            </a:r>
            <a:r>
              <a:rPr lang="pl-PL" dirty="0" err="1"/>
              <a:t>tmp_obsz_przest</a:t>
            </a:r>
            <a:r>
              <a:rPr lang="pl-PL" dirty="0"/>
              <a:t> (obszar komórek, a nie </a:t>
            </a:r>
            <a:r>
              <a:rPr lang="pl-PL" dirty="0" err="1"/>
              <a:t>tablę</a:t>
            </a:r>
            <a:r>
              <a:rPr lang="pl-PL" dirty="0"/>
              <a:t> przestawną)</a:t>
            </a:r>
          </a:p>
          <a:p>
            <a:pPr marL="342900" indent="-342900">
              <a:buAutoNum type="arabicPeriod"/>
            </a:pPr>
            <a:r>
              <a:rPr lang="pl-PL" dirty="0"/>
              <a:t>Wpisz w A16 =PY( i zaznacz obszar, =PY nie zrozumiał nazwy obszaru, ale możesz wpisać samodzielnie nazwę jak w A23</a:t>
            </a:r>
          </a:p>
          <a:p>
            <a:pPr marL="342900" indent="-342900">
              <a:buAutoNum type="arabicPeriod"/>
            </a:pPr>
            <a:r>
              <a:rPr lang="pl-PL" dirty="0"/>
              <a:t>Zmień typ wyniku na dane </a:t>
            </a:r>
            <a:r>
              <a:rPr lang="pl-PL" dirty="0" err="1"/>
              <a:t>excela</a:t>
            </a: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sp>
        <p:nvSpPr>
          <p:cNvPr id="12" name="Symbol zastępczy zawartości 1">
            <a:extLst>
              <a:ext uri="{FF2B5EF4-FFF2-40B4-BE49-F238E27FC236}">
                <a16:creationId xmlns:a16="http://schemas.microsoft.com/office/drawing/2014/main" id="{38B2599A-A49C-0FA4-D9B0-FEDB626D5208}"/>
              </a:ext>
            </a:extLst>
          </p:cNvPr>
          <p:cNvSpPr txBox="1">
            <a:spLocks/>
          </p:cNvSpPr>
          <p:nvPr/>
        </p:nvSpPr>
        <p:spPr>
          <a:xfrm>
            <a:off x="5715179" y="718268"/>
            <a:ext cx="5355520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 startAt="6"/>
            </a:pPr>
            <a:r>
              <a:rPr lang="pl-PL" dirty="0"/>
              <a:t>Dodaj nowy rekord do tabeli </a:t>
            </a:r>
            <a:r>
              <a:rPr lang="pl-PL" dirty="0" err="1"/>
              <a:t>tmp_dane</a:t>
            </a:r>
            <a:r>
              <a:rPr lang="pl-PL" dirty="0"/>
              <a:t> id 8 i </a:t>
            </a:r>
            <a:r>
              <a:rPr lang="pl-PL" dirty="0" err="1"/>
              <a:t>grp</a:t>
            </a:r>
            <a:r>
              <a:rPr lang="pl-PL" dirty="0"/>
              <a:t> D</a:t>
            </a:r>
          </a:p>
          <a:p>
            <a:pPr marL="342900" indent="-342900">
              <a:buAutoNum type="arabicPeriod" startAt="6"/>
            </a:pPr>
            <a:r>
              <a:rPr lang="pl-PL" dirty="0"/>
              <a:t>Zaktualizuj przeliczenia </a:t>
            </a:r>
            <a:r>
              <a:rPr lang="pl-PL" dirty="0" err="1"/>
              <a:t>Python</a:t>
            </a:r>
            <a:endParaRPr lang="pl-PL" dirty="0"/>
          </a:p>
          <a:p>
            <a:pPr marL="342900" indent="-342900">
              <a:buAutoNum type="arabicPeriod" startAt="6"/>
            </a:pPr>
            <a:r>
              <a:rPr lang="pl-PL" b="1" dirty="0">
                <a:solidFill>
                  <a:srgbClr val="FF0000"/>
                </a:solidFill>
              </a:rPr>
              <a:t>W ani jednym ani drugim przypadku nie obsłużony został zwiększony obszar tabeli przestawnej</a:t>
            </a:r>
          </a:p>
          <a:p>
            <a:pPr marL="342900" indent="-342900">
              <a:buAutoNum type="arabicPeriod" startAt="6"/>
            </a:pPr>
            <a:endParaRPr lang="pl-PL" dirty="0"/>
          </a:p>
          <a:p>
            <a:pPr marL="0" indent="0"/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pic>
        <p:nvPicPr>
          <p:cNvPr id="7" name="Obraz 6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4729C192-DB56-B87F-D4EF-6DB0D493EFC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00" y="2565323"/>
            <a:ext cx="2293361" cy="1260133"/>
          </a:xfrm>
          <a:prstGeom prst="rect">
            <a:avLst/>
          </a:prstGeom>
        </p:spPr>
      </p:pic>
      <p:pic>
        <p:nvPicPr>
          <p:cNvPr id="10" name="Obraz 9" descr="Obraz zawierający tekst, zrzut ekranu, wyświetlacz, oprogramowanie&#10;&#10;Zawartość wygenerowana przez AI może być niepoprawna.">
            <a:extLst>
              <a:ext uri="{FF2B5EF4-FFF2-40B4-BE49-F238E27FC236}">
                <a16:creationId xmlns:a16="http://schemas.microsoft.com/office/drawing/2014/main" id="{B1EF1E96-059B-E2BE-8FDE-9C3676B8591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9659" y="4185501"/>
            <a:ext cx="2472935" cy="2037074"/>
          </a:xfrm>
          <a:prstGeom prst="rect">
            <a:avLst/>
          </a:prstGeom>
        </p:spPr>
      </p:pic>
      <p:pic>
        <p:nvPicPr>
          <p:cNvPr id="14" name="Obraz 13" descr="Obraz zawierający tekst, zrzut ekranu, oprogramowanie, numer&#10;&#10;Zawartość wygenerowana przez AI może być niepoprawna.">
            <a:extLst>
              <a:ext uri="{FF2B5EF4-FFF2-40B4-BE49-F238E27FC236}">
                <a16:creationId xmlns:a16="http://schemas.microsoft.com/office/drawing/2014/main" id="{21C153C0-1B2C-6D0E-3428-32CD486E09A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7297" y="2595979"/>
            <a:ext cx="2847882" cy="3680800"/>
          </a:xfrm>
          <a:prstGeom prst="rect">
            <a:avLst/>
          </a:prstGeom>
        </p:spPr>
      </p:pic>
      <p:pic>
        <p:nvPicPr>
          <p:cNvPr id="20" name="Obraz 19" descr="Obraz zawierający tekst, zrzut ekranu, oprogramowanie, wyświetlacz&#10;&#10;Zawartość wygenerowana przez AI może być niepoprawna.">
            <a:extLst>
              <a:ext uri="{FF2B5EF4-FFF2-40B4-BE49-F238E27FC236}">
                <a16:creationId xmlns:a16="http://schemas.microsoft.com/office/drawing/2014/main" id="{209A5866-8883-6930-1537-16A94EC18EC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5476" y="1970201"/>
            <a:ext cx="3649373" cy="4708689"/>
          </a:xfrm>
          <a:prstGeom prst="rect">
            <a:avLst/>
          </a:prstGeom>
        </p:spPr>
      </p:pic>
      <p:sp>
        <p:nvSpPr>
          <p:cNvPr id="21" name="Numer slajdu — symbol zastępczy 5">
            <a:extLst>
              <a:ext uri="{FF2B5EF4-FFF2-40B4-BE49-F238E27FC236}">
                <a16:creationId xmlns:a16="http://schemas.microsoft.com/office/drawing/2014/main" id="{2CF3B0B7-0262-4DDE-692A-D31A6FF140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17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6034303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98BB6-7ADC-64DF-68DB-517EA55DE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13A549C7-000A-DDB3-893B-2358747965E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37228" y="546099"/>
            <a:ext cx="6397657" cy="6292851"/>
          </a:xfrm>
        </p:spPr>
        <p:txBody>
          <a:bodyPr>
            <a:normAutofit/>
          </a:bodyPr>
          <a:lstStyle/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4DB4EF31-CBC8-8D70-1DED-B8437CA93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– weź </a:t>
            </a:r>
            <a:r>
              <a:rPr lang="pl-PL" dirty="0" err="1"/>
              <a:t>se</a:t>
            </a:r>
            <a:r>
              <a:rPr lang="pl-PL" dirty="0"/>
              <a:t> dane [4]</a:t>
            </a:r>
          </a:p>
        </p:txBody>
      </p:sp>
      <p:sp>
        <p:nvSpPr>
          <p:cNvPr id="11" name="Symbol zastępczy zawartości 1">
            <a:extLst>
              <a:ext uri="{FF2B5EF4-FFF2-40B4-BE49-F238E27FC236}">
                <a16:creationId xmlns:a16="http://schemas.microsoft.com/office/drawing/2014/main" id="{F65DE9AB-19D7-D13F-1AE8-44384F4A7FBA}"/>
              </a:ext>
            </a:extLst>
          </p:cNvPr>
          <p:cNvSpPr txBox="1">
            <a:spLocks/>
          </p:cNvSpPr>
          <p:nvPr/>
        </p:nvSpPr>
        <p:spPr>
          <a:xfrm>
            <a:off x="359659" y="546099"/>
            <a:ext cx="5355520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pl-PL" dirty="0"/>
              <a:t>Utwórz obszar danych (</a:t>
            </a:r>
            <a:r>
              <a:rPr lang="pl-PL" dirty="0" err="1"/>
              <a:t>range</a:t>
            </a:r>
            <a:r>
              <a:rPr lang="pl-PL" dirty="0"/>
              <a:t>) </a:t>
            </a:r>
            <a:r>
              <a:rPr lang="pl-PL" dirty="0" err="1"/>
              <a:t>tmp_obszar</a:t>
            </a:r>
            <a:endParaRPr lang="pl-PL" dirty="0"/>
          </a:p>
          <a:p>
            <a:pPr marL="342900" indent="-342900">
              <a:buAutoNum type="arabicPeriod"/>
            </a:pPr>
            <a:r>
              <a:rPr lang="pl-PL" dirty="0"/>
              <a:t>Zaznaczenia zakres nie rozpoznaje nazwy obszaru, ale można zrobić to ręcznie.</a:t>
            </a:r>
          </a:p>
          <a:p>
            <a:pPr marL="342900" indent="-342900">
              <a:buAutoNum type="arabicPeriod"/>
            </a:pPr>
            <a:endParaRPr lang="pl-PL" dirty="0"/>
          </a:p>
        </p:txBody>
      </p:sp>
      <p:sp>
        <p:nvSpPr>
          <p:cNvPr id="12" name="Symbol zastępczy zawartości 1">
            <a:extLst>
              <a:ext uri="{FF2B5EF4-FFF2-40B4-BE49-F238E27FC236}">
                <a16:creationId xmlns:a16="http://schemas.microsoft.com/office/drawing/2014/main" id="{9ED6730D-60AD-4B22-C299-5791ADCFD3C8}"/>
              </a:ext>
            </a:extLst>
          </p:cNvPr>
          <p:cNvSpPr txBox="1">
            <a:spLocks/>
          </p:cNvSpPr>
          <p:nvPr/>
        </p:nvSpPr>
        <p:spPr>
          <a:xfrm>
            <a:off x="5715179" y="718268"/>
            <a:ext cx="5355520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 startAt="6"/>
            </a:pPr>
            <a:r>
              <a:rPr lang="pl-PL" dirty="0"/>
              <a:t>Dodaj nowy rekord do zakresu, wstawiając wiersz pomiędzy istniejące rekordy</a:t>
            </a:r>
          </a:p>
          <a:p>
            <a:pPr marL="342900" indent="-342900">
              <a:buAutoNum type="arabicPeriod" startAt="6"/>
            </a:pPr>
            <a:r>
              <a:rPr lang="pl-PL" dirty="0"/>
              <a:t>Zaktualizuj przeliczenia </a:t>
            </a:r>
            <a:r>
              <a:rPr lang="pl-PL" dirty="0" err="1"/>
              <a:t>Python</a:t>
            </a:r>
            <a:endParaRPr lang="pl-PL" dirty="0"/>
          </a:p>
          <a:p>
            <a:pPr marL="342900" indent="-342900">
              <a:buAutoNum type="arabicPeriod" startAt="6"/>
            </a:pPr>
            <a:r>
              <a:rPr lang="pl-PL" b="1" dirty="0">
                <a:solidFill>
                  <a:srgbClr val="FF0000"/>
                </a:solidFill>
              </a:rPr>
              <a:t>=PY obsłużyło zwiększenie obszaru poprzez ”rozciągnięcie” już wykorzystywanego zakresu, ale takie podejście zwiększa szanse na błędy </a:t>
            </a:r>
          </a:p>
          <a:p>
            <a:pPr marL="342900" indent="-342900">
              <a:buAutoNum type="arabicPeriod" startAt="6"/>
            </a:pPr>
            <a:r>
              <a:rPr lang="pl-PL" b="1" dirty="0">
                <a:solidFill>
                  <a:srgbClr val="FF0000"/>
                </a:solidFill>
              </a:rPr>
              <a:t>Tabele </a:t>
            </a:r>
            <a:r>
              <a:rPr lang="pl-PL" b="1" dirty="0" err="1">
                <a:solidFill>
                  <a:srgbClr val="FF0000"/>
                </a:solidFill>
              </a:rPr>
              <a:t>excel’a</a:t>
            </a:r>
            <a:r>
              <a:rPr lang="pl-PL" b="1" dirty="0">
                <a:solidFill>
                  <a:srgbClr val="FF0000"/>
                </a:solidFill>
              </a:rPr>
              <a:t> są najbardziej uniwersalną metodą pobierania danych w tym poprzez zasilenia Power Query</a:t>
            </a:r>
          </a:p>
          <a:p>
            <a:pPr marL="342900" indent="-342900">
              <a:buAutoNum type="arabicPeriod" startAt="6"/>
            </a:pPr>
            <a:endParaRPr lang="pl-PL" dirty="0"/>
          </a:p>
          <a:p>
            <a:pPr marL="0" indent="0"/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pic>
        <p:nvPicPr>
          <p:cNvPr id="5" name="Obraz 4" descr="Obraz zawierający tekst, zrzut ekranu, numer, diagram&#10;&#10;Zawartość wygenerowana przez AI może być niepoprawna.">
            <a:extLst>
              <a:ext uri="{FF2B5EF4-FFF2-40B4-BE49-F238E27FC236}">
                <a16:creationId xmlns:a16="http://schemas.microsoft.com/office/drawing/2014/main" id="{DDC2DC76-D5CE-0087-886B-061CC6AA61E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500" y="1541190"/>
            <a:ext cx="2867439" cy="1734921"/>
          </a:xfrm>
          <a:prstGeom prst="rect">
            <a:avLst/>
          </a:prstGeom>
        </p:spPr>
      </p:pic>
      <p:pic>
        <p:nvPicPr>
          <p:cNvPr id="8" name="Obraz 7" descr="Obraz zawierający tekst, zrzut ekranu, diagram, numer&#10;&#10;Zawartość wygenerowana przez AI może być niepoprawna.">
            <a:extLst>
              <a:ext uri="{FF2B5EF4-FFF2-40B4-BE49-F238E27FC236}">
                <a16:creationId xmlns:a16="http://schemas.microsoft.com/office/drawing/2014/main" id="{BBBB4201-6E8C-3865-4002-3090561FBE0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2166" y="3541753"/>
            <a:ext cx="1875521" cy="1975144"/>
          </a:xfrm>
          <a:prstGeom prst="rect">
            <a:avLst/>
          </a:prstGeom>
        </p:spPr>
      </p:pic>
      <p:pic>
        <p:nvPicPr>
          <p:cNvPr id="13" name="Obraz 12" descr="Obraz zawierający tekst, zrzut ekranu, diagram, numer&#10;&#10;Zawartość wygenerowana przez AI może być niepoprawna.">
            <a:extLst>
              <a:ext uri="{FF2B5EF4-FFF2-40B4-BE49-F238E27FC236}">
                <a16:creationId xmlns:a16="http://schemas.microsoft.com/office/drawing/2014/main" id="{EB129377-7902-938A-3535-A7CB3BB12D8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33350" y="3448280"/>
            <a:ext cx="2163008" cy="3058998"/>
          </a:xfrm>
          <a:prstGeom prst="rect">
            <a:avLst/>
          </a:prstGeom>
        </p:spPr>
      </p:pic>
      <p:pic>
        <p:nvPicPr>
          <p:cNvPr id="16" name="Obraz 15" descr="Obraz zawierający tekst, zrzut ekranu, numer, diagram&#10;&#10;Zawartość wygenerowana przez AI może być niepoprawna.">
            <a:extLst>
              <a:ext uri="{FF2B5EF4-FFF2-40B4-BE49-F238E27FC236}">
                <a16:creationId xmlns:a16="http://schemas.microsoft.com/office/drawing/2014/main" id="{0223BDBA-8DC8-C164-7867-DA799B6211B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9139" y="2749902"/>
            <a:ext cx="2038096" cy="3850849"/>
          </a:xfrm>
          <a:prstGeom prst="rect">
            <a:avLst/>
          </a:prstGeom>
        </p:spPr>
      </p:pic>
      <p:sp>
        <p:nvSpPr>
          <p:cNvPr id="19" name="Numer slajdu — symbol zastępczy 5">
            <a:extLst>
              <a:ext uri="{FF2B5EF4-FFF2-40B4-BE49-F238E27FC236}">
                <a16:creationId xmlns:a16="http://schemas.microsoft.com/office/drawing/2014/main" id="{4494E226-CC54-B799-D1AE-9752C527B0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18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703585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C472E-FF5A-12E9-EE9D-9B521850E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7040E7C0-253A-53BF-26AD-F48EAAAA1A9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37228" y="546099"/>
            <a:ext cx="6397657" cy="6292851"/>
          </a:xfrm>
        </p:spPr>
        <p:txBody>
          <a:bodyPr>
            <a:normAutofit/>
          </a:bodyPr>
          <a:lstStyle/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27032B64-04D7-FECA-FD0B-7226407B4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– weź </a:t>
            </a:r>
            <a:r>
              <a:rPr lang="pl-PL" dirty="0" err="1"/>
              <a:t>se</a:t>
            </a:r>
            <a:r>
              <a:rPr lang="pl-PL" dirty="0"/>
              <a:t> dane [6] z tabel sprytniej</a:t>
            </a:r>
          </a:p>
        </p:txBody>
      </p:sp>
      <p:sp>
        <p:nvSpPr>
          <p:cNvPr id="11" name="Symbol zastępczy zawartości 1">
            <a:extLst>
              <a:ext uri="{FF2B5EF4-FFF2-40B4-BE49-F238E27FC236}">
                <a16:creationId xmlns:a16="http://schemas.microsoft.com/office/drawing/2014/main" id="{8433A7E9-4B0C-FE87-726C-A7AD471971B1}"/>
              </a:ext>
            </a:extLst>
          </p:cNvPr>
          <p:cNvSpPr txBox="1">
            <a:spLocks/>
          </p:cNvSpPr>
          <p:nvPr/>
        </p:nvSpPr>
        <p:spPr>
          <a:xfrm>
            <a:off x="359659" y="546099"/>
            <a:ext cx="11078654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pl-PL" dirty="0"/>
              <a:t>Do zaznaczania danych w tabeli </a:t>
            </a:r>
            <a:r>
              <a:rPr lang="pl-PL" dirty="0" err="1"/>
              <a:t>excel’a</a:t>
            </a:r>
            <a:r>
              <a:rPr lang="pl-PL" dirty="0"/>
              <a:t>  używaj ”strzałeczek” jak poniżej:</a:t>
            </a:r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r>
              <a:rPr lang="pl-PL" dirty="0"/>
              <a:t>Warto zapoznać się operatorami ”współczesnego </a:t>
            </a:r>
            <a:r>
              <a:rPr lang="pl-PL" dirty="0" err="1"/>
              <a:t>excel’a</a:t>
            </a:r>
            <a:r>
              <a:rPr lang="pl-PL" dirty="0"/>
              <a:t>” </a:t>
            </a:r>
            <a:r>
              <a:rPr lang="pl-PL" dirty="0">
                <a:sym typeface="Wingdings" panose="05000000000000000000" pitchFamily="2" charset="2"/>
              </a:rPr>
              <a:t> @ i #</a:t>
            </a: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sp>
        <p:nvSpPr>
          <p:cNvPr id="12" name="Symbol zastępczy zawartości 1">
            <a:extLst>
              <a:ext uri="{FF2B5EF4-FFF2-40B4-BE49-F238E27FC236}">
                <a16:creationId xmlns:a16="http://schemas.microsoft.com/office/drawing/2014/main" id="{71C474AB-5EBD-E443-7EEE-9A235A14A01A}"/>
              </a:ext>
            </a:extLst>
          </p:cNvPr>
          <p:cNvSpPr txBox="1">
            <a:spLocks/>
          </p:cNvSpPr>
          <p:nvPr/>
        </p:nvSpPr>
        <p:spPr>
          <a:xfrm>
            <a:off x="5715179" y="718268"/>
            <a:ext cx="5355520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 startAt="6"/>
            </a:pPr>
            <a:endParaRPr lang="pl-PL" dirty="0"/>
          </a:p>
          <a:p>
            <a:pPr marL="0" indent="0"/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sp>
        <p:nvSpPr>
          <p:cNvPr id="19" name="Numer slajdu — symbol zastępczy 5">
            <a:extLst>
              <a:ext uri="{FF2B5EF4-FFF2-40B4-BE49-F238E27FC236}">
                <a16:creationId xmlns:a16="http://schemas.microsoft.com/office/drawing/2014/main" id="{86632DA6-DB33-37DD-D7AE-8BCDFBC8E3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19</a:t>
            </a:fld>
            <a:endParaRPr lang="pl-PL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C7C6F7A9-4FDC-D4EA-C181-C4E292453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405" y="1009925"/>
            <a:ext cx="2109603" cy="1994191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8228AB49-A845-FFE0-77F2-9B998356E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02" y="1009925"/>
            <a:ext cx="2111774" cy="1997314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F44FA4A6-047D-3CCF-7835-3877DE73B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9585" y="1009925"/>
            <a:ext cx="2021408" cy="1930990"/>
          </a:xfrm>
          <a:prstGeom prst="rect">
            <a:avLst/>
          </a:prstGeom>
        </p:spPr>
      </p:pic>
      <p:sp>
        <p:nvSpPr>
          <p:cNvPr id="7" name="Owal 6">
            <a:extLst>
              <a:ext uri="{FF2B5EF4-FFF2-40B4-BE49-F238E27FC236}">
                <a16:creationId xmlns:a16="http://schemas.microsoft.com/office/drawing/2014/main" id="{4FD75F42-F184-AB7C-5218-B60963959A17}"/>
              </a:ext>
            </a:extLst>
          </p:cNvPr>
          <p:cNvSpPr/>
          <p:nvPr/>
        </p:nvSpPr>
        <p:spPr>
          <a:xfrm>
            <a:off x="493010" y="988094"/>
            <a:ext cx="352703" cy="36848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Owal 7">
            <a:extLst>
              <a:ext uri="{FF2B5EF4-FFF2-40B4-BE49-F238E27FC236}">
                <a16:creationId xmlns:a16="http://schemas.microsoft.com/office/drawing/2014/main" id="{265512AB-A52A-BF61-B7B9-013CD544D9BB}"/>
              </a:ext>
            </a:extLst>
          </p:cNvPr>
          <p:cNvSpPr/>
          <p:nvPr/>
        </p:nvSpPr>
        <p:spPr>
          <a:xfrm>
            <a:off x="3820813" y="1081775"/>
            <a:ext cx="352703" cy="36848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Owal 8">
            <a:extLst>
              <a:ext uri="{FF2B5EF4-FFF2-40B4-BE49-F238E27FC236}">
                <a16:creationId xmlns:a16="http://schemas.microsoft.com/office/drawing/2014/main" id="{AE09AC8E-E635-467D-6142-7369A5AAABF1}"/>
              </a:ext>
            </a:extLst>
          </p:cNvPr>
          <p:cNvSpPr/>
          <p:nvPr/>
        </p:nvSpPr>
        <p:spPr>
          <a:xfrm>
            <a:off x="4942114" y="988094"/>
            <a:ext cx="352703" cy="36848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B4BA89A8-3E7D-8559-F435-467FD233DD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18849"/>
              </p:ext>
            </p:extLst>
          </p:nvPr>
        </p:nvGraphicFramePr>
        <p:xfrm>
          <a:off x="716923" y="3781702"/>
          <a:ext cx="10861183" cy="1737360"/>
        </p:xfrm>
        <a:graphic>
          <a:graphicData uri="http://schemas.openxmlformats.org/drawingml/2006/table">
            <a:tbl>
              <a:tblPr/>
              <a:tblGrid>
                <a:gridCol w="1046434">
                  <a:extLst>
                    <a:ext uri="{9D8B030D-6E8A-4147-A177-3AD203B41FA5}">
                      <a16:colId xmlns:a16="http://schemas.microsoft.com/office/drawing/2014/main" val="1394056904"/>
                    </a:ext>
                  </a:extLst>
                </a:gridCol>
                <a:gridCol w="1747012">
                  <a:extLst>
                    <a:ext uri="{9D8B030D-6E8A-4147-A177-3AD203B41FA5}">
                      <a16:colId xmlns:a16="http://schemas.microsoft.com/office/drawing/2014/main" val="3420006305"/>
                    </a:ext>
                  </a:extLst>
                </a:gridCol>
                <a:gridCol w="4083873">
                  <a:extLst>
                    <a:ext uri="{9D8B030D-6E8A-4147-A177-3AD203B41FA5}">
                      <a16:colId xmlns:a16="http://schemas.microsoft.com/office/drawing/2014/main" val="3049932722"/>
                    </a:ext>
                  </a:extLst>
                </a:gridCol>
                <a:gridCol w="3983864">
                  <a:extLst>
                    <a:ext uri="{9D8B030D-6E8A-4147-A177-3AD203B41FA5}">
                      <a16:colId xmlns:a16="http://schemas.microsoft.com/office/drawing/2014/main" val="41987359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 dirty="0">
                          <a:effectLst/>
                        </a:rPr>
                        <a:t>Symbol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>
                          <a:effectLst/>
                        </a:rPr>
                        <a:t>Nazwa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>
                          <a:effectLst/>
                        </a:rPr>
                        <a:t>Główne zastosowanie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 dirty="0">
                          <a:effectLst/>
                        </a:rPr>
                        <a:t>Przykład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242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 b="1">
                          <a:effectLst/>
                        </a:rPr>
                        <a:t>@</a:t>
                      </a:r>
                      <a:endParaRPr lang="pl-PL" sz="120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 dirty="0">
                          <a:effectLst/>
                        </a:rPr>
                        <a:t>Operator przecięcia niejawnego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 dirty="0">
                          <a:effectLst/>
                        </a:rPr>
                        <a:t>Wymusza </a:t>
                      </a:r>
                      <a:r>
                        <a:rPr lang="pl-PL" sz="1200" b="1" dirty="0">
                          <a:effectLst/>
                        </a:rPr>
                        <a:t>pojedynczą wartość</a:t>
                      </a:r>
                      <a:r>
                        <a:rPr lang="pl-PL" sz="1200" dirty="0">
                          <a:effectLst/>
                        </a:rPr>
                        <a:t> z zakresu/tablicy; </a:t>
                      </a:r>
                    </a:p>
                    <a:p>
                      <a:pPr algn="l">
                        <a:buNone/>
                      </a:pPr>
                      <a:r>
                        <a:rPr lang="pl-PL" sz="1200" dirty="0">
                          <a:effectLst/>
                        </a:rPr>
                        <a:t>w Tabelach oznacza "Bieżący Wiersz„ lub kolumnę.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 dirty="0">
                          <a:effectLst/>
                          <a:latin typeface="Courier New" panose="02070309020205020404" pitchFamily="49" charset="0"/>
                        </a:rPr>
                        <a:t>=@A:A </a:t>
                      </a:r>
                      <a:r>
                        <a:rPr lang="pl-PL" sz="1200" dirty="0">
                          <a:effectLst/>
                        </a:rPr>
                        <a:t>lub </a:t>
                      </a:r>
                    </a:p>
                    <a:p>
                      <a:pPr marL="0" marR="0" lvl="0" indent="0" algn="l" defTabSz="91439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dirty="0">
                          <a:effectLst/>
                          <a:latin typeface="Courier New" panose="02070309020205020404" pitchFamily="49" charset="0"/>
                        </a:rPr>
                        <a:t>=Tabela1[@] (bieżący wiersz) </a:t>
                      </a:r>
                      <a:r>
                        <a:rPr lang="pl-PL" sz="1200" dirty="0">
                          <a:effectLst/>
                        </a:rPr>
                        <a:t>lub </a:t>
                      </a:r>
                    </a:p>
                    <a:p>
                      <a:pPr algn="l">
                        <a:buNone/>
                      </a:pPr>
                      <a:r>
                        <a:rPr lang="pl-PL" sz="1200" dirty="0">
                          <a:effectLst/>
                          <a:latin typeface="Courier New" panose="02070309020205020404" pitchFamily="49" charset="0"/>
                        </a:rPr>
                        <a:t>=Tabela1[@Cena] (bieżący komórka w Cena)</a:t>
                      </a:r>
                      <a:endParaRPr lang="pl-PL" sz="1200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07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 b="1">
                          <a:effectLst/>
                        </a:rPr>
                        <a:t>#</a:t>
                      </a:r>
                      <a:endParaRPr lang="pl-PL" sz="120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 dirty="0">
                          <a:effectLst/>
                        </a:rPr>
                        <a:t>Operator zakresu rozlania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 dirty="0">
                          <a:effectLst/>
                        </a:rPr>
                        <a:t>Odwołuje się do </a:t>
                      </a:r>
                      <a:r>
                        <a:rPr lang="pl-PL" sz="1200" b="1" dirty="0">
                          <a:effectLst/>
                        </a:rPr>
                        <a:t>całej tablicy</a:t>
                      </a:r>
                      <a:r>
                        <a:rPr lang="pl-PL" sz="1200" dirty="0">
                          <a:effectLst/>
                        </a:rPr>
                        <a:t> wyników (zmienny rozmiar); </a:t>
                      </a:r>
                    </a:p>
                    <a:p>
                      <a:pPr algn="l">
                        <a:buNone/>
                      </a:pPr>
                      <a:r>
                        <a:rPr lang="pl-PL" sz="1200" dirty="0">
                          <a:effectLst/>
                        </a:rPr>
                        <a:t>w Tabelach oznacza specyficzne sekcje (np. nagłówki).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 dirty="0">
                          <a:effectLst/>
                          <a:latin typeface="Courier New" panose="02070309020205020404" pitchFamily="49" charset="0"/>
                        </a:rPr>
                        <a:t>=A1#</a:t>
                      </a:r>
                      <a:r>
                        <a:rPr lang="pl-PL" sz="1200" dirty="0">
                          <a:effectLst/>
                        </a:rPr>
                        <a:t> </a:t>
                      </a:r>
                      <a:r>
                        <a:rPr lang="pl-PL" sz="1200" kern="12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(jeżeli rozlane dane) </a:t>
                      </a:r>
                      <a:r>
                        <a:rPr lang="pl-PL" sz="1200" dirty="0">
                          <a:effectLst/>
                        </a:rPr>
                        <a:t>lub </a:t>
                      </a:r>
                    </a:p>
                    <a:p>
                      <a:pPr marL="0" marR="0" lvl="0" indent="0" algn="l" defTabSz="91439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dirty="0">
                          <a:effectLst/>
                          <a:latin typeface="Courier New" panose="02070309020205020404" pitchFamily="49" charset="0"/>
                        </a:rPr>
                        <a:t>Tabela1[#Wszystko]</a:t>
                      </a:r>
                      <a:r>
                        <a:rPr lang="pl-PL" sz="1200" dirty="0">
                          <a:effectLst/>
                        </a:rPr>
                        <a:t> lub </a:t>
                      </a:r>
                      <a:r>
                        <a:rPr lang="pl-PL" sz="1200" dirty="0"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pPr algn="l">
                        <a:buNone/>
                      </a:pPr>
                      <a:r>
                        <a:rPr lang="pl-PL" sz="1200" dirty="0">
                          <a:effectLst/>
                          <a:latin typeface="Courier New" panose="02070309020205020404" pitchFamily="49" charset="0"/>
                        </a:rPr>
                        <a:t>Tabela1[#Nagłówki]</a:t>
                      </a:r>
                      <a:endParaRPr lang="pl-PL" sz="1200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222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06272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3833C-477F-F57E-3276-D2A9A4F70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11248DDD-3C9F-DA7E-0E4E-21DD71171F7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37228" y="546099"/>
            <a:ext cx="6397657" cy="6292851"/>
          </a:xfrm>
        </p:spPr>
        <p:txBody>
          <a:bodyPr>
            <a:normAutofit/>
          </a:bodyPr>
          <a:lstStyle/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BEEC3147-A66C-0945-3F50-0401859E9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– weź </a:t>
            </a:r>
            <a:r>
              <a:rPr lang="pl-PL" dirty="0" err="1"/>
              <a:t>se</a:t>
            </a:r>
            <a:r>
              <a:rPr lang="pl-PL" dirty="0"/>
              <a:t> dane [7] przygarnij kropka</a:t>
            </a:r>
          </a:p>
        </p:txBody>
      </p:sp>
      <p:sp>
        <p:nvSpPr>
          <p:cNvPr id="11" name="Symbol zastępczy zawartości 1">
            <a:extLst>
              <a:ext uri="{FF2B5EF4-FFF2-40B4-BE49-F238E27FC236}">
                <a16:creationId xmlns:a16="http://schemas.microsoft.com/office/drawing/2014/main" id="{B8D2B948-3227-813D-A177-01AB4F5CBBB2}"/>
              </a:ext>
            </a:extLst>
          </p:cNvPr>
          <p:cNvSpPr txBox="1">
            <a:spLocks/>
          </p:cNvSpPr>
          <p:nvPr/>
        </p:nvSpPr>
        <p:spPr>
          <a:xfrm>
            <a:off x="359659" y="546099"/>
            <a:ext cx="10089400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pl-PL" dirty="0"/>
              <a:t>Zamiast </a:t>
            </a:r>
            <a:r>
              <a:rPr lang="pl-PL" dirty="0" err="1"/>
              <a:t>table</a:t>
            </a:r>
            <a:r>
              <a:rPr lang="pl-PL" dirty="0"/>
              <a:t> możesz zawsze zaznaczyć wszystkie wiersze z wybranego zakresu kolumn np. </a:t>
            </a:r>
            <a:r>
              <a:rPr lang="pl-PL" b="1" dirty="0">
                <a:solidFill>
                  <a:srgbClr val="FF0000"/>
                </a:solidFill>
              </a:rPr>
              <a:t>=A:C</a:t>
            </a:r>
          </a:p>
          <a:p>
            <a:pPr marL="342900" indent="-342900">
              <a:buAutoNum type="arabicPeriod"/>
            </a:pPr>
            <a:r>
              <a:rPr lang="pl-PL" dirty="0"/>
              <a:t>Jednak takie zaznaczenie </a:t>
            </a:r>
            <a:r>
              <a:rPr lang="pl-PL" dirty="0" err="1"/>
              <a:t>wypłnia</a:t>
            </a:r>
            <a:r>
              <a:rPr lang="pl-PL" dirty="0"/>
              <a:t> zerami puste komórki.</a:t>
            </a:r>
          </a:p>
          <a:p>
            <a:pPr marL="342900" indent="-342900">
              <a:buAutoNum type="arabicPeriod"/>
            </a:pPr>
            <a:r>
              <a:rPr lang="pl-PL" dirty="0"/>
              <a:t>Można tego uniknąć stosują operator kropki </a:t>
            </a:r>
            <a:r>
              <a:rPr lang="pl-PL" b="1" dirty="0">
                <a:solidFill>
                  <a:srgbClr val="FF0000"/>
                </a:solidFill>
              </a:rPr>
              <a:t>=A</a:t>
            </a:r>
            <a:r>
              <a:rPr lang="pl-PL" b="1" dirty="0">
                <a:solidFill>
                  <a:srgbClr val="FF0000"/>
                </a:solidFill>
                <a:highlight>
                  <a:srgbClr val="00FFFF"/>
                </a:highlight>
              </a:rPr>
              <a:t>.</a:t>
            </a:r>
            <a:r>
              <a:rPr lang="pl-PL" b="1" dirty="0">
                <a:solidFill>
                  <a:srgbClr val="FF0000"/>
                </a:solidFill>
              </a:rPr>
              <a:t>:</a:t>
            </a:r>
            <a:r>
              <a:rPr lang="pl-PL" b="1" dirty="0">
                <a:solidFill>
                  <a:srgbClr val="FF0000"/>
                </a:solidFill>
                <a:highlight>
                  <a:srgbClr val="00FFFF"/>
                </a:highlight>
              </a:rPr>
              <a:t>.C</a:t>
            </a:r>
            <a:endParaRPr lang="pl-PL" b="1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pl-PL" dirty="0"/>
              <a:t>Operator oznacza, że przenoszone są tylko wiersze lub kolumny zawierające dane – tak puste </a:t>
            </a:r>
            <a:r>
              <a:rPr lang="pl-PL" dirty="0" err="1"/>
              <a:t>komórk</a:t>
            </a:r>
            <a:r>
              <a:rPr lang="pl-PL" dirty="0"/>
              <a:t> będą miały zera, ale do wykorzystania w =PY( operator kropki jest bardzo praktyczny</a:t>
            </a:r>
          </a:p>
          <a:p>
            <a:pPr marL="342900" indent="-342900">
              <a:buAutoNum type="arabicPeriod"/>
            </a:pPr>
            <a:r>
              <a:rPr lang="pl-PL" dirty="0"/>
              <a:t>Operator kropki działa na </a:t>
            </a:r>
            <a:r>
              <a:rPr lang="pl-PL" dirty="0" err="1"/>
              <a:t>rozciądanie</a:t>
            </a:r>
            <a:r>
              <a:rPr lang="pl-PL" dirty="0"/>
              <a:t> obszaru, np. wstawienie nowej kolumny za kolumną A lub B</a:t>
            </a:r>
          </a:p>
        </p:txBody>
      </p:sp>
      <p:sp>
        <p:nvSpPr>
          <p:cNvPr id="12" name="Symbol zastępczy zawartości 1">
            <a:extLst>
              <a:ext uri="{FF2B5EF4-FFF2-40B4-BE49-F238E27FC236}">
                <a16:creationId xmlns:a16="http://schemas.microsoft.com/office/drawing/2014/main" id="{DAAC168A-534D-881C-A5C7-8B5E784C329A}"/>
              </a:ext>
            </a:extLst>
          </p:cNvPr>
          <p:cNvSpPr txBox="1">
            <a:spLocks/>
          </p:cNvSpPr>
          <p:nvPr/>
        </p:nvSpPr>
        <p:spPr>
          <a:xfrm>
            <a:off x="5715179" y="718268"/>
            <a:ext cx="5355520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 startAt="6"/>
            </a:pPr>
            <a:endParaRPr lang="pl-PL" dirty="0"/>
          </a:p>
          <a:p>
            <a:pPr marL="0" indent="0"/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sp>
        <p:nvSpPr>
          <p:cNvPr id="19" name="Numer slajdu — symbol zastępczy 5">
            <a:extLst>
              <a:ext uri="{FF2B5EF4-FFF2-40B4-BE49-F238E27FC236}">
                <a16:creationId xmlns:a16="http://schemas.microsoft.com/office/drawing/2014/main" id="{A7EB069E-3690-683A-CC24-0601DBE601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20</a:t>
            </a:fld>
            <a:endParaRPr lang="pl-PL" dirty="0"/>
          </a:p>
        </p:txBody>
      </p:sp>
      <p:pic>
        <p:nvPicPr>
          <p:cNvPr id="6" name="Obraz 5" descr="Obraz zawierający tekst, zrzut ekranu, diagram, Wykres&#10;&#10;Zawartość wygenerowana przez AI może być niepoprawna.">
            <a:extLst>
              <a:ext uri="{FF2B5EF4-FFF2-40B4-BE49-F238E27FC236}">
                <a16:creationId xmlns:a16="http://schemas.microsoft.com/office/drawing/2014/main" id="{51C4EB5E-EDC6-1DF8-1D02-122918C47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872" y="2529040"/>
            <a:ext cx="3810532" cy="1895740"/>
          </a:xfrm>
          <a:prstGeom prst="rect">
            <a:avLst/>
          </a:prstGeom>
        </p:spPr>
      </p:pic>
      <p:pic>
        <p:nvPicPr>
          <p:cNvPr id="14" name="Obraz 13" descr="Obraz zawierający tekst, zrzut ekranu, diagram, Wykres&#10;&#10;Zawartość wygenerowana przez AI może być niepoprawna.">
            <a:extLst>
              <a:ext uri="{FF2B5EF4-FFF2-40B4-BE49-F238E27FC236}">
                <a16:creationId xmlns:a16="http://schemas.microsoft.com/office/drawing/2014/main" id="{81DE34E7-8C86-5260-0A01-2A33CCA47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490" y="2547814"/>
            <a:ext cx="4058216" cy="1762371"/>
          </a:xfrm>
          <a:prstGeom prst="rect">
            <a:avLst/>
          </a:prstGeom>
        </p:spPr>
      </p:pic>
      <p:pic>
        <p:nvPicPr>
          <p:cNvPr id="17" name="Obraz 16" descr="Obraz zawierający tekst, zrzut ekranu, diagram, numer&#10;&#10;Zawartość wygenerowana przez AI może być niepoprawna.">
            <a:extLst>
              <a:ext uri="{FF2B5EF4-FFF2-40B4-BE49-F238E27FC236}">
                <a16:creationId xmlns:a16="http://schemas.microsoft.com/office/drawing/2014/main" id="{B3792211-766D-59C2-2797-B94AD3235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890" y="4815498"/>
            <a:ext cx="3986132" cy="1761314"/>
          </a:xfrm>
          <a:prstGeom prst="rect">
            <a:avLst/>
          </a:prstGeom>
        </p:spPr>
      </p:pic>
      <p:pic>
        <p:nvPicPr>
          <p:cNvPr id="22" name="Obraz 21" descr="Obraz zawierający tekst, zrzut ekranu, numer, diagram&#10;&#10;Zawartość wygenerowana przez AI może być niepoprawna.">
            <a:extLst>
              <a:ext uri="{FF2B5EF4-FFF2-40B4-BE49-F238E27FC236}">
                <a16:creationId xmlns:a16="http://schemas.microsoft.com/office/drawing/2014/main" id="{513D1DB6-9AD8-433A-46C4-548C07BC4F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6662" y="4904409"/>
            <a:ext cx="4181405" cy="172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6823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029FD-498C-F827-2A8B-F10351B80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3A3652C6-4409-41BD-CC36-E94E1162E1F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37228" y="546099"/>
            <a:ext cx="6397657" cy="6292851"/>
          </a:xfrm>
        </p:spPr>
        <p:txBody>
          <a:bodyPr>
            <a:normAutofit/>
          </a:bodyPr>
          <a:lstStyle/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33D4CFE4-4737-9EED-8D3A-D0BBE2B7E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– weź </a:t>
            </a:r>
            <a:r>
              <a:rPr lang="pl-PL" dirty="0" err="1"/>
              <a:t>se</a:t>
            </a:r>
            <a:r>
              <a:rPr lang="pl-PL" dirty="0"/>
              <a:t> dane [8] z pliku</a:t>
            </a:r>
          </a:p>
        </p:txBody>
      </p:sp>
      <p:sp>
        <p:nvSpPr>
          <p:cNvPr id="11" name="Symbol zastępczy zawartości 1">
            <a:extLst>
              <a:ext uri="{FF2B5EF4-FFF2-40B4-BE49-F238E27FC236}">
                <a16:creationId xmlns:a16="http://schemas.microsoft.com/office/drawing/2014/main" id="{320A10D1-05B3-F3BF-E81E-ECC1864EA663}"/>
              </a:ext>
            </a:extLst>
          </p:cNvPr>
          <p:cNvSpPr txBox="1">
            <a:spLocks/>
          </p:cNvSpPr>
          <p:nvPr/>
        </p:nvSpPr>
        <p:spPr>
          <a:xfrm>
            <a:off x="359658" y="541806"/>
            <a:ext cx="10471473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pl-PL" dirty="0"/>
              <a:t>Po co wklejać dane do </a:t>
            </a:r>
            <a:r>
              <a:rPr lang="pl-PL" dirty="0" err="1"/>
              <a:t>excela</a:t>
            </a:r>
            <a:r>
              <a:rPr lang="pl-PL" dirty="0"/>
              <a:t>, stwórz połączenie do pliku w Power Query bez ich ”ładowania” do </a:t>
            </a:r>
            <a:r>
              <a:rPr lang="pl-PL" dirty="0" err="1"/>
              <a:t>excela</a:t>
            </a:r>
            <a:r>
              <a:rPr lang="pl-PL" dirty="0"/>
              <a:t>.</a:t>
            </a:r>
          </a:p>
          <a:p>
            <a:pPr marL="342900" indent="-342900">
              <a:buAutoNum type="arabicPeriod"/>
            </a:pPr>
            <a:r>
              <a:rPr lang="pl-PL" dirty="0"/>
              <a:t>Wybierz dane z pliku np. CSV  zss_data_titanic.csv</a:t>
            </a:r>
          </a:p>
          <a:p>
            <a:pPr marL="342900" indent="-342900">
              <a:buAutoNum type="arabicPeriod"/>
            </a:pPr>
            <a:r>
              <a:rPr lang="pl-PL" dirty="0"/>
              <a:t>Wybierz pliki i importuj</a:t>
            </a:r>
          </a:p>
          <a:p>
            <a:pPr marL="342900" indent="-342900">
              <a:buAutoNum type="arabicPeriod"/>
            </a:pPr>
            <a:r>
              <a:rPr lang="pl-PL" dirty="0"/>
              <a:t>Z menu Power Query -&gt; </a:t>
            </a:r>
            <a:r>
              <a:rPr lang="pl-PL" b="1" dirty="0"/>
              <a:t>Załaduj do…</a:t>
            </a:r>
          </a:p>
          <a:p>
            <a:pPr marL="342900" indent="-342900">
              <a:buAutoNum type="arabicPeriod"/>
            </a:pPr>
            <a:r>
              <a:rPr lang="pl-PL" dirty="0"/>
              <a:t>Następnie opcja </a:t>
            </a:r>
            <a:r>
              <a:rPr lang="pl-PL" dirty="0">
                <a:sym typeface="Wingdings" panose="05000000000000000000" pitchFamily="2" charset="2"/>
              </a:rPr>
              <a:t> </a:t>
            </a:r>
            <a:r>
              <a:rPr lang="pl-PL" b="1" dirty="0">
                <a:sym typeface="Wingdings" panose="05000000000000000000" pitchFamily="2" charset="2"/>
              </a:rPr>
              <a:t>Utwórz tylko połączenie</a:t>
            </a:r>
          </a:p>
          <a:p>
            <a:pPr marL="342900" indent="-342900">
              <a:buAutoNum type="arabicPeriod"/>
            </a:pPr>
            <a:r>
              <a:rPr lang="pl-PL" dirty="0">
                <a:sym typeface="Wingdings" panose="05000000000000000000" pitchFamily="2" charset="2"/>
              </a:rPr>
              <a:t>… i masz </a:t>
            </a:r>
            <a:r>
              <a:rPr lang="pl-PL" dirty="0" err="1">
                <a:sym typeface="Wingdings" panose="05000000000000000000" pitchFamily="2" charset="2"/>
              </a:rPr>
              <a:t>połęczenie</a:t>
            </a:r>
            <a:r>
              <a:rPr lang="pl-PL" dirty="0">
                <a:sym typeface="Wingdings" panose="05000000000000000000" pitchFamily="2" charset="2"/>
              </a:rPr>
              <a:t> do pliku  </a:t>
            </a:r>
            <a:r>
              <a:rPr lang="pl-PL" b="1" dirty="0">
                <a:sym typeface="Wingdings" panose="05000000000000000000" pitchFamily="2" charset="2"/>
              </a:rPr>
              <a:t>Dane/ Zapytania i Połączenia</a:t>
            </a:r>
          </a:p>
          <a:p>
            <a:pPr marL="342900" indent="-342900">
              <a:buAutoNum type="arabicPeriod"/>
            </a:pPr>
            <a:r>
              <a:rPr lang="pl-PL" dirty="0">
                <a:sym typeface="Wingdings" panose="05000000000000000000" pitchFamily="2" charset="2"/>
              </a:rPr>
              <a:t>Utwórz komórkę =PY( i </a:t>
            </a:r>
            <a:r>
              <a:rPr lang="pl-PL" dirty="0" err="1">
                <a:sym typeface="Wingdings" panose="05000000000000000000" pitchFamily="2" charset="2"/>
              </a:rPr>
              <a:t>wpisa</a:t>
            </a:r>
            <a:r>
              <a:rPr lang="pl-PL" dirty="0">
                <a:sym typeface="Wingdings" panose="05000000000000000000" pitchFamily="2" charset="2"/>
              </a:rPr>
              <a:t> odwołanie </a:t>
            </a:r>
            <a:r>
              <a:rPr lang="pl-PL" b="1" dirty="0">
                <a:sym typeface="Wingdings" panose="05000000000000000000" pitchFamily="2" charset="2"/>
              </a:rPr>
              <a:t>xl(” </a:t>
            </a:r>
            <a:r>
              <a:rPr lang="pl-PL" dirty="0">
                <a:sym typeface="Wingdings" panose="05000000000000000000" pitchFamily="2" charset="2"/>
              </a:rPr>
              <a:t>– wtedy zobaczysz podpowiedź z nazwą połączenia</a:t>
            </a:r>
          </a:p>
          <a:p>
            <a:pPr marL="342900" indent="-342900">
              <a:buAutoNum type="arabicPeriod"/>
            </a:pPr>
            <a:r>
              <a:rPr lang="pl-PL" dirty="0">
                <a:sym typeface="Wingdings" panose="05000000000000000000" pitchFamily="2" charset="2"/>
              </a:rPr>
              <a:t>Zatwierdź i masz dane z pliku zewnętrznego w </a:t>
            </a:r>
            <a:r>
              <a:rPr lang="pl-PL" dirty="0" err="1">
                <a:sym typeface="Wingdings" panose="05000000000000000000" pitchFamily="2" charset="2"/>
              </a:rPr>
              <a:t>excelu</a:t>
            </a:r>
            <a:r>
              <a:rPr lang="pl-PL" dirty="0">
                <a:sym typeface="Wingdings" panose="05000000000000000000" pitchFamily="2" charset="2"/>
              </a:rPr>
              <a:t> w postaci </a:t>
            </a:r>
            <a:r>
              <a:rPr lang="pl-PL" dirty="0" err="1">
                <a:sym typeface="Wingdings" panose="05000000000000000000" pitchFamily="2" charset="2"/>
              </a:rPr>
              <a:t>DataFrame</a:t>
            </a: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sp>
        <p:nvSpPr>
          <p:cNvPr id="12" name="Symbol zastępczy zawartości 1">
            <a:extLst>
              <a:ext uri="{FF2B5EF4-FFF2-40B4-BE49-F238E27FC236}">
                <a16:creationId xmlns:a16="http://schemas.microsoft.com/office/drawing/2014/main" id="{19F43812-BE20-DEC8-EBD0-237763F88173}"/>
              </a:ext>
            </a:extLst>
          </p:cNvPr>
          <p:cNvSpPr txBox="1">
            <a:spLocks/>
          </p:cNvSpPr>
          <p:nvPr/>
        </p:nvSpPr>
        <p:spPr>
          <a:xfrm>
            <a:off x="5715179" y="718268"/>
            <a:ext cx="5355520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sp>
        <p:nvSpPr>
          <p:cNvPr id="19" name="Numer slajdu — symbol zastępczy 5">
            <a:extLst>
              <a:ext uri="{FF2B5EF4-FFF2-40B4-BE49-F238E27FC236}">
                <a16:creationId xmlns:a16="http://schemas.microsoft.com/office/drawing/2014/main" id="{BED218BC-9BDE-2FC4-3AA6-717C535C27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21</a:t>
            </a:fld>
            <a:endParaRPr lang="pl-PL" dirty="0"/>
          </a:p>
        </p:txBody>
      </p:sp>
      <p:pic>
        <p:nvPicPr>
          <p:cNvPr id="6" name="Obraz 5" descr="Obraz zawierający tekst, zrzut ekranu, oprogramowanie, numer&#10;&#10;Zawartość wygenerowana przez AI może być niepoprawna.">
            <a:extLst>
              <a:ext uri="{FF2B5EF4-FFF2-40B4-BE49-F238E27FC236}">
                <a16:creationId xmlns:a16="http://schemas.microsoft.com/office/drawing/2014/main" id="{A74103DA-8F53-1B0B-1B6C-8E7A72219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90" y="2605826"/>
            <a:ext cx="1743802" cy="1568875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79C35A33-48C0-6EB0-1236-43997FD0F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189" y="2562896"/>
            <a:ext cx="3568161" cy="2748106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F5290008-DFAF-6107-0897-9CF2BB9D1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6155" y="2670220"/>
            <a:ext cx="1922144" cy="1609859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B890D3DA-FD10-D801-6770-C56FA5FACF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9275" y="2605826"/>
            <a:ext cx="4339541" cy="1323746"/>
          </a:xfrm>
          <a:prstGeom prst="rect">
            <a:avLst/>
          </a:prstGeom>
        </p:spPr>
      </p:pic>
      <p:pic>
        <p:nvPicPr>
          <p:cNvPr id="14" name="Obraz 13">
            <a:extLst>
              <a:ext uri="{FF2B5EF4-FFF2-40B4-BE49-F238E27FC236}">
                <a16:creationId xmlns:a16="http://schemas.microsoft.com/office/drawing/2014/main" id="{1C0CCBB3-613F-F9CF-4F4C-BBF47282CB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9961" y="5306090"/>
            <a:ext cx="1432386" cy="1537772"/>
          </a:xfrm>
          <a:prstGeom prst="rect">
            <a:avLst/>
          </a:prstGeom>
        </p:spPr>
      </p:pic>
      <p:pic>
        <p:nvPicPr>
          <p:cNvPr id="18" name="Obraz 17" descr="Obraz zawierający tekst, zrzut ekranu, linia, oprogramowanie&#10;&#10;Zawartość wygenerowana przez AI może być niepoprawna.">
            <a:extLst>
              <a:ext uri="{FF2B5EF4-FFF2-40B4-BE49-F238E27FC236}">
                <a16:creationId xmlns:a16="http://schemas.microsoft.com/office/drawing/2014/main" id="{DC091B2C-1A1F-7827-A0A5-47647C9A49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3038" y="5311002"/>
            <a:ext cx="5009882" cy="1504411"/>
          </a:xfrm>
          <a:prstGeom prst="rect">
            <a:avLst/>
          </a:prstGeom>
        </p:spPr>
      </p:pic>
      <p:sp>
        <p:nvSpPr>
          <p:cNvPr id="20" name="pole tekstowe 19">
            <a:extLst>
              <a:ext uri="{FF2B5EF4-FFF2-40B4-BE49-F238E27FC236}">
                <a16:creationId xmlns:a16="http://schemas.microsoft.com/office/drawing/2014/main" id="{9F83589D-5B45-4116-ABFB-2CC30C3BE7E6}"/>
              </a:ext>
            </a:extLst>
          </p:cNvPr>
          <p:cNvSpPr txBox="1"/>
          <p:nvPr/>
        </p:nvSpPr>
        <p:spPr>
          <a:xfrm>
            <a:off x="-95704" y="2515673"/>
            <a:ext cx="403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>
                <a:solidFill>
                  <a:srgbClr val="FF0000"/>
                </a:solidFill>
              </a:rPr>
              <a:t>1.</a:t>
            </a:r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16E195EB-29C0-0EC4-0FE7-26D2FC6038FA}"/>
              </a:ext>
            </a:extLst>
          </p:cNvPr>
          <p:cNvSpPr txBox="1"/>
          <p:nvPr/>
        </p:nvSpPr>
        <p:spPr>
          <a:xfrm>
            <a:off x="1843780" y="2485554"/>
            <a:ext cx="403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>
                <a:solidFill>
                  <a:srgbClr val="FF0000"/>
                </a:solidFill>
              </a:rPr>
              <a:t>2.</a:t>
            </a:r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701C31E0-FC76-083B-9120-81CCFD2493AC}"/>
              </a:ext>
            </a:extLst>
          </p:cNvPr>
          <p:cNvSpPr txBox="1"/>
          <p:nvPr/>
        </p:nvSpPr>
        <p:spPr>
          <a:xfrm>
            <a:off x="5492041" y="2515673"/>
            <a:ext cx="403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>
                <a:solidFill>
                  <a:srgbClr val="FF0000"/>
                </a:solidFill>
              </a:rPr>
              <a:t>3.</a:t>
            </a:r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A3373A02-258A-5846-0C80-86E9F2DBB988}"/>
              </a:ext>
            </a:extLst>
          </p:cNvPr>
          <p:cNvSpPr txBox="1"/>
          <p:nvPr/>
        </p:nvSpPr>
        <p:spPr>
          <a:xfrm>
            <a:off x="7524393" y="2550017"/>
            <a:ext cx="403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>
                <a:solidFill>
                  <a:srgbClr val="FF0000"/>
                </a:solidFill>
              </a:rPr>
              <a:t>4.</a:t>
            </a:r>
          </a:p>
        </p:txBody>
      </p:sp>
      <p:sp>
        <p:nvSpPr>
          <p:cNvPr id="26" name="pole tekstowe 25">
            <a:extLst>
              <a:ext uri="{FF2B5EF4-FFF2-40B4-BE49-F238E27FC236}">
                <a16:creationId xmlns:a16="http://schemas.microsoft.com/office/drawing/2014/main" id="{7C6D6FEE-3598-A05C-66ED-13A3F959FCF4}"/>
              </a:ext>
            </a:extLst>
          </p:cNvPr>
          <p:cNvSpPr txBox="1"/>
          <p:nvPr/>
        </p:nvSpPr>
        <p:spPr>
          <a:xfrm>
            <a:off x="3564358" y="5203678"/>
            <a:ext cx="403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>
                <a:solidFill>
                  <a:srgbClr val="FF0000"/>
                </a:solidFill>
              </a:rPr>
              <a:t>5.</a:t>
            </a:r>
          </a:p>
        </p:txBody>
      </p: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FAD0179A-A887-E1E3-BB2C-6229C71ABF60}"/>
              </a:ext>
            </a:extLst>
          </p:cNvPr>
          <p:cNvSpPr txBox="1"/>
          <p:nvPr/>
        </p:nvSpPr>
        <p:spPr>
          <a:xfrm>
            <a:off x="5504799" y="5203678"/>
            <a:ext cx="403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>
                <a:solidFill>
                  <a:srgbClr val="FF0000"/>
                </a:solidFill>
              </a:rPr>
              <a:t>6.</a:t>
            </a:r>
          </a:p>
        </p:txBody>
      </p:sp>
    </p:spTree>
    <p:extLst>
      <p:ext uri="{BB962C8B-B14F-4D97-AF65-F5344CB8AC3E}">
        <p14:creationId xmlns:p14="http://schemas.microsoft.com/office/powerpoint/2010/main" val="14648366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B54A8-8C00-C45B-A0AF-E22B0E752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7FD627F7-A3DD-E4AB-6D25-C947CDA149E7}"/>
              </a:ext>
            </a:extLst>
          </p:cNvPr>
          <p:cNvSpPr txBox="1">
            <a:spLocks/>
          </p:cNvSpPr>
          <p:nvPr/>
        </p:nvSpPr>
        <p:spPr>
          <a:xfrm>
            <a:off x="451707" y="2680406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 dirty="0"/>
              <a:t>Szybkie oglądanie danych</a:t>
            </a:r>
          </a:p>
          <a:p>
            <a:endParaRPr lang="pl-PL" b="1" dirty="0"/>
          </a:p>
        </p:txBody>
      </p:sp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1E74EFA5-E1BA-E1A3-CA48-BAF880E544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22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0090866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648D7-7CE2-F5EE-D17C-A7C790CC7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raz 12" descr="Obraz zawierający tekst, zrzut ekranu, numer, Czcionka&#10;&#10;Zawartość wygenerowana przez AI może być niepoprawna.">
            <a:extLst>
              <a:ext uri="{FF2B5EF4-FFF2-40B4-BE49-F238E27FC236}">
                <a16:creationId xmlns:a16="http://schemas.microsoft.com/office/drawing/2014/main" id="{8241EA09-9D97-F6E7-589A-8BFC0B3AE0B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80735" y="4187452"/>
            <a:ext cx="6130321" cy="2582727"/>
          </a:xfrm>
          <a:prstGeom prst="rect">
            <a:avLst/>
          </a:prstGeom>
        </p:spPr>
      </p:pic>
      <p:pic>
        <p:nvPicPr>
          <p:cNvPr id="11" name="Obraz 10" descr="Obraz zawierający tekst, zrzut ekranu, numer, diagram&#10;&#10;Zawartość wygenerowana przez AI może być niepoprawna.">
            <a:extLst>
              <a:ext uri="{FF2B5EF4-FFF2-40B4-BE49-F238E27FC236}">
                <a16:creationId xmlns:a16="http://schemas.microsoft.com/office/drawing/2014/main" id="{0A20FC62-C206-D17E-CFCE-B87C473DC28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0191" y="511385"/>
            <a:ext cx="5251686" cy="4718115"/>
          </a:xfrm>
          <a:prstGeom prst="rect">
            <a:avLst/>
          </a:prstGeom>
        </p:spPr>
      </p:pic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97CD0E59-8918-9E93-9E0A-52F5F869DC0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9659" y="546099"/>
            <a:ext cx="8234444" cy="6292851"/>
          </a:xfrm>
        </p:spPr>
        <p:txBody>
          <a:bodyPr>
            <a:normAutofit/>
          </a:bodyPr>
          <a:lstStyle/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EBACDBC1-C39A-B191-B371-6C6BBCD66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podsumuj </a:t>
            </a:r>
            <a:r>
              <a:rPr lang="pl-PL" dirty="0" err="1"/>
              <a:t>se</a:t>
            </a:r>
            <a:r>
              <a:rPr lang="pl-PL" dirty="0"/>
              <a:t> dane</a:t>
            </a:r>
          </a:p>
        </p:txBody>
      </p:sp>
      <p:pic>
        <p:nvPicPr>
          <p:cNvPr id="5" name="Obraz 4" descr="Obraz zawierający gazeta, tekst, osoba, Ludzka twarz&#10;&#10;Zawartość wygenerowana przez AI może być niepoprawna.">
            <a:extLst>
              <a:ext uri="{FF2B5EF4-FFF2-40B4-BE49-F238E27FC236}">
                <a16:creationId xmlns:a16="http://schemas.microsoft.com/office/drawing/2014/main" id="{D21BB21C-8EC3-2130-880F-62166D4B3AD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44342"/>
            <a:ext cx="2180735" cy="3063695"/>
          </a:xfrm>
          <a:prstGeom prst="rect">
            <a:avLst/>
          </a:prstGeom>
        </p:spPr>
      </p:pic>
      <p:pic>
        <p:nvPicPr>
          <p:cNvPr id="7" name="Obraz 6" descr="Obraz zawierający tekst, zrzut ekranu, Czcionka, oprogramowanie&#10;&#10;Zawartość wygenerowana przez AI może być niepoprawna.">
            <a:extLst>
              <a:ext uri="{FF2B5EF4-FFF2-40B4-BE49-F238E27FC236}">
                <a16:creationId xmlns:a16="http://schemas.microsoft.com/office/drawing/2014/main" id="{570CFEBB-1E1B-2717-8FF0-B5B96AB2D84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7285" y="744342"/>
            <a:ext cx="4459192" cy="3251880"/>
          </a:xfrm>
          <a:prstGeom prst="rect">
            <a:avLst/>
          </a:prstGeom>
        </p:spPr>
      </p:pic>
      <p:sp>
        <p:nvSpPr>
          <p:cNvPr id="14" name="Symbol zastępczy zawartości 1">
            <a:extLst>
              <a:ext uri="{FF2B5EF4-FFF2-40B4-BE49-F238E27FC236}">
                <a16:creationId xmlns:a16="http://schemas.microsoft.com/office/drawing/2014/main" id="{74B2C225-CA35-C8AA-43BB-3A28FB4A9421}"/>
              </a:ext>
            </a:extLst>
          </p:cNvPr>
          <p:cNvSpPr txBox="1">
            <a:spLocks/>
          </p:cNvSpPr>
          <p:nvPr/>
        </p:nvSpPr>
        <p:spPr>
          <a:xfrm>
            <a:off x="2180735" y="476672"/>
            <a:ext cx="11547835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pl-PL" dirty="0"/>
              <a:t>Kilka prostych formuł – zbiór danych </a:t>
            </a:r>
            <a:r>
              <a:rPr lang="pl-PL" dirty="0" err="1"/>
              <a:t>Titanic</a:t>
            </a: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BE5C946A-215D-5821-5C70-BC4EF17E792E}"/>
              </a:ext>
            </a:extLst>
          </p:cNvPr>
          <p:cNvSpPr/>
          <p:nvPr/>
        </p:nvSpPr>
        <p:spPr>
          <a:xfrm>
            <a:off x="2180735" y="511385"/>
            <a:ext cx="4663125" cy="364135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6" name="Numer slajdu — symbol zastępczy 5">
            <a:extLst>
              <a:ext uri="{FF2B5EF4-FFF2-40B4-BE49-F238E27FC236}">
                <a16:creationId xmlns:a16="http://schemas.microsoft.com/office/drawing/2014/main" id="{F89D5768-D857-6BC3-0C47-1964B85D00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23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7543814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073C7-2999-D9BA-D53C-64E1D213E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0EBB7775-41A4-B4C7-2963-7D83C2FD7946}"/>
              </a:ext>
            </a:extLst>
          </p:cNvPr>
          <p:cNvSpPr txBox="1">
            <a:spLocks/>
          </p:cNvSpPr>
          <p:nvPr/>
        </p:nvSpPr>
        <p:spPr>
          <a:xfrm>
            <a:off x="451707" y="2680406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 dirty="0"/>
              <a:t>Malunki, rysunki</a:t>
            </a:r>
          </a:p>
          <a:p>
            <a:endParaRPr lang="pl-PL" b="1" dirty="0"/>
          </a:p>
        </p:txBody>
      </p:sp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5605FAB8-D19A-7F30-5919-1C1C76722D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24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7474414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2CFFE-8ED7-9F33-8A39-6CB2D0DB4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7EA2F0FF-51EF-F344-914C-ADBB810B9BF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9659" y="546099"/>
            <a:ext cx="5513240" cy="6292851"/>
          </a:xfrm>
        </p:spPr>
        <p:txBody>
          <a:bodyPr>
            <a:normAutofit/>
          </a:bodyPr>
          <a:lstStyle/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600" dirty="0"/>
              <a:t>Dwie biblioteki domyślnie obsługiwane przez =</a:t>
            </a:r>
            <a:r>
              <a:rPr lang="pl-PL" sz="1600" dirty="0" err="1"/>
              <a:t>Py</a:t>
            </a:r>
            <a:r>
              <a:rPr lang="pl-PL" sz="1600" dirty="0"/>
              <a:t>(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 err="1"/>
              <a:t>seaborn</a:t>
            </a:r>
            <a:r>
              <a:rPr lang="pl-PL" sz="1600" dirty="0"/>
              <a:t> as </a:t>
            </a:r>
            <a:r>
              <a:rPr lang="pl-PL" sz="1600" dirty="0" err="1"/>
              <a:t>sns</a:t>
            </a:r>
            <a:r>
              <a:rPr lang="pl-PL" sz="1600" dirty="0"/>
              <a:t> - </a:t>
            </a:r>
            <a:r>
              <a:rPr lang="pl-PL" sz="1600" dirty="0">
                <a:hlinkClick r:id="rId2"/>
              </a:rPr>
              <a:t>Tutorial</a:t>
            </a: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 err="1"/>
              <a:t>matplotlib.pyplot</a:t>
            </a:r>
            <a:r>
              <a:rPr lang="pl-PL" sz="1600" dirty="0"/>
              <a:t> as </a:t>
            </a:r>
            <a:r>
              <a:rPr lang="pl-PL" sz="1600" dirty="0" err="1"/>
              <a:t>plt</a:t>
            </a:r>
            <a:r>
              <a:rPr lang="pl-PL" sz="1600" dirty="0"/>
              <a:t> - </a:t>
            </a:r>
            <a:r>
              <a:rPr lang="pl-PL" sz="1600" dirty="0">
                <a:hlinkClick r:id="rId3"/>
              </a:rPr>
              <a:t>Tutorial</a:t>
            </a: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r>
              <a:rPr lang="pl-PL" sz="1600" dirty="0"/>
              <a:t>Dlaczego warto: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 dirty="0"/>
              <a:t>Rozbudowa biblioteka rodzajów wykresów, ale parametryzowanych w bardzo podobny sposób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 dirty="0"/>
              <a:t>Łatwość kompleksowej prezentacji – przekroje/wymiary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 dirty="0"/>
              <a:t>Liczne schematy kolorystyczne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 dirty="0"/>
              <a:t>Wejściem są dane w </a:t>
            </a:r>
            <a:r>
              <a:rPr lang="pl-PL" sz="1600" dirty="0" err="1"/>
              <a:t>dataframe</a:t>
            </a:r>
            <a:r>
              <a:rPr lang="pl-PL" sz="1600" dirty="0"/>
              <a:t>, które łatwo można odfiltrować/dostosować, bez ruszania surowych danych co w </a:t>
            </a:r>
            <a:r>
              <a:rPr lang="pl-PL" sz="1600" dirty="0" err="1"/>
              <a:t>excelu</a:t>
            </a:r>
            <a:r>
              <a:rPr lang="pl-PL" sz="1600" dirty="0"/>
              <a:t> nie jest osiągalne.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sz="1600" dirty="0"/>
          </a:p>
          <a:p>
            <a:pPr marL="0" indent="0"/>
            <a:r>
              <a:rPr lang="pl-PL" sz="1600" dirty="0"/>
              <a:t>Typy wykresów:</a:t>
            </a:r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6C4DA633-64C7-0C2C-CEEE-C66619681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… gdzie są moje kredki</a:t>
            </a:r>
          </a:p>
        </p:txBody>
      </p:sp>
      <p:pic>
        <p:nvPicPr>
          <p:cNvPr id="9" name="Obraz 8" descr="Obraz zawierający tekst, zrzut ekranu&#10;&#10;Zawartość wygenerowana przez AI może być niepoprawna.">
            <a:extLst>
              <a:ext uri="{FF2B5EF4-FFF2-40B4-BE49-F238E27FC236}">
                <a16:creationId xmlns:a16="http://schemas.microsoft.com/office/drawing/2014/main" id="{D4BA6522-D660-4B1B-A46F-1B94F164308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2715" y="683243"/>
            <a:ext cx="6029309" cy="6018562"/>
          </a:xfrm>
          <a:prstGeom prst="rect">
            <a:avLst/>
          </a:prstGeom>
        </p:spPr>
      </p:pic>
      <p:pic>
        <p:nvPicPr>
          <p:cNvPr id="11" name="Obraz 10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65FB219B-684C-065E-E50F-3A9AE4C2522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0387" y="4373472"/>
            <a:ext cx="3789576" cy="2380909"/>
          </a:xfrm>
          <a:prstGeom prst="rect">
            <a:avLst/>
          </a:prstGeom>
        </p:spPr>
      </p:pic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B5209F46-62D1-FAD7-FFF1-4BAB4124D5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25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6387965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8CA67-A5EB-B852-D438-277216905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9CFF7325-2DC3-6463-F68B-D08A5526E43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1678" y="564660"/>
            <a:ext cx="4823381" cy="2076909"/>
          </a:xfrm>
        </p:spPr>
        <p:txBody>
          <a:bodyPr>
            <a:normAutofit/>
          </a:bodyPr>
          <a:lstStyle/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600" dirty="0"/>
              <a:t>Wykres zależności na zbiorze </a:t>
            </a:r>
            <a:r>
              <a:rPr lang="pl-PL" sz="1600" dirty="0" err="1"/>
              <a:t>Tips</a:t>
            </a:r>
            <a:r>
              <a:rPr lang="pl-PL" sz="1600" dirty="0"/>
              <a:t>: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Zależność napiwku (y=</a:t>
            </a:r>
            <a:r>
              <a:rPr lang="pl-PL" sz="1600" dirty="0" err="1"/>
              <a:t>tip</a:t>
            </a:r>
            <a:r>
              <a:rPr lang="pl-PL" sz="1600" dirty="0"/>
              <a:t>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od łącznego rachunku (x=</a:t>
            </a:r>
            <a:r>
              <a:rPr lang="pl-PL" sz="1600" dirty="0" err="1"/>
              <a:t>total_bill</a:t>
            </a:r>
            <a:r>
              <a:rPr lang="pl-PL" sz="1600" dirty="0"/>
              <a:t>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w zależności od płci (</a:t>
            </a:r>
            <a:r>
              <a:rPr lang="pl-PL" sz="1600" dirty="0" err="1"/>
              <a:t>hue</a:t>
            </a:r>
            <a:r>
              <a:rPr lang="pl-PL" sz="1600" dirty="0"/>
              <a:t>=sex)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w zależności od wielkości obsługiwanej grupy (</a:t>
            </a:r>
            <a:r>
              <a:rPr lang="pl-PL" sz="1600" dirty="0" err="1"/>
              <a:t>size</a:t>
            </a:r>
            <a:r>
              <a:rPr lang="pl-PL" sz="1600" dirty="0"/>
              <a:t>=</a:t>
            </a:r>
            <a:r>
              <a:rPr lang="pl-PL" sz="1600" dirty="0" err="1"/>
              <a:t>size</a:t>
            </a:r>
            <a:r>
              <a:rPr lang="pl-PL" sz="1600" dirty="0"/>
              <a:t>)</a:t>
            </a:r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039C3087-5360-59B8-5B83-56321ADFF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narysuj </a:t>
            </a:r>
            <a:r>
              <a:rPr lang="pl-PL" dirty="0" err="1"/>
              <a:t>se</a:t>
            </a:r>
            <a:r>
              <a:rPr lang="pl-PL" dirty="0"/>
              <a:t> coś [1]</a:t>
            </a:r>
          </a:p>
        </p:txBody>
      </p:sp>
      <p:pic>
        <p:nvPicPr>
          <p:cNvPr id="5" name="Obraz 4" descr="Obraz zawierający tekst, zrzut ekranu, wyświetlacz, numer&#10;&#10;Zawartość wygenerowana przez AI może być niepoprawna.">
            <a:extLst>
              <a:ext uri="{FF2B5EF4-FFF2-40B4-BE49-F238E27FC236}">
                <a16:creationId xmlns:a16="http://schemas.microsoft.com/office/drawing/2014/main" id="{2BAFC3A5-961B-A341-328F-19C5B800F08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83245" y="548052"/>
            <a:ext cx="4061536" cy="3360264"/>
          </a:xfrm>
          <a:prstGeom prst="rect">
            <a:avLst/>
          </a:prstGeom>
        </p:spPr>
      </p:pic>
      <p:pic>
        <p:nvPicPr>
          <p:cNvPr id="7" name="Obraz 6" descr="Obraz zawierający ubrania, Ludzka twarz, rysowanie, osoba&#10;&#10;Zawartość wygenerowana przez AI może być niepoprawna.">
            <a:extLst>
              <a:ext uri="{FF2B5EF4-FFF2-40B4-BE49-F238E27FC236}">
                <a16:creationId xmlns:a16="http://schemas.microsoft.com/office/drawing/2014/main" id="{3EBAF473-7448-0B54-0627-15FD30BDAC8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56735" y="564660"/>
            <a:ext cx="2522989" cy="1520909"/>
          </a:xfrm>
          <a:prstGeom prst="rect">
            <a:avLst/>
          </a:prstGeom>
        </p:spPr>
      </p:pic>
      <p:pic>
        <p:nvPicPr>
          <p:cNvPr id="10" name="Obraz 9" descr="Obraz zawierający tekst, zrzut ekranu, diagram&#10;&#10;Zawartość wygenerowana przez AI może być niepoprawna.">
            <a:extLst>
              <a:ext uri="{FF2B5EF4-FFF2-40B4-BE49-F238E27FC236}">
                <a16:creationId xmlns:a16="http://schemas.microsoft.com/office/drawing/2014/main" id="{5B8E04E6-E5E1-15E4-8C13-188A1369E02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5422" y="3265056"/>
            <a:ext cx="4396539" cy="3573895"/>
          </a:xfrm>
          <a:prstGeom prst="rect">
            <a:avLst/>
          </a:prstGeom>
        </p:spPr>
      </p:pic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7BE3FCC0-7D03-2429-25F9-B46FCB489337}"/>
              </a:ext>
            </a:extLst>
          </p:cNvPr>
          <p:cNvSpPr txBox="1">
            <a:spLocks/>
          </p:cNvSpPr>
          <p:nvPr/>
        </p:nvSpPr>
        <p:spPr>
          <a:xfrm>
            <a:off x="191678" y="2367828"/>
            <a:ext cx="7102186" cy="20769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r>
              <a:rPr lang="pl-PL" sz="1600" dirty="0"/>
              <a:t>Jak uruchomisz kod </a:t>
            </a:r>
            <a:r>
              <a:rPr lang="pl-PL" sz="1600" dirty="0" err="1"/>
              <a:t>Ctrl+Enter</a:t>
            </a:r>
            <a:r>
              <a:rPr lang="pl-PL" sz="1600" dirty="0"/>
              <a:t>, skonwertuj na wartości </a:t>
            </a:r>
            <a:r>
              <a:rPr lang="pl-PL" sz="1600" dirty="0" err="1"/>
              <a:t>excela</a:t>
            </a:r>
            <a:r>
              <a:rPr lang="pl-PL" sz="1600" dirty="0"/>
              <a:t> i ikonką obrazu skopiuj wykres do arkusza i oto i on. Wykres będzie się aktualizował, jeżeli zmieniasz parametry, bo jest linkowany z komórką =PY(.</a:t>
            </a:r>
            <a:endParaRPr lang="pl-PL" dirty="0"/>
          </a:p>
        </p:txBody>
      </p:sp>
      <p:sp>
        <p:nvSpPr>
          <p:cNvPr id="13" name="Numer slajdu — symbol zastępczy 5">
            <a:extLst>
              <a:ext uri="{FF2B5EF4-FFF2-40B4-BE49-F238E27FC236}">
                <a16:creationId xmlns:a16="http://schemas.microsoft.com/office/drawing/2014/main" id="{52E5C3A1-A437-DE6C-195F-9D5939EDA2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26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3086126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304B7-B09E-4DC8-5C05-8C40990D5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8FC0EFE9-65F3-60A9-DAC9-B5D5923CFA5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4097" y="2091582"/>
            <a:ext cx="5822623" cy="2076909"/>
          </a:xfrm>
        </p:spPr>
        <p:txBody>
          <a:bodyPr>
            <a:normAutofit/>
          </a:bodyPr>
          <a:lstStyle/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600" dirty="0"/>
              <a:t>Wykres zależności na zbiorze </a:t>
            </a:r>
            <a:r>
              <a:rPr lang="pl-PL" sz="1600" dirty="0" err="1"/>
              <a:t>Tips</a:t>
            </a:r>
            <a:r>
              <a:rPr lang="pl-PL" sz="1600" dirty="0"/>
              <a:t>: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Zależność napiwku (y=</a:t>
            </a:r>
            <a:r>
              <a:rPr lang="pl-PL" sz="1600" dirty="0" err="1"/>
              <a:t>tip</a:t>
            </a:r>
            <a:r>
              <a:rPr lang="pl-PL" sz="1600" dirty="0"/>
              <a:t>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od łącznego rachunku (x=</a:t>
            </a:r>
            <a:r>
              <a:rPr lang="pl-PL" sz="1600" dirty="0" err="1"/>
              <a:t>total_bill</a:t>
            </a:r>
            <a:r>
              <a:rPr lang="pl-PL" sz="1600" dirty="0"/>
              <a:t>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….ale w podziale po fladze płci i palacza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600" dirty="0">
                <a:solidFill>
                  <a:srgbClr val="FF0000"/>
                </a:solidFill>
              </a:rPr>
              <a:t>…. ilu komórek tradycyjnego </a:t>
            </a:r>
            <a:r>
              <a:rPr lang="pl-PL" sz="1600" dirty="0" err="1">
                <a:solidFill>
                  <a:srgbClr val="FF0000"/>
                </a:solidFill>
              </a:rPr>
              <a:t>excela</a:t>
            </a:r>
            <a:r>
              <a:rPr lang="pl-PL" sz="1600" dirty="0">
                <a:solidFill>
                  <a:srgbClr val="FF0000"/>
                </a:solidFill>
              </a:rPr>
              <a:t> do tego potrzebujesz?</a:t>
            </a:r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FE33F413-44AB-DA44-C04C-2CC1AAF95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narysuj </a:t>
            </a:r>
            <a:r>
              <a:rPr lang="pl-PL" dirty="0" err="1"/>
              <a:t>se</a:t>
            </a:r>
            <a:r>
              <a:rPr lang="pl-PL" dirty="0"/>
              <a:t> coś [2]</a:t>
            </a:r>
          </a:p>
        </p:txBody>
      </p:sp>
      <p:pic>
        <p:nvPicPr>
          <p:cNvPr id="7" name="Obraz 6" descr="Obraz zawierający ubrania, Ludzka twarz, rysowanie, osoba&#10;&#10;Zawartość wygenerowana przez AI może być niepoprawna.">
            <a:extLst>
              <a:ext uri="{FF2B5EF4-FFF2-40B4-BE49-F238E27FC236}">
                <a16:creationId xmlns:a16="http://schemas.microsoft.com/office/drawing/2014/main" id="{2D8F315A-A60E-FC9D-6F3E-EBAE9570817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9451" y="482498"/>
            <a:ext cx="2522989" cy="1520909"/>
          </a:xfrm>
          <a:prstGeom prst="rect">
            <a:avLst/>
          </a:prstGeom>
        </p:spPr>
      </p:pic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0452AED6-CEBA-ABB0-5F51-CDAE212793EB}"/>
              </a:ext>
            </a:extLst>
          </p:cNvPr>
          <p:cNvSpPr txBox="1">
            <a:spLocks/>
          </p:cNvSpPr>
          <p:nvPr/>
        </p:nvSpPr>
        <p:spPr>
          <a:xfrm>
            <a:off x="191678" y="2390545"/>
            <a:ext cx="7102186" cy="20769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</p:txBody>
      </p:sp>
      <p:pic>
        <p:nvPicPr>
          <p:cNvPr id="12" name="Obraz 11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B41C471C-CDC3-70E4-E780-5CF2D88592D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9451" y="3680923"/>
            <a:ext cx="2704214" cy="1393287"/>
          </a:xfrm>
          <a:prstGeom prst="rect">
            <a:avLst/>
          </a:prstGeom>
        </p:spPr>
      </p:pic>
      <p:pic>
        <p:nvPicPr>
          <p:cNvPr id="6" name="Obraz 5" descr="Obraz zawierający tekst, zrzut ekranu, linia, diagram&#10;&#10;Zawartość wygenerowana przez AI może być niepoprawna.">
            <a:extLst>
              <a:ext uri="{FF2B5EF4-FFF2-40B4-BE49-F238E27FC236}">
                <a16:creationId xmlns:a16="http://schemas.microsoft.com/office/drawing/2014/main" id="{0CCBE300-39FF-6CCD-1D4D-0E3E2DBEA8C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6665" y="563552"/>
            <a:ext cx="6085331" cy="6044763"/>
          </a:xfrm>
          <a:prstGeom prst="rect">
            <a:avLst/>
          </a:prstGeom>
        </p:spPr>
      </p:pic>
      <p:sp>
        <p:nvSpPr>
          <p:cNvPr id="13" name="Numer slajdu — symbol zastępczy 5">
            <a:extLst>
              <a:ext uri="{FF2B5EF4-FFF2-40B4-BE49-F238E27FC236}">
                <a16:creationId xmlns:a16="http://schemas.microsoft.com/office/drawing/2014/main" id="{A9027A03-FC33-AA6B-567D-FD8E38C8B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27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4127665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C95F5-F294-0AF4-4A53-FE80DE092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6006EDB5-AB6A-096B-029B-A9A46FEB1C5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4097" y="2091582"/>
            <a:ext cx="5822623" cy="2076909"/>
          </a:xfrm>
        </p:spPr>
        <p:txBody>
          <a:bodyPr>
            <a:normAutofit/>
          </a:bodyPr>
          <a:lstStyle/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600" dirty="0"/>
              <a:t>Wykres zależności na zbiorze </a:t>
            </a:r>
            <a:r>
              <a:rPr lang="pl-PL" sz="1600" dirty="0" err="1"/>
              <a:t>Tips</a:t>
            </a:r>
            <a:r>
              <a:rPr lang="pl-PL" sz="1600" dirty="0"/>
              <a:t>: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Zależność napiwku (y=</a:t>
            </a:r>
            <a:r>
              <a:rPr lang="pl-PL" sz="1600" dirty="0" err="1"/>
              <a:t>tip</a:t>
            </a:r>
            <a:r>
              <a:rPr lang="pl-PL" sz="1600" dirty="0"/>
              <a:t>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od łącznego rachunku (x=</a:t>
            </a:r>
            <a:r>
              <a:rPr lang="pl-PL" sz="1600" dirty="0" err="1"/>
              <a:t>total_bill</a:t>
            </a:r>
            <a:r>
              <a:rPr lang="pl-PL" sz="1600" dirty="0"/>
              <a:t>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….ale w podziale po fladze palacza i rodzaju posiłku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z parametryzowanymi liniami median</a:t>
            </a:r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0290E32F-8F02-F6A5-7056-DB6C466EF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narysuj </a:t>
            </a:r>
            <a:r>
              <a:rPr lang="pl-PL" dirty="0" err="1"/>
              <a:t>se</a:t>
            </a:r>
            <a:r>
              <a:rPr lang="pl-PL" dirty="0"/>
              <a:t> coś [3]</a:t>
            </a:r>
          </a:p>
        </p:txBody>
      </p:sp>
      <p:pic>
        <p:nvPicPr>
          <p:cNvPr id="7" name="Obraz 6" descr="Obraz zawierający ubrania, Ludzka twarz, rysowanie, osoba&#10;&#10;Zawartość wygenerowana przez AI może być niepoprawna.">
            <a:extLst>
              <a:ext uri="{FF2B5EF4-FFF2-40B4-BE49-F238E27FC236}">
                <a16:creationId xmlns:a16="http://schemas.microsoft.com/office/drawing/2014/main" id="{498B678D-2918-5EE8-7E77-D1AC268477C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9451" y="482498"/>
            <a:ext cx="2522989" cy="1520909"/>
          </a:xfrm>
          <a:prstGeom prst="rect">
            <a:avLst/>
          </a:prstGeom>
        </p:spPr>
      </p:pic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34D28871-8569-BE43-EB44-D992426FA94C}"/>
              </a:ext>
            </a:extLst>
          </p:cNvPr>
          <p:cNvSpPr txBox="1">
            <a:spLocks/>
          </p:cNvSpPr>
          <p:nvPr/>
        </p:nvSpPr>
        <p:spPr>
          <a:xfrm>
            <a:off x="191678" y="2390545"/>
            <a:ext cx="7102186" cy="20769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</p:txBody>
      </p:sp>
      <p:pic>
        <p:nvPicPr>
          <p:cNvPr id="4" name="Obraz 3" descr="Obraz wygenerowany przez język Python">
            <a:extLst>
              <a:ext uri="{FF2B5EF4-FFF2-40B4-BE49-F238E27FC236}">
                <a16:creationId xmlns:a16="http://schemas.microsoft.com/office/drawing/2014/main" id="{82804BAF-2983-6D1E-6945-FAF943ECAD69}"/>
              </a:ext>
            </a:extLst>
          </p:cNvPr>
          <p:cNvPicPr>
            <a:picLocks noChangeAspect="1"/>
            <a:extLst>
              <a:ext uri="{53484399-7A02-498B-ADA4-41CD10E50FAC}">
                <aif:imageFormula xmlns="" xmlns:aif="http://schemas.microsoft.com/office/drawing/2022/imageformula" formula="sns_plots!B290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5879080" y="656489"/>
            <a:ext cx="5822623" cy="5822623"/>
          </a:xfrm>
          <a:prstGeom prst="rect">
            <a:avLst/>
          </a:prstGeom>
        </p:spPr>
      </p:pic>
      <p:pic>
        <p:nvPicPr>
          <p:cNvPr id="9" name="Obraz 8" descr="Obraz zawierający tekst, Czcionka, linia, zrzut ekranu&#10;&#10;Zawartość wygenerowana przez AI może być niepoprawna.">
            <a:extLst>
              <a:ext uri="{FF2B5EF4-FFF2-40B4-BE49-F238E27FC236}">
                <a16:creationId xmlns:a16="http://schemas.microsoft.com/office/drawing/2014/main" id="{7D8F0C09-FD98-E72F-D92A-65A27DAA0D7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770449"/>
            <a:ext cx="5821365" cy="1042173"/>
          </a:xfrm>
          <a:prstGeom prst="rect">
            <a:avLst/>
          </a:prstGeom>
        </p:spPr>
      </p:pic>
      <p:sp>
        <p:nvSpPr>
          <p:cNvPr id="10" name="Numer slajdu — symbol zastępczy 5">
            <a:extLst>
              <a:ext uri="{FF2B5EF4-FFF2-40B4-BE49-F238E27FC236}">
                <a16:creationId xmlns:a16="http://schemas.microsoft.com/office/drawing/2014/main" id="{FF57E340-D52F-834A-EC72-2112C4922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28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1909860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563A2-E776-37F1-05D2-3EC976699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1001098C-504E-4C19-C265-49C550B7B05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4097" y="2091582"/>
            <a:ext cx="5822623" cy="4482317"/>
          </a:xfrm>
        </p:spPr>
        <p:txBody>
          <a:bodyPr>
            <a:normAutofit/>
          </a:bodyPr>
          <a:lstStyle/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600" dirty="0"/>
              <a:t>Zbiór pingwiny: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rozkład gęstości wysokości/grubości </a:t>
            </a:r>
            <a:r>
              <a:rPr lang="pl-PL" sz="1600" dirty="0" err="1"/>
              <a:t>dzioba</a:t>
            </a:r>
            <a:r>
              <a:rPr lang="pl-PL" sz="1600" dirty="0"/>
              <a:t> (</a:t>
            </a:r>
            <a:r>
              <a:rPr lang="pl-PL" sz="1600" dirty="0" err="1"/>
              <a:t>bill_depth</a:t>
            </a:r>
            <a:r>
              <a:rPr lang="pl-PL" sz="1600" dirty="0"/>
              <a:t>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w zależności od gatunku (</a:t>
            </a:r>
            <a:r>
              <a:rPr lang="pl-PL" sz="1600" dirty="0" err="1"/>
              <a:t>spiecies</a:t>
            </a:r>
            <a:r>
              <a:rPr lang="pl-PL" sz="1600" dirty="0"/>
              <a:t>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Dwuwymiarowa gęstość grubości od długości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EDFC8BB7-2AF6-584E-3DF7-68B155F39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narysuj </a:t>
            </a:r>
            <a:r>
              <a:rPr lang="pl-PL" dirty="0" err="1"/>
              <a:t>se</a:t>
            </a:r>
            <a:r>
              <a:rPr lang="pl-PL" dirty="0"/>
              <a:t> coś [4]</a:t>
            </a:r>
          </a:p>
        </p:txBody>
      </p:sp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D6D76A84-E107-EDF3-8564-649F88252108}"/>
              </a:ext>
            </a:extLst>
          </p:cNvPr>
          <p:cNvSpPr txBox="1">
            <a:spLocks/>
          </p:cNvSpPr>
          <p:nvPr/>
        </p:nvSpPr>
        <p:spPr>
          <a:xfrm>
            <a:off x="191678" y="2390545"/>
            <a:ext cx="7102186" cy="20769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</p:txBody>
      </p:sp>
      <p:pic>
        <p:nvPicPr>
          <p:cNvPr id="5" name="Obraz 4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EC3D4A6B-3E3E-4693-F66C-338DDEA1DDC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253" y="3003012"/>
            <a:ext cx="3196315" cy="1342745"/>
          </a:xfrm>
          <a:prstGeom prst="rect">
            <a:avLst/>
          </a:prstGeom>
        </p:spPr>
      </p:pic>
      <p:pic>
        <p:nvPicPr>
          <p:cNvPr id="10" name="Obraz 9" descr="Obraz zawierający ptak wodny, ptak, pingwin, tekst&#10;&#10;Zawartość wygenerowana przez AI może być niepoprawna.">
            <a:extLst>
              <a:ext uri="{FF2B5EF4-FFF2-40B4-BE49-F238E27FC236}">
                <a16:creationId xmlns:a16="http://schemas.microsoft.com/office/drawing/2014/main" id="{9BDEF547-16F4-DAA5-78EC-70662F13320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327" y="606720"/>
            <a:ext cx="3031761" cy="1384294"/>
          </a:xfrm>
          <a:prstGeom prst="rect">
            <a:avLst/>
          </a:prstGeom>
        </p:spPr>
      </p:pic>
      <p:pic>
        <p:nvPicPr>
          <p:cNvPr id="13" name="Obraz 12" descr="Obraz zawierający diagram&#10;&#10;Zawartość wygenerowana przez AI może być niepoprawna.">
            <a:extLst>
              <a:ext uri="{FF2B5EF4-FFF2-40B4-BE49-F238E27FC236}">
                <a16:creationId xmlns:a16="http://schemas.microsoft.com/office/drawing/2014/main" id="{99D8DB29-90DC-BDEB-B3B6-08430069B9D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46720" y="514634"/>
            <a:ext cx="4074892" cy="3135536"/>
          </a:xfrm>
          <a:prstGeom prst="rect">
            <a:avLst/>
          </a:prstGeom>
        </p:spPr>
      </p:pic>
      <p:pic>
        <p:nvPicPr>
          <p:cNvPr id="15" name="Obraz 14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BC73742C-9118-31C8-F4A2-F72300C1EB9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2169" y="4952620"/>
            <a:ext cx="2471321" cy="1407993"/>
          </a:xfrm>
          <a:prstGeom prst="rect">
            <a:avLst/>
          </a:prstGeom>
        </p:spPr>
      </p:pic>
      <p:pic>
        <p:nvPicPr>
          <p:cNvPr id="16" name="Obraz 15" descr="Obraz wygenerowany przez język Python">
            <a:extLst>
              <a:ext uri="{FF2B5EF4-FFF2-40B4-BE49-F238E27FC236}">
                <a16:creationId xmlns:a16="http://schemas.microsoft.com/office/drawing/2014/main" id="{5FBDF029-0BD2-19BE-F107-7AC1E8F689C9}"/>
              </a:ext>
            </a:extLst>
          </p:cNvPr>
          <p:cNvPicPr>
            <a:picLocks noChangeAspect="1"/>
            <a:extLst>
              <a:ext uri="{53484399-7A02-498B-ADA4-41CD10E50FAC}">
                <aif:imageFormula xmlns="" xmlns:aif="http://schemas.microsoft.com/office/drawing/2022/imageformula" formula="sns_plots!B107"/>
              </a:ext>
            </a:extLst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63280" y="3722464"/>
            <a:ext cx="3943465" cy="3135536"/>
          </a:xfrm>
          <a:prstGeom prst="rect">
            <a:avLst/>
          </a:prstGeom>
        </p:spPr>
      </p:pic>
      <p:sp>
        <p:nvSpPr>
          <p:cNvPr id="19" name="Numer slajdu — symbol zastępczy 5">
            <a:extLst>
              <a:ext uri="{FF2B5EF4-FFF2-40B4-BE49-F238E27FC236}">
                <a16:creationId xmlns:a16="http://schemas.microsoft.com/office/drawing/2014/main" id="{43E2AB0B-17AB-8398-DAC8-23A58815B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29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0586034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AECDC-9BE2-A13E-2D53-5E11AE275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A02FF6D9-B407-A051-6411-3710750CCC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4097" y="2091582"/>
            <a:ext cx="4555293" cy="4482317"/>
          </a:xfrm>
        </p:spPr>
        <p:txBody>
          <a:bodyPr>
            <a:normAutofit/>
          </a:bodyPr>
          <a:lstStyle/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600" dirty="0"/>
              <a:t>Zbiór pingwiny: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rozkład gęstości wysokości/grubości </a:t>
            </a:r>
            <a:r>
              <a:rPr lang="pl-PL" sz="1600" dirty="0" err="1"/>
              <a:t>dzioba</a:t>
            </a:r>
            <a:r>
              <a:rPr lang="pl-PL" sz="1600" dirty="0"/>
              <a:t> (</a:t>
            </a:r>
            <a:r>
              <a:rPr lang="pl-PL" sz="1600" dirty="0" err="1"/>
              <a:t>bill_depth</a:t>
            </a:r>
            <a:r>
              <a:rPr lang="pl-PL" sz="1600" dirty="0"/>
              <a:t>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w zależności od gatunku (</a:t>
            </a:r>
            <a:r>
              <a:rPr lang="pl-PL" sz="1600" dirty="0" err="1"/>
              <a:t>spiecies</a:t>
            </a:r>
            <a:r>
              <a:rPr lang="pl-PL" sz="1600" dirty="0"/>
              <a:t>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od wyspy występowania (Island)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FD4A5E84-E2C8-2CFF-8261-841343A2A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narysuj </a:t>
            </a:r>
            <a:r>
              <a:rPr lang="pl-PL" dirty="0" err="1"/>
              <a:t>se</a:t>
            </a:r>
            <a:r>
              <a:rPr lang="pl-PL" dirty="0"/>
              <a:t> coś [5]</a:t>
            </a:r>
          </a:p>
        </p:txBody>
      </p:sp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8FB1C46F-CF92-45B4-AD33-C1BEC78E861A}"/>
              </a:ext>
            </a:extLst>
          </p:cNvPr>
          <p:cNvSpPr txBox="1">
            <a:spLocks/>
          </p:cNvSpPr>
          <p:nvPr/>
        </p:nvSpPr>
        <p:spPr>
          <a:xfrm>
            <a:off x="191678" y="2390545"/>
            <a:ext cx="7102186" cy="20769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</p:txBody>
      </p:sp>
      <p:pic>
        <p:nvPicPr>
          <p:cNvPr id="10" name="Obraz 9" descr="Obraz zawierający ptak wodny, ptak, pingwin, tekst&#10;&#10;Zawartość wygenerowana przez AI może być niepoprawna.">
            <a:extLst>
              <a:ext uri="{FF2B5EF4-FFF2-40B4-BE49-F238E27FC236}">
                <a16:creationId xmlns:a16="http://schemas.microsoft.com/office/drawing/2014/main" id="{4F897BC9-4465-5827-4376-BC77250FD0A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327" y="606720"/>
            <a:ext cx="3031761" cy="1384294"/>
          </a:xfrm>
          <a:prstGeom prst="rect">
            <a:avLst/>
          </a:prstGeom>
        </p:spPr>
      </p:pic>
      <p:pic>
        <p:nvPicPr>
          <p:cNvPr id="18" name="Obraz 17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BEBCBB11-A73F-B573-3B07-D32611C4213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882" y="3888824"/>
            <a:ext cx="2682648" cy="1565980"/>
          </a:xfrm>
          <a:prstGeom prst="rect">
            <a:avLst/>
          </a:prstGeom>
        </p:spPr>
      </p:pic>
      <p:pic>
        <p:nvPicPr>
          <p:cNvPr id="6" name="Obraz 5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215B1A8F-20F7-4B1E-2000-3EFC9310C17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9023" y="5555372"/>
            <a:ext cx="2844367" cy="1119095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47EB504E-B7E3-F8EB-4520-6479C384509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4547" y="514634"/>
            <a:ext cx="7436807" cy="3278815"/>
          </a:xfrm>
          <a:prstGeom prst="rect">
            <a:avLst/>
          </a:prstGeom>
        </p:spPr>
      </p:pic>
      <p:pic>
        <p:nvPicPr>
          <p:cNvPr id="9" name="Obraz 8" descr="Obraz wygenerowany przez język Python">
            <a:extLst>
              <a:ext uri="{FF2B5EF4-FFF2-40B4-BE49-F238E27FC236}">
                <a16:creationId xmlns:a16="http://schemas.microsoft.com/office/drawing/2014/main" id="{C82C1DCD-B037-F224-1DFE-AC30DCEB1A34}"/>
              </a:ext>
            </a:extLst>
          </p:cNvPr>
          <p:cNvPicPr>
            <a:picLocks noChangeAspect="1"/>
            <a:extLst>
              <a:ext uri="{53484399-7A02-498B-ADA4-41CD10E50FAC}">
                <aif:imageFormula xmlns="" xmlns:aif="http://schemas.microsoft.com/office/drawing/2022/imageformula" formula="sns_plots!B154"/>
              </a:ext>
            </a:extLst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00266" y="3729021"/>
            <a:ext cx="3755106" cy="3066670"/>
          </a:xfrm>
          <a:prstGeom prst="rect">
            <a:avLst/>
          </a:prstGeom>
        </p:spPr>
      </p:pic>
      <p:sp>
        <p:nvSpPr>
          <p:cNvPr id="14" name="Numer slajdu — symbol zastępczy 5">
            <a:extLst>
              <a:ext uri="{FF2B5EF4-FFF2-40B4-BE49-F238E27FC236}">
                <a16:creationId xmlns:a16="http://schemas.microsoft.com/office/drawing/2014/main" id="{7BCFB809-5206-45ED-97DB-791EA06139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30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5895703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85F6B-AFEC-07E0-8B4B-B85BD9889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7BAAA980-34DB-4E93-95B2-C24030D9E81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4097" y="2091582"/>
            <a:ext cx="4555293" cy="4482317"/>
          </a:xfrm>
        </p:spPr>
        <p:txBody>
          <a:bodyPr>
            <a:normAutofit/>
          </a:bodyPr>
          <a:lstStyle/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600" dirty="0"/>
              <a:t>Zbiór pingwiny – wykresy łączone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DF6B83A6-F03B-9C8A-83A0-6B3F6826E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narysuj </a:t>
            </a:r>
            <a:r>
              <a:rPr lang="pl-PL" dirty="0" err="1"/>
              <a:t>se</a:t>
            </a:r>
            <a:r>
              <a:rPr lang="pl-PL" dirty="0"/>
              <a:t> coś [6]</a:t>
            </a:r>
          </a:p>
        </p:txBody>
      </p:sp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D0BD10E1-5555-C5E4-02B7-272F6C914CF8}"/>
              </a:ext>
            </a:extLst>
          </p:cNvPr>
          <p:cNvSpPr txBox="1">
            <a:spLocks/>
          </p:cNvSpPr>
          <p:nvPr/>
        </p:nvSpPr>
        <p:spPr>
          <a:xfrm>
            <a:off x="191678" y="2390545"/>
            <a:ext cx="7102186" cy="20769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</p:txBody>
      </p:sp>
      <p:pic>
        <p:nvPicPr>
          <p:cNvPr id="10" name="Obraz 9" descr="Obraz zawierający ptak wodny, ptak, pingwin, tekst&#10;&#10;Zawartość wygenerowana przez AI może być niepoprawna.">
            <a:extLst>
              <a:ext uri="{FF2B5EF4-FFF2-40B4-BE49-F238E27FC236}">
                <a16:creationId xmlns:a16="http://schemas.microsoft.com/office/drawing/2014/main" id="{A1A17791-C4A9-2CB4-5925-F7EB03AF5BC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327" y="606720"/>
            <a:ext cx="3031761" cy="1384294"/>
          </a:xfrm>
          <a:prstGeom prst="rect">
            <a:avLst/>
          </a:prstGeom>
        </p:spPr>
      </p:pic>
      <p:pic>
        <p:nvPicPr>
          <p:cNvPr id="12" name="Obraz 11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814569BA-E47B-BF1F-5AE7-7B971DB8828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327" y="2815595"/>
            <a:ext cx="2786665" cy="959244"/>
          </a:xfrm>
          <a:prstGeom prst="rect">
            <a:avLst/>
          </a:prstGeom>
        </p:spPr>
      </p:pic>
      <p:pic>
        <p:nvPicPr>
          <p:cNvPr id="4" name="Obraz 3" descr="Obraz wygenerowany przez język Python">
            <a:extLst>
              <a:ext uri="{FF2B5EF4-FFF2-40B4-BE49-F238E27FC236}">
                <a16:creationId xmlns:a16="http://schemas.microsoft.com/office/drawing/2014/main" id="{E9414365-C1EF-118A-437B-19AD3A5BF634}"/>
              </a:ext>
            </a:extLst>
          </p:cNvPr>
          <p:cNvPicPr>
            <a:picLocks noChangeAspect="1"/>
            <a:extLst>
              <a:ext uri="{53484399-7A02-498B-ADA4-41CD10E50FAC}">
                <aif:imageFormula xmlns="" xmlns:aif="http://schemas.microsoft.com/office/drawing/2022/imageformula" formula="sns_plots!B181"/>
              </a:ext>
            </a:extLst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20775" y="606720"/>
            <a:ext cx="3913104" cy="3948893"/>
          </a:xfrm>
          <a:prstGeom prst="rect">
            <a:avLst/>
          </a:prstGeom>
        </p:spPr>
      </p:pic>
      <p:pic>
        <p:nvPicPr>
          <p:cNvPr id="11" name="Obraz 10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E77FF0CF-DE96-AAA8-9FCA-EB026DD657B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327" y="4270951"/>
            <a:ext cx="2786665" cy="1000513"/>
          </a:xfrm>
          <a:prstGeom prst="rect">
            <a:avLst/>
          </a:prstGeom>
        </p:spPr>
      </p:pic>
      <p:pic>
        <p:nvPicPr>
          <p:cNvPr id="13" name="Obraz 12" descr="Obraz wygenerowany przez język Python">
            <a:extLst>
              <a:ext uri="{FF2B5EF4-FFF2-40B4-BE49-F238E27FC236}">
                <a16:creationId xmlns:a16="http://schemas.microsoft.com/office/drawing/2014/main" id="{2F79815E-791C-257D-FD01-7EC09DB213E3}"/>
              </a:ext>
            </a:extLst>
          </p:cNvPr>
          <p:cNvPicPr>
            <a:picLocks noChangeAspect="1"/>
            <a:extLst>
              <a:ext uri="{53484399-7A02-498B-ADA4-41CD10E50FAC}">
                <aif:imageFormula xmlns="" xmlns:aif="http://schemas.microsoft.com/office/drawing/2022/imageformula" formula="sns_plots!B208"/>
              </a:ext>
            </a:extLst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33879" y="2518787"/>
            <a:ext cx="4252794" cy="4291690"/>
          </a:xfrm>
          <a:prstGeom prst="rect">
            <a:avLst/>
          </a:prstGeom>
        </p:spPr>
      </p:pic>
      <p:sp>
        <p:nvSpPr>
          <p:cNvPr id="14" name="Numer slajdu — symbol zastępczy 5">
            <a:extLst>
              <a:ext uri="{FF2B5EF4-FFF2-40B4-BE49-F238E27FC236}">
                <a16:creationId xmlns:a16="http://schemas.microsoft.com/office/drawing/2014/main" id="{D478FCE6-5BF2-9514-A78B-08A500AA72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31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3041895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3614E-5FE5-BCF0-2376-EF251370B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BA30E2B9-1AD3-5808-0513-E9F8C72C08C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4097" y="2091582"/>
            <a:ext cx="4555293" cy="4482317"/>
          </a:xfrm>
        </p:spPr>
        <p:txBody>
          <a:bodyPr>
            <a:normAutofit/>
          </a:bodyPr>
          <a:lstStyle/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600" dirty="0"/>
              <a:t>Zbiór pingwiny – </a:t>
            </a:r>
            <a:r>
              <a:rPr lang="pl-PL" sz="1600" dirty="0" err="1"/>
              <a:t>pairgrid</a:t>
            </a: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1E5942F3-374E-544A-8DA3-0EB55D675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narysuj </a:t>
            </a:r>
            <a:r>
              <a:rPr lang="pl-PL" dirty="0" err="1"/>
              <a:t>se</a:t>
            </a:r>
            <a:r>
              <a:rPr lang="pl-PL" dirty="0"/>
              <a:t> coś [7]</a:t>
            </a:r>
          </a:p>
        </p:txBody>
      </p:sp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95911AD9-327C-F2F7-AD9E-8268A259976D}"/>
              </a:ext>
            </a:extLst>
          </p:cNvPr>
          <p:cNvSpPr txBox="1">
            <a:spLocks/>
          </p:cNvSpPr>
          <p:nvPr/>
        </p:nvSpPr>
        <p:spPr>
          <a:xfrm>
            <a:off x="191678" y="2390545"/>
            <a:ext cx="7102186" cy="20769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</p:txBody>
      </p:sp>
      <p:pic>
        <p:nvPicPr>
          <p:cNvPr id="10" name="Obraz 9" descr="Obraz zawierający ptak wodny, ptak, pingwin, tekst&#10;&#10;Zawartość wygenerowana przez AI może być niepoprawna.">
            <a:extLst>
              <a:ext uri="{FF2B5EF4-FFF2-40B4-BE49-F238E27FC236}">
                <a16:creationId xmlns:a16="http://schemas.microsoft.com/office/drawing/2014/main" id="{432F28F1-A1D5-5418-3EA5-13B3AEE9E01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327" y="606720"/>
            <a:ext cx="3031761" cy="1384294"/>
          </a:xfrm>
          <a:prstGeom prst="rect">
            <a:avLst/>
          </a:prstGeom>
        </p:spPr>
      </p:pic>
      <p:pic>
        <p:nvPicPr>
          <p:cNvPr id="5" name="Obraz 4" descr="Obraz wygenerowany przez język Python">
            <a:extLst>
              <a:ext uri="{FF2B5EF4-FFF2-40B4-BE49-F238E27FC236}">
                <a16:creationId xmlns:a16="http://schemas.microsoft.com/office/drawing/2014/main" id="{2362A17F-2D4E-F066-3D96-9ECE3C52AF05}"/>
              </a:ext>
            </a:extLst>
          </p:cNvPr>
          <p:cNvPicPr>
            <a:picLocks noChangeAspect="1"/>
            <a:extLst>
              <a:ext uri="{53484399-7A02-498B-ADA4-41CD10E50FAC}">
                <aif:imageFormula xmlns="" xmlns:aif="http://schemas.microsoft.com/office/drawing/2022/imageformula" formula="sns_plots!B239"/>
              </a:ext>
            </a:extLst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78907" y="548454"/>
            <a:ext cx="6336657" cy="5556944"/>
          </a:xfrm>
          <a:prstGeom prst="rect">
            <a:avLst/>
          </a:prstGeom>
        </p:spPr>
      </p:pic>
      <p:pic>
        <p:nvPicPr>
          <p:cNvPr id="7" name="Obraz 6" descr="Obraz zawierający tekst, Czcionka, linia, zrzut ekranu&#10;&#10;Zawartość wygenerowana przez AI może być niepoprawna.">
            <a:extLst>
              <a:ext uri="{FF2B5EF4-FFF2-40B4-BE49-F238E27FC236}">
                <a16:creationId xmlns:a16="http://schemas.microsoft.com/office/drawing/2014/main" id="{EACD9871-812D-492B-57EB-2FB95518265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327" y="2583200"/>
            <a:ext cx="3739198" cy="922072"/>
          </a:xfrm>
          <a:prstGeom prst="rect">
            <a:avLst/>
          </a:prstGeom>
        </p:spPr>
      </p:pic>
      <p:pic>
        <p:nvPicPr>
          <p:cNvPr id="9" name="Obraz 8" descr="Obraz wygenerowany przez język Python">
            <a:extLst>
              <a:ext uri="{FF2B5EF4-FFF2-40B4-BE49-F238E27FC236}">
                <a16:creationId xmlns:a16="http://schemas.microsoft.com/office/drawing/2014/main" id="{3921170F-D18D-22EB-D725-DD25FBEA227C}"/>
              </a:ext>
            </a:extLst>
          </p:cNvPr>
          <p:cNvPicPr>
            <a:picLocks noChangeAspect="1"/>
            <a:extLst>
              <a:ext uri="{53484399-7A02-498B-ADA4-41CD10E50FAC}">
                <aif:imageFormula xmlns="" xmlns:aif="http://schemas.microsoft.com/office/drawing/2022/imageformula" formula="sns_plots!B277"/>
              </a:ext>
            </a:extLst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097" y="5320577"/>
            <a:ext cx="5132214" cy="1445977"/>
          </a:xfrm>
          <a:prstGeom prst="rect">
            <a:avLst/>
          </a:prstGeom>
        </p:spPr>
      </p:pic>
      <p:pic>
        <p:nvPicPr>
          <p:cNvPr id="15" name="Obraz 14" descr="Obraz zawierający tekst, Czcionka, linia, zrzut ekranu&#10;&#10;Zawartość wygenerowana przez AI może być niepoprawna.">
            <a:extLst>
              <a:ext uri="{FF2B5EF4-FFF2-40B4-BE49-F238E27FC236}">
                <a16:creationId xmlns:a16="http://schemas.microsoft.com/office/drawing/2014/main" id="{FAAB7F55-837A-595F-8329-DAE261F01853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9543" y="3605839"/>
            <a:ext cx="5107574" cy="1054269"/>
          </a:xfrm>
          <a:prstGeom prst="rect">
            <a:avLst/>
          </a:prstGeom>
        </p:spPr>
      </p:pic>
      <p:sp>
        <p:nvSpPr>
          <p:cNvPr id="16" name="Numer slajdu — symbol zastępczy 5">
            <a:extLst>
              <a:ext uri="{FF2B5EF4-FFF2-40B4-BE49-F238E27FC236}">
                <a16:creationId xmlns:a16="http://schemas.microsoft.com/office/drawing/2014/main" id="{5D609D6A-E345-6DD4-DC98-57CFEF260D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32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6828931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10381-94FA-83EB-181F-3F330C950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8AD387A1-E67C-FFBC-7667-35C2AA38064C}"/>
              </a:ext>
            </a:extLst>
          </p:cNvPr>
          <p:cNvSpPr txBox="1">
            <a:spLocks/>
          </p:cNvSpPr>
          <p:nvPr/>
        </p:nvSpPr>
        <p:spPr>
          <a:xfrm>
            <a:off x="451707" y="2680406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 dirty="0"/>
              <a:t>Model, modelik, model </a:t>
            </a:r>
            <a:r>
              <a:rPr lang="pl-PL" sz="4000" b="1" dirty="0" err="1"/>
              <a:t>licze</a:t>
            </a:r>
            <a:endParaRPr lang="pl-PL" sz="4000" b="1" dirty="0"/>
          </a:p>
          <a:p>
            <a:endParaRPr lang="pl-PL" b="1" dirty="0"/>
          </a:p>
        </p:txBody>
      </p:sp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BCB57AA2-F317-FEDE-0991-1A0767EAFD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33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6649252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902A8-E7ED-D264-7EF4-36CAE5B2A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C295E34F-00C1-E0FB-B8AC-D8B3C0756C1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9659" y="546099"/>
            <a:ext cx="8234444" cy="6292851"/>
          </a:xfrm>
        </p:spPr>
        <p:txBody>
          <a:bodyPr>
            <a:normAutofit/>
          </a:bodyPr>
          <a:lstStyle/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3B856F42-22F2-2491-3A40-F755AD2FB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zbuduj </a:t>
            </a:r>
            <a:r>
              <a:rPr lang="pl-PL" dirty="0" err="1"/>
              <a:t>se</a:t>
            </a:r>
            <a:r>
              <a:rPr lang="pl-PL" dirty="0"/>
              <a:t> model [1] - EDA</a:t>
            </a:r>
          </a:p>
        </p:txBody>
      </p:sp>
      <p:pic>
        <p:nvPicPr>
          <p:cNvPr id="5" name="Obraz 4" descr="Obraz zawierający roślina, kwiat, fiołek, Iris unguicularis&#10;&#10;Zawartość wygenerowana przez AI może być niepoprawna.">
            <a:extLst>
              <a:ext uri="{FF2B5EF4-FFF2-40B4-BE49-F238E27FC236}">
                <a16:creationId xmlns:a16="http://schemas.microsoft.com/office/drawing/2014/main" id="{AE2BE439-CE4E-8870-E560-A4A285455AB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9660" y="513087"/>
            <a:ext cx="3033990" cy="1060016"/>
          </a:xfrm>
          <a:prstGeom prst="rect">
            <a:avLst/>
          </a:prstGeom>
        </p:spPr>
      </p:pic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70CB2CFB-5B20-B91A-BE6A-4B9E62418725}"/>
              </a:ext>
            </a:extLst>
          </p:cNvPr>
          <p:cNvSpPr txBox="1">
            <a:spLocks/>
          </p:cNvSpPr>
          <p:nvPr/>
        </p:nvSpPr>
        <p:spPr>
          <a:xfrm>
            <a:off x="3743495" y="571583"/>
            <a:ext cx="4901741" cy="116166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r>
              <a:rPr lang="pl-PL" sz="1600" dirty="0"/>
              <a:t>Zbiór </a:t>
            </a:r>
            <a:r>
              <a:rPr lang="pl-PL" sz="1600" dirty="0" err="1"/>
              <a:t>iris</a:t>
            </a:r>
            <a:r>
              <a:rPr lang="pl-PL" sz="1600" dirty="0"/>
              <a:t> – szybkie rozpoznanie danych czyli: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Podsumuj </a:t>
            </a:r>
            <a:r>
              <a:rPr lang="pl-PL" sz="1600" dirty="0" err="1"/>
              <a:t>se</a:t>
            </a:r>
            <a:r>
              <a:rPr lang="pl-PL" sz="1600" dirty="0"/>
              <a:t> dane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Narysuj </a:t>
            </a:r>
            <a:r>
              <a:rPr lang="pl-PL" sz="1600" dirty="0" err="1"/>
              <a:t>se</a:t>
            </a:r>
            <a:r>
              <a:rPr lang="pl-PL" sz="1600" dirty="0"/>
              <a:t> dane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600" dirty="0"/>
              <a:t>Będziesz budował model, więc domyślne biblioteki nie wystarczą i trzeba importować (głównie </a:t>
            </a:r>
            <a:r>
              <a:rPr lang="pl-PL" sz="1600" dirty="0" err="1"/>
              <a:t>sklearn</a:t>
            </a:r>
            <a:r>
              <a:rPr lang="pl-PL" sz="1600" dirty="0"/>
              <a:t>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pic>
        <p:nvPicPr>
          <p:cNvPr id="10" name="Obraz 9" descr="Obraz zawierający tekst, zrzut ekranu, numer, Czcionka&#10;&#10;Zawartość wygenerowana przez AI może być niepoprawna.">
            <a:extLst>
              <a:ext uri="{FF2B5EF4-FFF2-40B4-BE49-F238E27FC236}">
                <a16:creationId xmlns:a16="http://schemas.microsoft.com/office/drawing/2014/main" id="{767E2CE6-3EA7-BF81-0470-B0B208963EB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9659" y="2338088"/>
            <a:ext cx="4790153" cy="3973813"/>
          </a:xfrm>
          <a:prstGeom prst="rect">
            <a:avLst/>
          </a:prstGeom>
        </p:spPr>
      </p:pic>
      <p:pic>
        <p:nvPicPr>
          <p:cNvPr id="12" name="Obraz 11" descr="Obraz zawierający tekst, zrzut ekranu, diagram&#10;&#10;Zawartość wygenerowana przez AI może być niepoprawna.">
            <a:extLst>
              <a:ext uri="{FF2B5EF4-FFF2-40B4-BE49-F238E27FC236}">
                <a16:creationId xmlns:a16="http://schemas.microsoft.com/office/drawing/2014/main" id="{FA525EF4-8501-EE0A-141E-8EC62EE8C43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6942" y="1672125"/>
            <a:ext cx="5754892" cy="5166825"/>
          </a:xfrm>
          <a:prstGeom prst="rect">
            <a:avLst/>
          </a:prstGeom>
        </p:spPr>
      </p:pic>
      <p:sp>
        <p:nvSpPr>
          <p:cNvPr id="13" name="Numer slajdu — symbol zastępczy 5">
            <a:extLst>
              <a:ext uri="{FF2B5EF4-FFF2-40B4-BE49-F238E27FC236}">
                <a16:creationId xmlns:a16="http://schemas.microsoft.com/office/drawing/2014/main" id="{D6BA6435-FD2A-2450-31EA-A59CA1A763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34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8231389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E16E1-2E13-3486-D695-F74861FB1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E035FC08-9B8F-224A-C891-108D3ED3709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93671" y="2064470"/>
            <a:ext cx="8234444" cy="3596129"/>
          </a:xfrm>
        </p:spPr>
        <p:txBody>
          <a:bodyPr>
            <a:normAutofit/>
          </a:bodyPr>
          <a:lstStyle/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915E67DB-9A44-3014-19A2-954E72FA6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zbuduj </a:t>
            </a:r>
            <a:r>
              <a:rPr lang="pl-PL" dirty="0" err="1"/>
              <a:t>se</a:t>
            </a:r>
            <a:r>
              <a:rPr lang="pl-PL" dirty="0"/>
              <a:t> model [2] – grabki i łopatki</a:t>
            </a:r>
          </a:p>
        </p:txBody>
      </p:sp>
      <p:pic>
        <p:nvPicPr>
          <p:cNvPr id="4" name="Obraz 3" descr="Obraz zawierający roślina, kwiat, fiołek, Iris unguicularis&#10;&#10;Zawartość wygenerowana przez AI może być niepoprawna.">
            <a:extLst>
              <a:ext uri="{FF2B5EF4-FFF2-40B4-BE49-F238E27FC236}">
                <a16:creationId xmlns:a16="http://schemas.microsoft.com/office/drawing/2014/main" id="{283CEE1F-CBF0-ED2D-0C0B-B2E84C471A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9660" y="571583"/>
            <a:ext cx="3033990" cy="1060016"/>
          </a:xfrm>
          <a:prstGeom prst="rect">
            <a:avLst/>
          </a:prstGeom>
        </p:spPr>
      </p:pic>
      <p:sp>
        <p:nvSpPr>
          <p:cNvPr id="6" name="Symbol zastępczy zawartości 1">
            <a:extLst>
              <a:ext uri="{FF2B5EF4-FFF2-40B4-BE49-F238E27FC236}">
                <a16:creationId xmlns:a16="http://schemas.microsoft.com/office/drawing/2014/main" id="{C5EEB554-EA58-6ECB-5384-A850A3DC0F4B}"/>
              </a:ext>
            </a:extLst>
          </p:cNvPr>
          <p:cNvSpPr txBox="1">
            <a:spLocks/>
          </p:cNvSpPr>
          <p:nvPr/>
        </p:nvSpPr>
        <p:spPr>
          <a:xfrm>
            <a:off x="136208" y="1764792"/>
            <a:ext cx="5363815" cy="3437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r>
              <a:rPr lang="pl-PL" sz="1600" dirty="0"/>
              <a:t>Napisz funkcje do powtarzalnego budowania modeli, tj.: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Target </a:t>
            </a:r>
            <a:r>
              <a:rPr lang="pl-PL" sz="1600" dirty="0" err="1"/>
              <a:t>encoding</a:t>
            </a: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Train/test </a:t>
            </a:r>
            <a:r>
              <a:rPr lang="pl-PL" sz="1600" dirty="0" err="1"/>
              <a:t>prepare</a:t>
            </a: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Funkcja </a:t>
            </a:r>
            <a:r>
              <a:rPr lang="pl-PL" sz="1600" dirty="0" err="1"/>
              <a:t>fit</a:t>
            </a:r>
            <a:r>
              <a:rPr lang="pl-PL" sz="1600" dirty="0"/>
              <a:t>/</a:t>
            </a:r>
            <a:r>
              <a:rPr lang="pl-PL" sz="1600" dirty="0" err="1"/>
              <a:t>transform</a:t>
            </a:r>
            <a:r>
              <a:rPr lang="pl-PL" sz="1600" dirty="0"/>
              <a:t>/</a:t>
            </a:r>
            <a:r>
              <a:rPr lang="pl-PL" sz="1600" dirty="0" err="1"/>
              <a:t>predict</a:t>
            </a:r>
            <a:r>
              <a:rPr lang="pl-PL" sz="1600" dirty="0"/>
              <a:t> – bo mamy dostępną uniwersalność pakietu </a:t>
            </a:r>
            <a:r>
              <a:rPr lang="pl-PL" sz="1600" dirty="0" err="1"/>
              <a:t>sklearn</a:t>
            </a: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….i metryki jakości modelu do oceny modeli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Funkcja ZSM jest najdłuższa w całej prezentacji, ale pokrywa </a:t>
            </a:r>
            <a:r>
              <a:rPr lang="pl-PL" sz="1600" dirty="0" err="1"/>
              <a:t>pipeline</a:t>
            </a:r>
            <a:r>
              <a:rPr lang="pl-PL" sz="1600" dirty="0"/>
              <a:t> budowy modelu w </a:t>
            </a:r>
            <a:r>
              <a:rPr lang="pl-PL" sz="1600" dirty="0" err="1"/>
              <a:t>sklearn</a:t>
            </a: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Pozostałe są pojedynczymi wierszami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pic>
        <p:nvPicPr>
          <p:cNvPr id="9" name="Obraz 8" descr="Obraz zawierający tekst, zrzut ekranu, dokument, Czcionka&#10;&#10;Zawartość wygenerowana przez AI może być niepoprawna.">
            <a:extLst>
              <a:ext uri="{FF2B5EF4-FFF2-40B4-BE49-F238E27FC236}">
                <a16:creationId xmlns:a16="http://schemas.microsoft.com/office/drawing/2014/main" id="{34DC3914-3BA4-0269-9C4F-3A87E9008FE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98709" y="738504"/>
            <a:ext cx="6793291" cy="5490145"/>
          </a:xfrm>
          <a:prstGeom prst="rect">
            <a:avLst/>
          </a:prstGeom>
        </p:spPr>
      </p:pic>
      <p:pic>
        <p:nvPicPr>
          <p:cNvPr id="13" name="Obraz 12" descr="Obraz zawierający tekst, Czcionka, zrzut ekranu, linia&#10;&#10;Zawartość wygenerowana przez AI może być niepoprawna.">
            <a:extLst>
              <a:ext uri="{FF2B5EF4-FFF2-40B4-BE49-F238E27FC236}">
                <a16:creationId xmlns:a16="http://schemas.microsoft.com/office/drawing/2014/main" id="{FE016BEA-D817-115E-EE28-B929EF057E2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6208" y="4990354"/>
            <a:ext cx="5197577" cy="705762"/>
          </a:xfrm>
          <a:prstGeom prst="rect">
            <a:avLst/>
          </a:prstGeom>
        </p:spPr>
      </p:pic>
      <p:pic>
        <p:nvPicPr>
          <p:cNvPr id="15" name="Obraz 14" descr="Obraz zawierający tekst, zrzut ekranu, Czcionka, linia&#10;&#10;Zawartość wygenerowana przez AI może być niepoprawna.">
            <a:extLst>
              <a:ext uri="{FF2B5EF4-FFF2-40B4-BE49-F238E27FC236}">
                <a16:creationId xmlns:a16="http://schemas.microsoft.com/office/drawing/2014/main" id="{A08AFEDD-3950-5F5E-D459-D179FBC4C5C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0217" y="5776106"/>
            <a:ext cx="5465129" cy="705762"/>
          </a:xfrm>
          <a:prstGeom prst="rect">
            <a:avLst/>
          </a:prstGeom>
        </p:spPr>
      </p:pic>
      <p:sp>
        <p:nvSpPr>
          <p:cNvPr id="16" name="Numer slajdu — symbol zastępczy 5">
            <a:extLst>
              <a:ext uri="{FF2B5EF4-FFF2-40B4-BE49-F238E27FC236}">
                <a16:creationId xmlns:a16="http://schemas.microsoft.com/office/drawing/2014/main" id="{2A326818-FFED-F409-93BA-96B2F19362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35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9995799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74ED4-6DA9-6E78-6A07-907BAFC5D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307364DF-7B3D-FE4E-E9DE-9EB0520FB06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93671" y="2064470"/>
            <a:ext cx="8234444" cy="3596129"/>
          </a:xfrm>
        </p:spPr>
        <p:txBody>
          <a:bodyPr>
            <a:normAutofit/>
          </a:bodyPr>
          <a:lstStyle/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333BF471-7EAA-989D-FDBE-D09651A18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zbuduj </a:t>
            </a:r>
            <a:r>
              <a:rPr lang="pl-PL" dirty="0" err="1"/>
              <a:t>se</a:t>
            </a:r>
            <a:r>
              <a:rPr lang="pl-PL" dirty="0"/>
              <a:t> model [3] – </a:t>
            </a:r>
            <a:r>
              <a:rPr lang="pl-PL" dirty="0" err="1"/>
              <a:t>Logistic</a:t>
            </a:r>
            <a:r>
              <a:rPr lang="pl-PL" dirty="0"/>
              <a:t> </a:t>
            </a:r>
            <a:r>
              <a:rPr lang="pl-PL" dirty="0" err="1"/>
              <a:t>Regression</a:t>
            </a:r>
            <a:endParaRPr lang="pl-PL" dirty="0"/>
          </a:p>
        </p:txBody>
      </p:sp>
      <p:pic>
        <p:nvPicPr>
          <p:cNvPr id="4" name="Obraz 3" descr="Obraz zawierający roślina, kwiat, fiołek, Iris unguicularis&#10;&#10;Zawartość wygenerowana przez AI może być niepoprawna.">
            <a:extLst>
              <a:ext uri="{FF2B5EF4-FFF2-40B4-BE49-F238E27FC236}">
                <a16:creationId xmlns:a16="http://schemas.microsoft.com/office/drawing/2014/main" id="{9EF21D71-4C68-9148-F61E-1A0F39CFB46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2839" y="558859"/>
            <a:ext cx="3033990" cy="1060016"/>
          </a:xfrm>
          <a:prstGeom prst="rect">
            <a:avLst/>
          </a:prstGeom>
        </p:spPr>
      </p:pic>
      <p:sp>
        <p:nvSpPr>
          <p:cNvPr id="6" name="Symbol zastępczy zawartości 1">
            <a:extLst>
              <a:ext uri="{FF2B5EF4-FFF2-40B4-BE49-F238E27FC236}">
                <a16:creationId xmlns:a16="http://schemas.microsoft.com/office/drawing/2014/main" id="{BA8B22FB-62CF-11AA-9877-9D967EE0213D}"/>
              </a:ext>
            </a:extLst>
          </p:cNvPr>
          <p:cNvSpPr txBox="1">
            <a:spLocks/>
          </p:cNvSpPr>
          <p:nvPr/>
        </p:nvSpPr>
        <p:spPr>
          <a:xfrm>
            <a:off x="172839" y="1687112"/>
            <a:ext cx="3210441" cy="182085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r>
              <a:rPr lang="pl-PL" sz="1600" dirty="0"/>
              <a:t>Powtarzalne budowanie modeli metodami z </a:t>
            </a:r>
            <a:r>
              <a:rPr lang="pl-PL" sz="1600" dirty="0" err="1"/>
              <a:t>sklearn</a:t>
            </a:r>
            <a:r>
              <a:rPr lang="pl-PL" sz="1600" dirty="0"/>
              <a:t>, tj.: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wykorzystujemy funkcję ZSM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…. i prezentujemy ”tylko” zwrócone przez nią wartości w kolejnych komórkach (stosowne macierze 1-1, albo ich wykresy jak dla </a:t>
            </a:r>
            <a:r>
              <a:rPr lang="pl-PL" sz="1600" dirty="0" err="1"/>
              <a:t>confusion</a:t>
            </a:r>
            <a:r>
              <a:rPr lang="pl-PL" sz="1600" dirty="0"/>
              <a:t> matrix)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pic>
        <p:nvPicPr>
          <p:cNvPr id="7" name="Obraz 6" descr="Obraz zawierający tekst, zrzut ekranu, diagram, Prostokąt&#10;&#10;Zawartość wygenerowana przez AI może być niepoprawna.">
            <a:extLst>
              <a:ext uri="{FF2B5EF4-FFF2-40B4-BE49-F238E27FC236}">
                <a16:creationId xmlns:a16="http://schemas.microsoft.com/office/drawing/2014/main" id="{6571E210-7B43-8A5B-93DC-83573C009F9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15540" y="1677286"/>
            <a:ext cx="8382789" cy="4615244"/>
          </a:xfrm>
          <a:prstGeom prst="rect">
            <a:avLst/>
          </a:prstGeom>
        </p:spPr>
      </p:pic>
      <p:pic>
        <p:nvPicPr>
          <p:cNvPr id="10" name="Obraz 9" descr="Obraz zawierający tekst, Czcionka, linia, zrzut ekranu&#10;&#10;Zawartość wygenerowana przez AI może być niepoprawna.">
            <a:extLst>
              <a:ext uri="{FF2B5EF4-FFF2-40B4-BE49-F238E27FC236}">
                <a16:creationId xmlns:a16="http://schemas.microsoft.com/office/drawing/2014/main" id="{2ADFE3E7-39F7-27A6-5F9F-6576D2474A9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42809" y="565470"/>
            <a:ext cx="6325386" cy="865764"/>
          </a:xfrm>
          <a:prstGeom prst="rect">
            <a:avLst/>
          </a:prstGeom>
        </p:spPr>
      </p:pic>
      <p:sp>
        <p:nvSpPr>
          <p:cNvPr id="11" name="Numer slajdu — symbol zastępczy 5">
            <a:extLst>
              <a:ext uri="{FF2B5EF4-FFF2-40B4-BE49-F238E27FC236}">
                <a16:creationId xmlns:a16="http://schemas.microsoft.com/office/drawing/2014/main" id="{D6937F90-DC22-32DF-B024-48AC845428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36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8845119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663E5-1C7C-7DCE-F2B5-AAA0E8EC5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354FB1DC-55FA-8C41-3995-FC766D8C1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zbuduj </a:t>
            </a:r>
            <a:r>
              <a:rPr lang="pl-PL" dirty="0" err="1"/>
              <a:t>se</a:t>
            </a:r>
            <a:r>
              <a:rPr lang="pl-PL" dirty="0"/>
              <a:t> model [4] – </a:t>
            </a:r>
            <a:r>
              <a:rPr lang="pl-PL" dirty="0" err="1"/>
              <a:t>Logistic</a:t>
            </a:r>
            <a:r>
              <a:rPr lang="pl-PL" dirty="0"/>
              <a:t> </a:t>
            </a:r>
            <a:r>
              <a:rPr lang="pl-PL" dirty="0" err="1"/>
              <a:t>Regression</a:t>
            </a:r>
            <a:r>
              <a:rPr lang="pl-PL" dirty="0"/>
              <a:t> </a:t>
            </a:r>
            <a:r>
              <a:rPr lang="pl-PL" dirty="0" err="1"/>
              <a:t>Tuning</a:t>
            </a:r>
            <a:endParaRPr lang="pl-PL" dirty="0"/>
          </a:p>
        </p:txBody>
      </p:sp>
      <p:pic>
        <p:nvPicPr>
          <p:cNvPr id="4" name="Obraz 3" descr="Obraz zawierający roślina, kwiat, fiołek, Iris unguicularis&#10;&#10;Zawartość wygenerowana przez AI może być niepoprawna.">
            <a:extLst>
              <a:ext uri="{FF2B5EF4-FFF2-40B4-BE49-F238E27FC236}">
                <a16:creationId xmlns:a16="http://schemas.microsoft.com/office/drawing/2014/main" id="{C1C733EB-41A8-D47E-0DCD-82DF506E25C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804" y="499661"/>
            <a:ext cx="3426537" cy="1197164"/>
          </a:xfrm>
          <a:prstGeom prst="rect">
            <a:avLst/>
          </a:prstGeom>
        </p:spPr>
      </p:pic>
      <p:sp>
        <p:nvSpPr>
          <p:cNvPr id="6" name="Symbol zastępczy zawartości 1">
            <a:extLst>
              <a:ext uri="{FF2B5EF4-FFF2-40B4-BE49-F238E27FC236}">
                <a16:creationId xmlns:a16="http://schemas.microsoft.com/office/drawing/2014/main" id="{1A774526-3AA2-0F35-751C-46BFB5918EB7}"/>
              </a:ext>
            </a:extLst>
          </p:cNvPr>
          <p:cNvSpPr txBox="1">
            <a:spLocks/>
          </p:cNvSpPr>
          <p:nvPr/>
        </p:nvSpPr>
        <p:spPr>
          <a:xfrm>
            <a:off x="-7542" y="1782420"/>
            <a:ext cx="5449138" cy="3437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r>
              <a:rPr lang="pl-PL" sz="1600" dirty="0" err="1"/>
              <a:t>Tuning</a:t>
            </a:r>
            <a:r>
              <a:rPr lang="pl-PL" sz="1600" dirty="0"/>
              <a:t> parametrów … czemu nie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Cross </a:t>
            </a:r>
            <a:r>
              <a:rPr lang="pl-PL" sz="1600" dirty="0" err="1"/>
              <a:t>Validation</a:t>
            </a: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 err="1"/>
              <a:t>Grid</a:t>
            </a:r>
            <a:r>
              <a:rPr lang="pl-PL" sz="1600" dirty="0"/>
              <a:t> </a:t>
            </a:r>
            <a:r>
              <a:rPr lang="pl-PL" sz="1600" dirty="0" err="1"/>
              <a:t>Search</a:t>
            </a: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pic>
        <p:nvPicPr>
          <p:cNvPr id="8" name="Obraz 7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83A51143-F80D-08E6-8F06-74DBA2EDD20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41596" y="640306"/>
            <a:ext cx="6356934" cy="2753096"/>
          </a:xfrm>
          <a:prstGeom prst="rect">
            <a:avLst/>
          </a:prstGeom>
        </p:spPr>
      </p:pic>
      <p:pic>
        <p:nvPicPr>
          <p:cNvPr id="13" name="Obraz 12" descr="Obraz zawierający tekst, numer, linia, zrzut ekranu&#10;&#10;Zawartość wygenerowana przez AI może być niepoprawna.">
            <a:extLst>
              <a:ext uri="{FF2B5EF4-FFF2-40B4-BE49-F238E27FC236}">
                <a16:creationId xmlns:a16="http://schemas.microsoft.com/office/drawing/2014/main" id="{4B8930A3-5E8E-EDB9-C9F7-96F2B0CF2D2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3400" y="3648938"/>
            <a:ext cx="11885200" cy="2410814"/>
          </a:xfrm>
          <a:prstGeom prst="rect">
            <a:avLst/>
          </a:prstGeom>
        </p:spPr>
      </p:pic>
      <p:sp>
        <p:nvSpPr>
          <p:cNvPr id="14" name="Numer slajdu — symbol zastępczy 5">
            <a:extLst>
              <a:ext uri="{FF2B5EF4-FFF2-40B4-BE49-F238E27FC236}">
                <a16:creationId xmlns:a16="http://schemas.microsoft.com/office/drawing/2014/main" id="{00A09150-F1C7-B80E-2F4F-21514A7F0A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37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6540333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73AA0-A31F-5396-8F61-F4FC135EA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24A22200-D2AF-5D10-90DB-353CF1948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049"/>
            <a:ext cx="10174778" cy="395017"/>
          </a:xfrm>
        </p:spPr>
        <p:txBody>
          <a:bodyPr>
            <a:normAutofit/>
          </a:bodyPr>
          <a:lstStyle/>
          <a:p>
            <a:r>
              <a:rPr lang="pl-PL" dirty="0"/>
              <a:t>Przykład  – zbuduj </a:t>
            </a:r>
            <a:r>
              <a:rPr lang="pl-PL" dirty="0" err="1"/>
              <a:t>se</a:t>
            </a:r>
            <a:r>
              <a:rPr lang="pl-PL" dirty="0"/>
              <a:t> model [5] – </a:t>
            </a:r>
            <a:r>
              <a:rPr lang="pl-PL" dirty="0" err="1"/>
              <a:t>Logistic</a:t>
            </a:r>
            <a:r>
              <a:rPr lang="pl-PL" dirty="0"/>
              <a:t> </a:t>
            </a:r>
            <a:r>
              <a:rPr lang="pl-PL" dirty="0" err="1"/>
              <a:t>Regression</a:t>
            </a:r>
            <a:r>
              <a:rPr lang="pl-PL" dirty="0"/>
              <a:t> </a:t>
            </a:r>
            <a:r>
              <a:rPr lang="pl-PL" dirty="0" err="1"/>
              <a:t>variable</a:t>
            </a:r>
            <a:r>
              <a:rPr lang="pl-PL" dirty="0"/>
              <a:t> </a:t>
            </a:r>
            <a:r>
              <a:rPr lang="pl-PL" dirty="0" err="1"/>
              <a:t>importance</a:t>
            </a:r>
            <a:r>
              <a:rPr lang="pl-PL" dirty="0"/>
              <a:t>(?)</a:t>
            </a:r>
          </a:p>
        </p:txBody>
      </p:sp>
      <p:pic>
        <p:nvPicPr>
          <p:cNvPr id="4" name="Obraz 3" descr="Obraz zawierający roślina, kwiat, fiołek, Iris unguicularis&#10;&#10;Zawartość wygenerowana przez AI może być niepoprawna.">
            <a:extLst>
              <a:ext uri="{FF2B5EF4-FFF2-40B4-BE49-F238E27FC236}">
                <a16:creationId xmlns:a16="http://schemas.microsoft.com/office/drawing/2014/main" id="{525C7AC0-5C66-789B-25B4-013966633B5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804" y="499661"/>
            <a:ext cx="3426537" cy="1197164"/>
          </a:xfrm>
          <a:prstGeom prst="rect">
            <a:avLst/>
          </a:prstGeom>
        </p:spPr>
      </p:pic>
      <p:sp>
        <p:nvSpPr>
          <p:cNvPr id="6" name="Symbol zastępczy zawartości 1">
            <a:extLst>
              <a:ext uri="{FF2B5EF4-FFF2-40B4-BE49-F238E27FC236}">
                <a16:creationId xmlns:a16="http://schemas.microsoft.com/office/drawing/2014/main" id="{2CCC1FDE-F088-D0F2-E289-59FBDD0D5CAD}"/>
              </a:ext>
            </a:extLst>
          </p:cNvPr>
          <p:cNvSpPr txBox="1">
            <a:spLocks/>
          </p:cNvSpPr>
          <p:nvPr/>
        </p:nvSpPr>
        <p:spPr>
          <a:xfrm>
            <a:off x="4040756" y="560449"/>
            <a:ext cx="7572124" cy="3437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600" dirty="0"/>
              <a:t>Metody regresji logistycznej nie wyznaczają </a:t>
            </a:r>
            <a:r>
              <a:rPr lang="pl-PL" sz="1600" dirty="0" err="1"/>
              <a:t>feature</a:t>
            </a:r>
            <a:r>
              <a:rPr lang="pl-PL" sz="1600" dirty="0"/>
              <a:t> </a:t>
            </a:r>
            <a:r>
              <a:rPr lang="pl-PL" sz="1600" dirty="0" err="1"/>
              <a:t>importance</a:t>
            </a:r>
            <a:r>
              <a:rPr lang="pl-PL" sz="1600" dirty="0"/>
              <a:t> jak drzewa, bo tutaj współczynniki mają podobną rolę. Jednak można wykorzystać </a:t>
            </a:r>
            <a:r>
              <a:rPr lang="pl-PL" sz="1600" dirty="0" err="1"/>
              <a:t>sklearn.inspection.permutation_importance</a:t>
            </a:r>
            <a:r>
              <a:rPr lang="pl-PL" sz="1600" dirty="0"/>
              <a:t>.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sp>
        <p:nvSpPr>
          <p:cNvPr id="14" name="Numer slajdu — symbol zastępczy 5">
            <a:extLst>
              <a:ext uri="{FF2B5EF4-FFF2-40B4-BE49-F238E27FC236}">
                <a16:creationId xmlns:a16="http://schemas.microsoft.com/office/drawing/2014/main" id="{C730C152-D03F-7A7E-A30D-F25B655688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38</a:t>
            </a:fld>
            <a:endParaRPr lang="pl-PL" dirty="0"/>
          </a:p>
        </p:txBody>
      </p:sp>
      <p:pic>
        <p:nvPicPr>
          <p:cNvPr id="5" name="Obraz 4" descr="Obraz zawierający tekst, linia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F9537D79-3CC6-4B7B-B9DF-AC4D4325F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862" y="2099573"/>
            <a:ext cx="8056418" cy="1898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2575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57FED-AD21-B492-A8A8-F2C12962D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489907FA-C4FE-B183-802E-D04AD5360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zbuduj </a:t>
            </a:r>
            <a:r>
              <a:rPr lang="pl-PL" dirty="0" err="1"/>
              <a:t>se</a:t>
            </a:r>
            <a:r>
              <a:rPr lang="pl-PL" dirty="0"/>
              <a:t> model [6] – </a:t>
            </a:r>
            <a:r>
              <a:rPr lang="pl-PL" dirty="0" err="1"/>
              <a:t>Decision</a:t>
            </a:r>
            <a:r>
              <a:rPr lang="pl-PL" dirty="0"/>
              <a:t> </a:t>
            </a:r>
            <a:r>
              <a:rPr lang="pl-PL" dirty="0" err="1"/>
              <a:t>Tree</a:t>
            </a:r>
            <a:endParaRPr lang="pl-PL" dirty="0"/>
          </a:p>
        </p:txBody>
      </p:sp>
      <p:pic>
        <p:nvPicPr>
          <p:cNvPr id="4" name="Obraz 3" descr="Obraz zawierający roślina, kwiat, fiołek, Iris unguicularis&#10;&#10;Zawartość wygenerowana przez AI może być niepoprawna.">
            <a:extLst>
              <a:ext uri="{FF2B5EF4-FFF2-40B4-BE49-F238E27FC236}">
                <a16:creationId xmlns:a16="http://schemas.microsoft.com/office/drawing/2014/main" id="{18138AC4-74C8-DAEE-30B6-AC62D0D3475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804" y="499661"/>
            <a:ext cx="3426537" cy="1197164"/>
          </a:xfrm>
          <a:prstGeom prst="rect">
            <a:avLst/>
          </a:prstGeom>
        </p:spPr>
      </p:pic>
      <p:sp>
        <p:nvSpPr>
          <p:cNvPr id="6" name="Symbol zastępczy zawartości 1">
            <a:extLst>
              <a:ext uri="{FF2B5EF4-FFF2-40B4-BE49-F238E27FC236}">
                <a16:creationId xmlns:a16="http://schemas.microsoft.com/office/drawing/2014/main" id="{AEB23A0F-BA91-8B91-6A31-056A6A807792}"/>
              </a:ext>
            </a:extLst>
          </p:cNvPr>
          <p:cNvSpPr txBox="1">
            <a:spLocks/>
          </p:cNvSpPr>
          <p:nvPr/>
        </p:nvSpPr>
        <p:spPr>
          <a:xfrm>
            <a:off x="-7542" y="1782420"/>
            <a:ext cx="4494701" cy="1384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r>
              <a:rPr lang="pl-PL" sz="1600" dirty="0"/>
              <a:t>Model </a:t>
            </a:r>
            <a:r>
              <a:rPr lang="pl-PL" sz="1600" dirty="0" err="1"/>
              <a:t>Decision</a:t>
            </a:r>
            <a:r>
              <a:rPr lang="pl-PL" sz="1600" dirty="0"/>
              <a:t> </a:t>
            </a:r>
            <a:r>
              <a:rPr lang="pl-PL" sz="1600" dirty="0" err="1"/>
              <a:t>Tree</a:t>
            </a:r>
            <a:r>
              <a:rPr lang="pl-PL" sz="1600" dirty="0"/>
              <a:t> – </a:t>
            </a:r>
            <a:r>
              <a:rPr lang="pl-PL" sz="1600" dirty="0" err="1"/>
              <a:t>ctrl+c</a:t>
            </a:r>
            <a:r>
              <a:rPr lang="pl-PL" sz="1600" dirty="0"/>
              <a:t>, </a:t>
            </a:r>
            <a:r>
              <a:rPr lang="pl-PL" sz="1600" dirty="0" err="1"/>
              <a:t>ctrl+v</a:t>
            </a:r>
            <a:r>
              <a:rPr lang="pl-PL" sz="1600" dirty="0"/>
              <a:t> i zmiana funkcji modelu.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r>
              <a:rPr lang="pl-PL" sz="1600" dirty="0"/>
              <a:t>Możemy również narysować drzewo i </a:t>
            </a:r>
            <a:r>
              <a:rPr lang="pl-PL" sz="1600" dirty="0" err="1"/>
              <a:t>feature</a:t>
            </a:r>
            <a:r>
              <a:rPr lang="pl-PL" sz="1600" dirty="0"/>
              <a:t> </a:t>
            </a:r>
            <a:r>
              <a:rPr lang="pl-PL" sz="1600" dirty="0" err="1"/>
              <a:t>importance</a:t>
            </a:r>
            <a:r>
              <a:rPr lang="pl-PL" sz="1600" dirty="0"/>
              <a:t>…bo to nie regresja logistyczna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pic>
        <p:nvPicPr>
          <p:cNvPr id="5" name="Obraz 4" descr="Obraz zawierający tekst, zrzut ekranu, diagram, Prostokąt&#10;&#10;Zawartość wygenerowana przez AI może być niepoprawna.">
            <a:extLst>
              <a:ext uri="{FF2B5EF4-FFF2-40B4-BE49-F238E27FC236}">
                <a16:creationId xmlns:a16="http://schemas.microsoft.com/office/drawing/2014/main" id="{7933F696-37E7-A217-3453-55C09D2DB72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7276" y="499660"/>
            <a:ext cx="6751388" cy="3831271"/>
          </a:xfrm>
          <a:prstGeom prst="rect">
            <a:avLst/>
          </a:prstGeom>
        </p:spPr>
      </p:pic>
      <p:pic>
        <p:nvPicPr>
          <p:cNvPr id="9" name="Obraz 8" descr="Obraz zawierający tekst, zrzut ekranu, Czcionka, linia&#10;&#10;Zawartość wygenerowana przez AI może być niepoprawna.">
            <a:extLst>
              <a:ext uri="{FF2B5EF4-FFF2-40B4-BE49-F238E27FC236}">
                <a16:creationId xmlns:a16="http://schemas.microsoft.com/office/drawing/2014/main" id="{30A5A096-E978-16BD-ADD4-7757602A3F4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804" y="3056386"/>
            <a:ext cx="4363355" cy="3484029"/>
          </a:xfrm>
          <a:prstGeom prst="rect">
            <a:avLst/>
          </a:prstGeom>
        </p:spPr>
      </p:pic>
      <p:pic>
        <p:nvPicPr>
          <p:cNvPr id="11" name="Obraz 10" descr="Obraz zawierający tekst, zrzut ekranu, oprogramowanie, wyświetlacz&#10;&#10;Zawartość wygenerowana przez AI może być niepoprawna.">
            <a:extLst>
              <a:ext uri="{FF2B5EF4-FFF2-40B4-BE49-F238E27FC236}">
                <a16:creationId xmlns:a16="http://schemas.microsoft.com/office/drawing/2014/main" id="{94807E94-8A6F-C53F-2B26-7FCECF6E50B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7276" y="4473647"/>
            <a:ext cx="2805218" cy="2260977"/>
          </a:xfrm>
          <a:prstGeom prst="rect">
            <a:avLst/>
          </a:prstGeom>
        </p:spPr>
      </p:pic>
      <p:sp>
        <p:nvSpPr>
          <p:cNvPr id="15" name="Numer slajdu — symbol zastępczy 5">
            <a:extLst>
              <a:ext uri="{FF2B5EF4-FFF2-40B4-BE49-F238E27FC236}">
                <a16:creationId xmlns:a16="http://schemas.microsoft.com/office/drawing/2014/main" id="{410A8A9B-9A5B-19A3-0319-B438776794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39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2301299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578D5-E495-ABB2-AB3A-48820AA7C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83C32EF3-439C-12F1-06D5-19369545F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zbuduj </a:t>
            </a:r>
            <a:r>
              <a:rPr lang="pl-PL" dirty="0" err="1"/>
              <a:t>se</a:t>
            </a:r>
            <a:r>
              <a:rPr lang="pl-PL" dirty="0"/>
              <a:t> model [7] – </a:t>
            </a:r>
            <a:r>
              <a:rPr lang="pl-PL" dirty="0" err="1"/>
              <a:t>Random</a:t>
            </a:r>
            <a:r>
              <a:rPr lang="pl-PL" dirty="0"/>
              <a:t> </a:t>
            </a:r>
            <a:r>
              <a:rPr lang="pl-PL" dirty="0" err="1"/>
              <a:t>Forest</a:t>
            </a:r>
            <a:r>
              <a:rPr lang="pl-PL" dirty="0"/>
              <a:t> i </a:t>
            </a:r>
            <a:r>
              <a:rPr lang="pl-PL" dirty="0" err="1"/>
              <a:t>GradientBoosting</a:t>
            </a:r>
            <a:endParaRPr lang="pl-PL" dirty="0"/>
          </a:p>
        </p:txBody>
      </p:sp>
      <p:pic>
        <p:nvPicPr>
          <p:cNvPr id="4" name="Obraz 3" descr="Obraz zawierający roślina, kwiat, fiołek, Iris unguicularis&#10;&#10;Zawartość wygenerowana przez AI może być niepoprawna.">
            <a:extLst>
              <a:ext uri="{FF2B5EF4-FFF2-40B4-BE49-F238E27FC236}">
                <a16:creationId xmlns:a16="http://schemas.microsoft.com/office/drawing/2014/main" id="{5E64856A-D441-5B30-389E-B8DE7A144B9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804" y="499661"/>
            <a:ext cx="3426537" cy="1197164"/>
          </a:xfrm>
          <a:prstGeom prst="rect">
            <a:avLst/>
          </a:prstGeom>
        </p:spPr>
      </p:pic>
      <p:pic>
        <p:nvPicPr>
          <p:cNvPr id="7" name="Obraz 6" descr="Obraz zawierający tekst, zrzut ekranu, diagram, Prostokąt&#10;&#10;Zawartość wygenerowana przez AI może być niepoprawna.">
            <a:extLst>
              <a:ext uri="{FF2B5EF4-FFF2-40B4-BE49-F238E27FC236}">
                <a16:creationId xmlns:a16="http://schemas.microsoft.com/office/drawing/2014/main" id="{AED89742-4F6D-90E9-DE5B-C91EED9038D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804" y="1782420"/>
            <a:ext cx="5432638" cy="3075709"/>
          </a:xfrm>
          <a:prstGeom prst="rect">
            <a:avLst/>
          </a:prstGeom>
        </p:spPr>
      </p:pic>
      <p:pic>
        <p:nvPicPr>
          <p:cNvPr id="10" name="Obraz 9" descr="Obraz zawierający tekst, zrzut ekranu, diagram, design&#10;&#10;Zawartość wygenerowana przez AI może być niepoprawna.">
            <a:extLst>
              <a:ext uri="{FF2B5EF4-FFF2-40B4-BE49-F238E27FC236}">
                <a16:creationId xmlns:a16="http://schemas.microsoft.com/office/drawing/2014/main" id="{84BE4AE4-F0C5-2EB3-2398-3B8D3B4E9A1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804" y="4943724"/>
            <a:ext cx="2954495" cy="1743321"/>
          </a:xfrm>
          <a:prstGeom prst="rect">
            <a:avLst/>
          </a:prstGeom>
        </p:spPr>
      </p:pic>
      <p:pic>
        <p:nvPicPr>
          <p:cNvPr id="13" name="Obraz 12" descr="Obraz zawierający tekst, zrzut ekranu, diagram, Prostokąt&#10;&#10;Zawartość wygenerowana przez AI może być niepoprawna.">
            <a:extLst>
              <a:ext uri="{FF2B5EF4-FFF2-40B4-BE49-F238E27FC236}">
                <a16:creationId xmlns:a16="http://schemas.microsoft.com/office/drawing/2014/main" id="{16C8FE8D-2983-0095-38EA-A5FB4E63192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38615" y="1782420"/>
            <a:ext cx="5762440" cy="3015746"/>
          </a:xfrm>
          <a:prstGeom prst="rect">
            <a:avLst/>
          </a:prstGeom>
        </p:spPr>
      </p:pic>
      <p:pic>
        <p:nvPicPr>
          <p:cNvPr id="15" name="Obraz 14" descr="Obraz zawierający tekst, zrzut ekranu, oprogramowanie&#10;&#10;Zawartość wygenerowana przez AI może być niepoprawna.">
            <a:extLst>
              <a:ext uri="{FF2B5EF4-FFF2-40B4-BE49-F238E27FC236}">
                <a16:creationId xmlns:a16="http://schemas.microsoft.com/office/drawing/2014/main" id="{17F20F54-F63A-7FDF-7093-8176D1E5189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32247" y="4943724"/>
            <a:ext cx="2981456" cy="1700249"/>
          </a:xfrm>
          <a:prstGeom prst="rect">
            <a:avLst/>
          </a:prstGeom>
        </p:spPr>
      </p:pic>
      <p:sp>
        <p:nvSpPr>
          <p:cNvPr id="16" name="Numer slajdu — symbol zastępczy 5">
            <a:extLst>
              <a:ext uri="{FF2B5EF4-FFF2-40B4-BE49-F238E27FC236}">
                <a16:creationId xmlns:a16="http://schemas.microsoft.com/office/drawing/2014/main" id="{51F77ABE-853B-B628-2A5C-725AF7CCA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40</a:t>
            </a:fld>
            <a:endParaRPr lang="pl-PL" dirty="0"/>
          </a:p>
        </p:txBody>
      </p:sp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A4E506A7-FC7F-2A40-8BFD-F6E701092F49}"/>
              </a:ext>
            </a:extLst>
          </p:cNvPr>
          <p:cNvSpPr txBox="1">
            <a:spLocks/>
          </p:cNvSpPr>
          <p:nvPr/>
        </p:nvSpPr>
        <p:spPr>
          <a:xfrm>
            <a:off x="3632744" y="601416"/>
            <a:ext cx="8268311" cy="1384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r>
              <a:rPr lang="pl-PL" sz="1600" dirty="0"/>
              <a:t>…to już proste, zmieniam tylko funkcję modelu i </a:t>
            </a:r>
            <a:r>
              <a:rPr lang="pl-PL" sz="1600" dirty="0" err="1"/>
              <a:t>ctr+c</a:t>
            </a:r>
            <a:r>
              <a:rPr lang="pl-PL" sz="1600" dirty="0"/>
              <a:t> / </a:t>
            </a:r>
            <a:r>
              <a:rPr lang="pl-PL" sz="1600" dirty="0" err="1"/>
              <a:t>ctrl+v</a:t>
            </a:r>
            <a:r>
              <a:rPr lang="pl-PL" sz="1600" dirty="0"/>
              <a:t> z poprzednich modeli.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</p:spTree>
    <p:extLst>
      <p:ext uri="{BB962C8B-B14F-4D97-AF65-F5344CB8AC3E}">
        <p14:creationId xmlns:p14="http://schemas.microsoft.com/office/powerpoint/2010/main" val="3594586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B599B-1A1D-C983-E6FC-36DD3E21C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656A62A7-48A2-EA0C-C8CE-21B3F7089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zbuduj </a:t>
            </a:r>
            <a:r>
              <a:rPr lang="pl-PL" dirty="0" err="1"/>
              <a:t>se</a:t>
            </a:r>
            <a:r>
              <a:rPr lang="pl-PL" dirty="0"/>
              <a:t> model [8] – porównajmy zbudowane modele</a:t>
            </a:r>
          </a:p>
        </p:txBody>
      </p:sp>
      <p:pic>
        <p:nvPicPr>
          <p:cNvPr id="4" name="Obraz 3" descr="Obraz zawierający roślina, kwiat, fiołek, Iris unguicularis&#10;&#10;Zawartość wygenerowana przez AI może być niepoprawna.">
            <a:extLst>
              <a:ext uri="{FF2B5EF4-FFF2-40B4-BE49-F238E27FC236}">
                <a16:creationId xmlns:a16="http://schemas.microsoft.com/office/drawing/2014/main" id="{6D6B60C8-B313-D78F-7E12-4305AF3D914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804" y="499661"/>
            <a:ext cx="3426537" cy="1197164"/>
          </a:xfrm>
          <a:prstGeom prst="rect">
            <a:avLst/>
          </a:prstGeom>
        </p:spPr>
      </p:pic>
      <p:pic>
        <p:nvPicPr>
          <p:cNvPr id="5" name="Obraz 4" descr="Obraz zawierający tekst, zrzut ekranu, numer, Czcionka&#10;&#10;Zawartość wygenerowana przez AI może być niepoprawna.">
            <a:extLst>
              <a:ext uri="{FF2B5EF4-FFF2-40B4-BE49-F238E27FC236}">
                <a16:creationId xmlns:a16="http://schemas.microsoft.com/office/drawing/2014/main" id="{4098926F-06ED-854A-FEA1-B240151DC46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93323" y="2252770"/>
            <a:ext cx="6107533" cy="2713187"/>
          </a:xfrm>
          <a:prstGeom prst="rect">
            <a:avLst/>
          </a:prstGeom>
        </p:spPr>
      </p:pic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0E332DA8-7956-2DCE-42D5-CDBF547504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41</a:t>
            </a:fld>
            <a:endParaRPr lang="pl-PL" dirty="0"/>
          </a:p>
        </p:txBody>
      </p:sp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59A304F7-52E6-1928-B00F-CDC27CC4070E}"/>
              </a:ext>
            </a:extLst>
          </p:cNvPr>
          <p:cNvSpPr txBox="1">
            <a:spLocks/>
          </p:cNvSpPr>
          <p:nvPr/>
        </p:nvSpPr>
        <p:spPr>
          <a:xfrm>
            <a:off x="358218" y="5336111"/>
            <a:ext cx="11221411" cy="1384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r>
              <a:rPr lang="pl-PL" sz="1600" dirty="0"/>
              <a:t>Jakość modeli? – to prezentacja o narzędziach, a o teorii i praktyce można czytać w </a:t>
            </a:r>
            <a:r>
              <a:rPr lang="pl-PL" sz="1600" dirty="0">
                <a:hlinkClick r:id="rId4"/>
              </a:rPr>
              <a:t>dokumentacji biblioteki </a:t>
            </a:r>
            <a:r>
              <a:rPr lang="pl-PL" sz="1600" dirty="0" err="1">
                <a:hlinkClick r:id="rId4"/>
              </a:rPr>
              <a:t>sklearn</a:t>
            </a:r>
            <a:r>
              <a:rPr lang="pl-PL" sz="1600" dirty="0"/>
              <a:t>.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r>
              <a:rPr lang="pl-PL" sz="1600" dirty="0"/>
              <a:t>Wszystkie formuły </a:t>
            </a:r>
            <a:r>
              <a:rPr lang="pl-PL" sz="1600" dirty="0" err="1"/>
              <a:t>dostępnę</a:t>
            </a:r>
            <a:r>
              <a:rPr lang="pl-PL" sz="1600" dirty="0"/>
              <a:t> są w </a:t>
            </a:r>
            <a:r>
              <a:rPr lang="pl-PL" sz="1600" dirty="0" err="1"/>
              <a:t>excelu</a:t>
            </a:r>
            <a:r>
              <a:rPr lang="pl-PL" sz="1600" dirty="0"/>
              <a:t> wstawionym na </a:t>
            </a:r>
            <a:r>
              <a:rPr lang="pl-PL" sz="1600" dirty="0" err="1"/>
              <a:t>slide</a:t>
            </a:r>
            <a:r>
              <a:rPr lang="pl-PL" sz="1600" dirty="0"/>
              <a:t> 3.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</p:spTree>
    <p:extLst>
      <p:ext uri="{BB962C8B-B14F-4D97-AF65-F5344CB8AC3E}">
        <p14:creationId xmlns:p14="http://schemas.microsoft.com/office/powerpoint/2010/main" val="42357340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A027A-C678-08E6-23C1-652542387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2A0B6EBE-70E6-C5A8-FBE0-1798687A0BF4}"/>
              </a:ext>
            </a:extLst>
          </p:cNvPr>
          <p:cNvSpPr txBox="1">
            <a:spLocks/>
          </p:cNvSpPr>
          <p:nvPr/>
        </p:nvSpPr>
        <p:spPr>
          <a:xfrm>
            <a:off x="451707" y="2680406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 dirty="0"/>
              <a:t>Dodatek 1 – filtrowanie </a:t>
            </a:r>
            <a:r>
              <a:rPr lang="pl-PL" sz="4000" b="1" dirty="0" err="1"/>
              <a:t>DataFrame</a:t>
            </a:r>
            <a:endParaRPr lang="pl-PL" sz="4000" b="1" dirty="0"/>
          </a:p>
          <a:p>
            <a:endParaRPr lang="pl-PL" b="1" dirty="0"/>
          </a:p>
        </p:txBody>
      </p:sp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8FC25FCE-D2D0-47D4-B94D-607E5A5199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42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8606708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7ACE4-22E2-06BE-98AB-7546054C2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B9804407-CF70-453A-29F1-574EE78BE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Dodatek 1 – filtrowanie </a:t>
            </a:r>
            <a:r>
              <a:rPr lang="pl-PL" dirty="0" err="1"/>
              <a:t>DataFrame</a:t>
            </a:r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7AC79B7F-BECC-88A7-B04B-FF43344B74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43</a:t>
            </a:fld>
            <a:endParaRPr lang="pl-PL" dirty="0"/>
          </a:p>
        </p:txBody>
      </p:sp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72BFAE33-6E11-7661-AD19-60522E2E62A2}"/>
              </a:ext>
            </a:extLst>
          </p:cNvPr>
          <p:cNvSpPr txBox="1">
            <a:spLocks/>
          </p:cNvSpPr>
          <p:nvPr/>
        </p:nvSpPr>
        <p:spPr>
          <a:xfrm>
            <a:off x="220844" y="575221"/>
            <a:ext cx="11221411" cy="1384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9AA4AFD5-23C0-55F6-7C7B-3CD18E7947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052025"/>
              </p:ext>
            </p:extLst>
          </p:nvPr>
        </p:nvGraphicFramePr>
        <p:xfrm>
          <a:off x="1335244" y="2085282"/>
          <a:ext cx="10487562" cy="4181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40531">
                  <a:extLst>
                    <a:ext uri="{9D8B030D-6E8A-4147-A177-3AD203B41FA5}">
                      <a16:colId xmlns:a16="http://schemas.microsoft.com/office/drawing/2014/main" val="1236496961"/>
                    </a:ext>
                  </a:extLst>
                </a:gridCol>
                <a:gridCol w="540912">
                  <a:extLst>
                    <a:ext uri="{9D8B030D-6E8A-4147-A177-3AD203B41FA5}">
                      <a16:colId xmlns:a16="http://schemas.microsoft.com/office/drawing/2014/main" val="1212540824"/>
                    </a:ext>
                  </a:extLst>
                </a:gridCol>
                <a:gridCol w="592428">
                  <a:extLst>
                    <a:ext uri="{9D8B030D-6E8A-4147-A177-3AD203B41FA5}">
                      <a16:colId xmlns:a16="http://schemas.microsoft.com/office/drawing/2014/main" val="2588579636"/>
                    </a:ext>
                  </a:extLst>
                </a:gridCol>
                <a:gridCol w="2691685">
                  <a:extLst>
                    <a:ext uri="{9D8B030D-6E8A-4147-A177-3AD203B41FA5}">
                      <a16:colId xmlns:a16="http://schemas.microsoft.com/office/drawing/2014/main" val="1832600348"/>
                    </a:ext>
                  </a:extLst>
                </a:gridCol>
                <a:gridCol w="5422006">
                  <a:extLst>
                    <a:ext uri="{9D8B030D-6E8A-4147-A177-3AD203B41FA5}">
                      <a16:colId xmlns:a16="http://schemas.microsoft.com/office/drawing/2014/main" val="380640054"/>
                    </a:ext>
                  </a:extLst>
                </a:gridCol>
              </a:tblGrid>
              <a:tr h="1849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b="1" u="none" strike="noStrike" dirty="0">
                          <a:effectLst/>
                        </a:rPr>
                        <a:t>Metoda</a:t>
                      </a:r>
                      <a:endParaRPr lang="pl-PL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b="1" u="none" strike="noStrike" dirty="0">
                          <a:effectLst/>
                        </a:rPr>
                        <a:t>Wiersze</a:t>
                      </a:r>
                      <a:endParaRPr lang="pl-PL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b="1" u="none" strike="noStrike" dirty="0">
                          <a:effectLst/>
                        </a:rPr>
                        <a:t>Kolumny</a:t>
                      </a:r>
                      <a:endParaRPr lang="pl-PL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b="1" u="none" strike="noStrike">
                          <a:effectLst/>
                        </a:rPr>
                        <a:t>Use Case </a:t>
                      </a:r>
                      <a:endParaRPr lang="pl-PL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b="1" u="none" strike="noStrike" dirty="0">
                          <a:effectLst/>
                        </a:rPr>
                        <a:t>Przykład</a:t>
                      </a:r>
                      <a:endParaRPr lang="pl-PL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03533"/>
                  </a:ext>
                </a:extLst>
              </a:tr>
              <a:tr h="19229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b="1" u="none" strike="noStrike" dirty="0" err="1">
                          <a:effectLst/>
                        </a:rPr>
                        <a:t>Boolean</a:t>
                      </a:r>
                      <a:r>
                        <a:rPr lang="pl-PL" sz="1000" b="1" u="none" strike="noStrike" dirty="0">
                          <a:effectLst/>
                        </a:rPr>
                        <a:t> / </a:t>
                      </a:r>
                      <a:r>
                        <a:rPr lang="pl-PL" sz="1000" b="1" u="none" strike="noStrike" dirty="0" err="1">
                          <a:effectLst/>
                        </a:rPr>
                        <a:t>isin</a:t>
                      </a:r>
                      <a:r>
                        <a:rPr lang="pl-PL" sz="1000" b="1" u="none" strike="noStrike" dirty="0">
                          <a:effectLst/>
                        </a:rPr>
                        <a:t> / </a:t>
                      </a:r>
                      <a:r>
                        <a:rPr lang="pl-PL" sz="1000" b="1" u="none" strike="noStrike" dirty="0" err="1">
                          <a:effectLst/>
                        </a:rPr>
                        <a:t>str</a:t>
                      </a:r>
                      <a:endParaRPr lang="pl-PL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20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+</a:t>
                      </a:r>
                      <a:endParaRPr lang="pl-PL" sz="2000" b="1" i="0" u="none" strike="noStrike" dirty="0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</a:t>
                      </a:r>
                      <a:endParaRPr lang="pl-PL" sz="20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u="none" strike="noStrike" dirty="0">
                          <a:effectLst/>
                        </a:rPr>
                        <a:t>Proste warunki, zmienne kategoryczne</a:t>
                      </a:r>
                      <a:endParaRPr lang="pl-PL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b="1" u="none" strike="noStrike" dirty="0" err="1">
                          <a:effectLst/>
                        </a:rPr>
                        <a:t>df</a:t>
                      </a:r>
                      <a:r>
                        <a:rPr lang="pl-PL" sz="1000" b="1" u="none" strike="noStrike" dirty="0">
                          <a:effectLst/>
                        </a:rPr>
                        <a:t>[</a:t>
                      </a:r>
                      <a:r>
                        <a:rPr lang="pl-PL" sz="1000" b="1" u="none" strike="noStrike" dirty="0" err="1">
                          <a:effectLst/>
                        </a:rPr>
                        <a:t>cond</a:t>
                      </a:r>
                      <a:r>
                        <a:rPr lang="pl-PL" sz="1000" b="1" u="none" strike="noStrike" dirty="0">
                          <a:effectLst/>
                        </a:rPr>
                        <a:t>]</a:t>
                      </a:r>
                      <a:br>
                        <a:rPr lang="pl-PL" sz="1000" b="1" u="none" strike="noStrike" dirty="0">
                          <a:effectLst/>
                        </a:rPr>
                      </a:br>
                      <a:r>
                        <a:rPr lang="pl-PL" sz="1000" b="1" u="none" strike="noStrike" dirty="0" err="1">
                          <a:effectLst/>
                        </a:rPr>
                        <a:t>cond</a:t>
                      </a:r>
                      <a:r>
                        <a:rPr lang="pl-PL" sz="1000" b="1" u="none" strike="noStrike" dirty="0">
                          <a:effectLst/>
                        </a:rPr>
                        <a:t> :=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u="none" strike="noStrike" dirty="0" err="1">
                          <a:effectLst/>
                        </a:rPr>
                        <a:t>df.PD</a:t>
                      </a:r>
                      <a:r>
                        <a:rPr lang="pl-PL" sz="1000" u="none" strike="noStrike" dirty="0">
                          <a:effectLst/>
                        </a:rPr>
                        <a:t>&gt;0.5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u="none" strike="noStrike" dirty="0" err="1">
                          <a:effectLst/>
                        </a:rPr>
                        <a:t>df.imie</a:t>
                      </a:r>
                      <a:r>
                        <a:rPr lang="pl-PL" sz="1000" u="none" strike="noStrike" dirty="0">
                          <a:effectLst/>
                        </a:rPr>
                        <a:t>=='Jan'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u="none" strike="noStrike" dirty="0" err="1">
                          <a:effectLst/>
                        </a:rPr>
                        <a:t>df.imie</a:t>
                      </a:r>
                      <a:r>
                        <a:rPr lang="pl-PL" sz="1000" u="none" strike="noStrike" dirty="0">
                          <a:effectLst/>
                        </a:rPr>
                        <a:t>!='Jan'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u="none" strike="noStrike" dirty="0">
                          <a:effectLst/>
                        </a:rPr>
                        <a:t>(</a:t>
                      </a:r>
                      <a:r>
                        <a:rPr lang="pl-PL" sz="1000" u="none" strike="noStrike" dirty="0" err="1">
                          <a:effectLst/>
                        </a:rPr>
                        <a:t>df.PD</a:t>
                      </a:r>
                      <a:r>
                        <a:rPr lang="pl-PL" sz="1000" u="none" strike="noStrike" dirty="0">
                          <a:effectLst/>
                        </a:rPr>
                        <a:t>&gt;0.1) | (</a:t>
                      </a:r>
                      <a:r>
                        <a:rPr lang="pl-PL" sz="1000" u="none" strike="noStrike" dirty="0" err="1">
                          <a:effectLst/>
                        </a:rPr>
                        <a:t>df.dpd</a:t>
                      </a:r>
                      <a:r>
                        <a:rPr lang="pl-PL" sz="1000" u="none" strike="noStrike" dirty="0">
                          <a:effectLst/>
                        </a:rPr>
                        <a:t>&gt;10)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u="none" strike="noStrike" dirty="0">
                          <a:effectLst/>
                        </a:rPr>
                        <a:t>(</a:t>
                      </a:r>
                      <a:r>
                        <a:rPr lang="pl-PL" sz="1000" u="none" strike="noStrike" dirty="0" err="1">
                          <a:effectLst/>
                        </a:rPr>
                        <a:t>df.PD</a:t>
                      </a:r>
                      <a:r>
                        <a:rPr lang="pl-PL" sz="1000" u="none" strike="noStrike" dirty="0">
                          <a:effectLst/>
                        </a:rPr>
                        <a:t>&gt;0.5) &amp; (</a:t>
                      </a:r>
                      <a:r>
                        <a:rPr lang="pl-PL" sz="1000" u="none" strike="noStrike" dirty="0" err="1">
                          <a:effectLst/>
                        </a:rPr>
                        <a:t>df.grupa</a:t>
                      </a:r>
                      <a:r>
                        <a:rPr lang="pl-PL" sz="1000" u="none" strike="noStrike" dirty="0">
                          <a:effectLst/>
                        </a:rPr>
                        <a:t>=='B')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u="none" strike="noStrike" dirty="0" err="1">
                          <a:effectLst/>
                        </a:rPr>
                        <a:t>df</a:t>
                      </a:r>
                      <a:r>
                        <a:rPr lang="pl-PL" sz="1000" u="none" strike="noStrike" dirty="0">
                          <a:effectLst/>
                        </a:rPr>
                        <a:t>['</a:t>
                      </a:r>
                      <a:r>
                        <a:rPr lang="pl-PL" sz="1000" u="none" strike="noStrike" dirty="0" err="1">
                          <a:effectLst/>
                        </a:rPr>
                        <a:t>imie</a:t>
                      </a:r>
                      <a:r>
                        <a:rPr lang="pl-PL" sz="1000" u="none" strike="noStrike" dirty="0">
                          <a:effectLst/>
                        </a:rPr>
                        <a:t>'].</a:t>
                      </a:r>
                      <a:r>
                        <a:rPr lang="pl-PL" sz="1000" u="none" strike="noStrike" dirty="0" err="1">
                          <a:effectLst/>
                        </a:rPr>
                        <a:t>isin</a:t>
                      </a:r>
                      <a:r>
                        <a:rPr lang="pl-PL" sz="1000" u="none" strike="noStrike" dirty="0">
                          <a:effectLst/>
                        </a:rPr>
                        <a:t>(['</a:t>
                      </a:r>
                      <a:r>
                        <a:rPr lang="pl-PL" sz="1000" u="none" strike="noStrike" dirty="0" err="1">
                          <a:effectLst/>
                        </a:rPr>
                        <a:t>Marcin','Zuzanna</a:t>
                      </a:r>
                      <a:r>
                        <a:rPr lang="pl-PL" sz="1000" u="none" strike="noStrike" dirty="0">
                          <a:effectLst/>
                        </a:rPr>
                        <a:t>'])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u="none" strike="noStrike" dirty="0" err="1">
                          <a:effectLst/>
                        </a:rPr>
                        <a:t>df</a:t>
                      </a:r>
                      <a:r>
                        <a:rPr lang="pl-PL" sz="1000" u="none" strike="noStrike" dirty="0">
                          <a:effectLst/>
                        </a:rPr>
                        <a:t>['</a:t>
                      </a:r>
                      <a:r>
                        <a:rPr lang="pl-PL" sz="1000" u="none" strike="noStrike" dirty="0" err="1">
                          <a:effectLst/>
                        </a:rPr>
                        <a:t>imie</a:t>
                      </a:r>
                      <a:r>
                        <a:rPr lang="pl-PL" sz="1000" u="none" strike="noStrike" dirty="0">
                          <a:effectLst/>
                        </a:rPr>
                        <a:t>'].</a:t>
                      </a:r>
                      <a:r>
                        <a:rPr lang="pl-PL" sz="1000" u="none" strike="noStrike" dirty="0" err="1">
                          <a:effectLst/>
                        </a:rPr>
                        <a:t>str.startswith</a:t>
                      </a:r>
                      <a:r>
                        <a:rPr lang="pl-PL" sz="1000" u="none" strike="noStrike" dirty="0">
                          <a:effectLst/>
                        </a:rPr>
                        <a:t>('J')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u="none" strike="noStrike" dirty="0" err="1">
                          <a:effectLst/>
                        </a:rPr>
                        <a:t>df</a:t>
                      </a:r>
                      <a:r>
                        <a:rPr lang="pl-PL" sz="1000" u="none" strike="noStrike" dirty="0">
                          <a:effectLst/>
                        </a:rPr>
                        <a:t>['</a:t>
                      </a:r>
                      <a:r>
                        <a:rPr lang="pl-PL" sz="1000" u="none" strike="noStrike" dirty="0" err="1">
                          <a:effectLst/>
                        </a:rPr>
                        <a:t>imie</a:t>
                      </a:r>
                      <a:r>
                        <a:rPr lang="pl-PL" sz="1000" u="none" strike="noStrike" dirty="0">
                          <a:effectLst/>
                        </a:rPr>
                        <a:t>'].</a:t>
                      </a:r>
                      <a:r>
                        <a:rPr lang="pl-PL" sz="1000" u="none" strike="noStrike" dirty="0" err="1">
                          <a:effectLst/>
                        </a:rPr>
                        <a:t>str.contains</a:t>
                      </a:r>
                      <a:r>
                        <a:rPr lang="pl-PL" sz="1000" u="none" strike="noStrike" dirty="0">
                          <a:effectLst/>
                        </a:rPr>
                        <a:t>('u')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b="1" u="none" strike="noStrike" dirty="0">
                          <a:effectLst/>
                        </a:rPr>
                        <a:t>zaprzeczenie: </a:t>
                      </a:r>
                      <a:r>
                        <a:rPr lang="pl-PL" sz="1000" u="none" strike="noStrike" dirty="0">
                          <a:effectLst/>
                        </a:rPr>
                        <a:t>~</a:t>
                      </a:r>
                      <a:r>
                        <a:rPr lang="pl-PL" sz="1000" u="none" strike="noStrike" dirty="0" err="1">
                          <a:effectLst/>
                        </a:rPr>
                        <a:t>cond</a:t>
                      </a:r>
                      <a:endParaRPr lang="pl-P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5473422"/>
                  </a:ext>
                </a:extLst>
              </a:tr>
              <a:tr h="3698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b="1" u="none" strike="noStrike" dirty="0" err="1">
                          <a:effectLst/>
                        </a:rPr>
                        <a:t>nlargest</a:t>
                      </a:r>
                      <a:r>
                        <a:rPr lang="pl-PL" sz="1000" b="1" u="none" strike="noStrike" dirty="0">
                          <a:effectLst/>
                        </a:rPr>
                        <a:t> / </a:t>
                      </a:r>
                      <a:r>
                        <a:rPr lang="pl-PL" sz="1000" b="1" u="none" strike="noStrike" dirty="0" err="1">
                          <a:effectLst/>
                        </a:rPr>
                        <a:t>nsmallest</a:t>
                      </a:r>
                      <a:endParaRPr lang="pl-PL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b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20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+</a:t>
                      </a:r>
                      <a:endParaRPr lang="pl-PL" sz="2000" b="1" i="0" u="none" strike="noStrike" dirty="0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</a:t>
                      </a:r>
                      <a:endParaRPr lang="pl-PL" sz="20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u="none" strike="noStrike" dirty="0">
                          <a:effectLst/>
                        </a:rPr>
                        <a:t>wybór największych/najmniejszych</a:t>
                      </a:r>
                      <a:endParaRPr lang="pl-PL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u="none" strike="noStrike" dirty="0" err="1">
                          <a:effectLst/>
                        </a:rPr>
                        <a:t>df.nlargest</a:t>
                      </a:r>
                      <a:r>
                        <a:rPr lang="pl-PL" sz="1000" u="none" strike="noStrike" dirty="0">
                          <a:effectLst/>
                        </a:rPr>
                        <a:t>(2, 'saldo')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u="none" strike="noStrike" dirty="0" err="1">
                          <a:effectLst/>
                        </a:rPr>
                        <a:t>df.nsmallest</a:t>
                      </a:r>
                      <a:r>
                        <a:rPr lang="pl-PL" sz="1000" u="none" strike="noStrike" dirty="0">
                          <a:effectLst/>
                        </a:rPr>
                        <a:t>(2, 'saldo')</a:t>
                      </a:r>
                      <a:endParaRPr lang="pl-P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000750"/>
                  </a:ext>
                </a:extLst>
              </a:tr>
              <a:tr h="51339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b="1" u="none" strike="noStrike" dirty="0" err="1">
                          <a:effectLst/>
                        </a:rPr>
                        <a:t>iloc</a:t>
                      </a:r>
                      <a:endParaRPr lang="pl-PL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20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+</a:t>
                      </a:r>
                      <a:endParaRPr lang="pl-PL" sz="2000" b="1" i="0" u="none" strike="noStrike" dirty="0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20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+</a:t>
                      </a:r>
                      <a:endParaRPr lang="pl-PL" sz="2000" b="1" i="0" u="none" strike="noStrike" dirty="0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u="none" strike="noStrike" dirty="0">
                          <a:effectLst/>
                        </a:rPr>
                        <a:t>Filtrowanie po pozycji/</a:t>
                      </a:r>
                      <a:r>
                        <a:rPr lang="pl-PL" sz="1000" u="none" strike="noStrike" dirty="0" err="1">
                          <a:effectLst/>
                        </a:rPr>
                        <a:t>boolean</a:t>
                      </a:r>
                      <a:r>
                        <a:rPr lang="pl-PL" sz="1000" u="none" strike="noStrike" dirty="0">
                          <a:effectLst/>
                        </a:rPr>
                        <a:t>, domyślnie po wierszach, ale można zawężać kolumny</a:t>
                      </a:r>
                      <a:endParaRPr lang="pl-PL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b="1" u="none" strike="noStrike" dirty="0">
                          <a:effectLst/>
                        </a:rPr>
                        <a:t>wiersze: </a:t>
                      </a:r>
                      <a:r>
                        <a:rPr lang="pl-PL" sz="1000" u="none" strike="noStrike" dirty="0" err="1">
                          <a:effectLst/>
                        </a:rPr>
                        <a:t>df.iloc</a:t>
                      </a:r>
                      <a:r>
                        <a:rPr lang="pl-PL" sz="1000" u="none" strike="noStrike" dirty="0">
                          <a:effectLst/>
                        </a:rPr>
                        <a:t>[2:3]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b="1" u="none" strike="noStrike" dirty="0">
                          <a:effectLst/>
                        </a:rPr>
                        <a:t>wiersze i kolumny: </a:t>
                      </a:r>
                      <a:r>
                        <a:rPr lang="pl-PL" sz="1000" u="none" strike="noStrike" dirty="0" err="1">
                          <a:effectLst/>
                        </a:rPr>
                        <a:t>df.iloc</a:t>
                      </a:r>
                      <a:r>
                        <a:rPr lang="pl-PL" sz="1000" u="none" strike="noStrike" dirty="0">
                          <a:effectLst/>
                        </a:rPr>
                        <a:t>[2:3,[0,1,4]]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b="1" u="none" strike="noStrike" dirty="0">
                          <a:effectLst/>
                        </a:rPr>
                        <a:t>po </a:t>
                      </a:r>
                      <a:r>
                        <a:rPr lang="pl-PL" sz="1000" b="1" u="none" strike="noStrike" dirty="0" err="1">
                          <a:effectLst/>
                        </a:rPr>
                        <a:t>boolean</a:t>
                      </a:r>
                      <a:r>
                        <a:rPr lang="pl-PL" sz="1000" b="1" u="none" strike="noStrike" dirty="0">
                          <a:effectLst/>
                        </a:rPr>
                        <a:t> z dowolnym </a:t>
                      </a:r>
                      <a:r>
                        <a:rPr lang="pl-PL" sz="1000" b="1" u="none" strike="noStrike" dirty="0" err="1">
                          <a:effectLst/>
                        </a:rPr>
                        <a:t>cond</a:t>
                      </a:r>
                      <a:r>
                        <a:rPr lang="pl-PL" sz="1000" b="1" u="none" strike="noStrike" dirty="0">
                          <a:effectLst/>
                        </a:rPr>
                        <a:t>: </a:t>
                      </a:r>
                      <a:r>
                        <a:rPr lang="pl-PL" sz="1000" u="none" strike="noStrike" dirty="0" err="1">
                          <a:effectLst/>
                        </a:rPr>
                        <a:t>df.iloc</a:t>
                      </a:r>
                      <a:r>
                        <a:rPr lang="pl-PL" sz="1000" u="none" strike="noStrike" dirty="0">
                          <a:effectLst/>
                        </a:rPr>
                        <a:t>[</a:t>
                      </a:r>
                      <a:r>
                        <a:rPr lang="pl-PL" sz="1000" u="none" strike="noStrike" dirty="0" err="1">
                          <a:effectLst/>
                        </a:rPr>
                        <a:t>df.index.isin</a:t>
                      </a:r>
                      <a:r>
                        <a:rPr lang="pl-PL" sz="1000" u="none" strike="noStrike" dirty="0">
                          <a:effectLst/>
                        </a:rPr>
                        <a:t>(['</a:t>
                      </a:r>
                      <a:r>
                        <a:rPr lang="pl-PL" sz="1000" u="none" strike="noStrike" dirty="0" err="1">
                          <a:effectLst/>
                        </a:rPr>
                        <a:t>a','d</a:t>
                      </a:r>
                      <a:r>
                        <a:rPr lang="pl-PL" sz="1000" u="none" strike="noStrike" dirty="0">
                          <a:effectLst/>
                        </a:rPr>
                        <a:t>']),</a:t>
                      </a:r>
                      <a:r>
                        <a:rPr lang="pl-PL" sz="1000" u="none" strike="noStrike" dirty="0" err="1">
                          <a:effectLst/>
                        </a:rPr>
                        <a:t>df.columns.isin</a:t>
                      </a:r>
                      <a:r>
                        <a:rPr lang="pl-PL" sz="1000" u="none" strike="noStrike" dirty="0">
                          <a:effectLst/>
                        </a:rPr>
                        <a:t>(['</a:t>
                      </a:r>
                      <a:r>
                        <a:rPr lang="pl-PL" sz="1000" u="none" strike="noStrike" dirty="0" err="1">
                          <a:effectLst/>
                        </a:rPr>
                        <a:t>imie</a:t>
                      </a:r>
                      <a:r>
                        <a:rPr lang="pl-PL" sz="1000" u="none" strike="noStrike" dirty="0">
                          <a:effectLst/>
                        </a:rPr>
                        <a:t>','saldo'])]</a:t>
                      </a:r>
                      <a:endParaRPr lang="pl-P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688719"/>
                  </a:ext>
                </a:extLst>
              </a:tr>
              <a:tr h="5741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b="1" u="none" strike="noStrike" dirty="0" err="1">
                          <a:effectLst/>
                        </a:rPr>
                        <a:t>loc</a:t>
                      </a:r>
                      <a:endParaRPr lang="pl-PL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20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+</a:t>
                      </a:r>
                      <a:endParaRPr lang="pl-PL" sz="2000" b="1" i="0" u="none" strike="noStrike" dirty="0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20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+</a:t>
                      </a:r>
                      <a:endParaRPr lang="pl-PL" sz="2000" b="1" i="0" u="none" strike="noStrike" dirty="0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Filtrowanie po etykietach/boolean, domyślnie  po wierszach, ale można zawężąć kolumny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b="1" u="none" strike="noStrike" dirty="0">
                          <a:effectLst/>
                        </a:rPr>
                        <a:t>wiersze: </a:t>
                      </a:r>
                      <a:r>
                        <a:rPr lang="pl-PL" sz="1000" u="none" strike="noStrike" dirty="0" err="1">
                          <a:effectLst/>
                        </a:rPr>
                        <a:t>f.loc</a:t>
                      </a:r>
                      <a:r>
                        <a:rPr lang="pl-PL" sz="1000" u="none" strike="noStrike" dirty="0">
                          <a:effectLst/>
                        </a:rPr>
                        <a:t>[['</a:t>
                      </a:r>
                      <a:r>
                        <a:rPr lang="pl-PL" sz="1000" u="none" strike="noStrike" dirty="0" err="1">
                          <a:effectLst/>
                        </a:rPr>
                        <a:t>a','b','d</a:t>
                      </a:r>
                      <a:r>
                        <a:rPr lang="pl-PL" sz="1000" u="none" strike="noStrike" dirty="0">
                          <a:effectLst/>
                        </a:rPr>
                        <a:t>']]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b="1" u="none" strike="noStrike" dirty="0">
                          <a:effectLst/>
                        </a:rPr>
                        <a:t>wiersze i kolumny: </a:t>
                      </a:r>
                      <a:r>
                        <a:rPr lang="pl-PL" sz="1000" u="none" strike="noStrike" dirty="0" err="1">
                          <a:effectLst/>
                        </a:rPr>
                        <a:t>df.loc</a:t>
                      </a:r>
                      <a:r>
                        <a:rPr lang="pl-PL" sz="1000" u="none" strike="noStrike" dirty="0">
                          <a:effectLst/>
                        </a:rPr>
                        <a:t>[['</a:t>
                      </a:r>
                      <a:r>
                        <a:rPr lang="pl-PL" sz="1000" u="none" strike="noStrike" dirty="0" err="1">
                          <a:effectLst/>
                        </a:rPr>
                        <a:t>a','d</a:t>
                      </a:r>
                      <a:r>
                        <a:rPr lang="pl-PL" sz="1000" u="none" strike="noStrike" dirty="0">
                          <a:effectLst/>
                        </a:rPr>
                        <a:t>'],['</a:t>
                      </a:r>
                      <a:r>
                        <a:rPr lang="pl-PL" sz="1000" u="none" strike="noStrike" dirty="0" err="1">
                          <a:effectLst/>
                        </a:rPr>
                        <a:t>imie</a:t>
                      </a:r>
                      <a:r>
                        <a:rPr lang="pl-PL" sz="1000" u="none" strike="noStrike" dirty="0">
                          <a:effectLst/>
                        </a:rPr>
                        <a:t>','saldo']]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b="1" u="none" strike="noStrike" dirty="0">
                          <a:effectLst/>
                        </a:rPr>
                        <a:t>po </a:t>
                      </a:r>
                      <a:r>
                        <a:rPr lang="pl-PL" sz="1000" b="1" u="none" strike="noStrike" dirty="0" err="1">
                          <a:effectLst/>
                        </a:rPr>
                        <a:t>boolean</a:t>
                      </a:r>
                      <a:r>
                        <a:rPr lang="pl-PL" sz="1000" b="1" u="none" strike="noStrike" dirty="0">
                          <a:effectLst/>
                        </a:rPr>
                        <a:t> z dowolnym </a:t>
                      </a:r>
                      <a:r>
                        <a:rPr lang="pl-PL" sz="1000" b="1" u="none" strike="noStrike" dirty="0" err="1">
                          <a:effectLst/>
                        </a:rPr>
                        <a:t>cond</a:t>
                      </a:r>
                      <a:r>
                        <a:rPr lang="pl-PL" sz="1000" b="1" u="none" strike="noStrike" dirty="0">
                          <a:effectLst/>
                        </a:rPr>
                        <a:t>: </a:t>
                      </a:r>
                      <a:r>
                        <a:rPr lang="pl-PL" sz="1000" u="none" strike="noStrike" dirty="0" err="1">
                          <a:effectLst/>
                        </a:rPr>
                        <a:t>df.iloc</a:t>
                      </a:r>
                      <a:r>
                        <a:rPr lang="pl-PL" sz="1000" u="none" strike="noStrike" dirty="0">
                          <a:effectLst/>
                        </a:rPr>
                        <a:t>[</a:t>
                      </a:r>
                      <a:r>
                        <a:rPr lang="pl-PL" sz="1000" u="none" strike="noStrike" dirty="0" err="1">
                          <a:effectLst/>
                        </a:rPr>
                        <a:t>df.index.isin</a:t>
                      </a:r>
                      <a:r>
                        <a:rPr lang="pl-PL" sz="1000" u="none" strike="noStrike" dirty="0">
                          <a:effectLst/>
                        </a:rPr>
                        <a:t>(['</a:t>
                      </a:r>
                      <a:r>
                        <a:rPr lang="pl-PL" sz="1000" u="none" strike="noStrike" dirty="0" err="1">
                          <a:effectLst/>
                        </a:rPr>
                        <a:t>a','d</a:t>
                      </a:r>
                      <a:r>
                        <a:rPr lang="pl-PL" sz="1000" u="none" strike="noStrike" dirty="0">
                          <a:effectLst/>
                        </a:rPr>
                        <a:t>']),</a:t>
                      </a:r>
                      <a:r>
                        <a:rPr lang="pl-PL" sz="1000" u="none" strike="noStrike" dirty="0" err="1">
                          <a:effectLst/>
                        </a:rPr>
                        <a:t>df.columns.isin</a:t>
                      </a:r>
                      <a:r>
                        <a:rPr lang="pl-PL" sz="1000" u="none" strike="noStrike" dirty="0">
                          <a:effectLst/>
                        </a:rPr>
                        <a:t>(['</a:t>
                      </a:r>
                      <a:r>
                        <a:rPr lang="pl-PL" sz="1000" u="none" strike="noStrike" dirty="0" err="1">
                          <a:effectLst/>
                        </a:rPr>
                        <a:t>imie</a:t>
                      </a:r>
                      <a:r>
                        <a:rPr lang="pl-PL" sz="1000" u="none" strike="noStrike" dirty="0">
                          <a:effectLst/>
                        </a:rPr>
                        <a:t>','saldo'])]</a:t>
                      </a:r>
                      <a:endParaRPr lang="pl-P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819086"/>
                  </a:ext>
                </a:extLst>
              </a:tr>
              <a:tr h="55483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b="1" u="none" strike="noStrike" dirty="0" err="1">
                          <a:effectLst/>
                        </a:rPr>
                        <a:t>query</a:t>
                      </a:r>
                      <a:r>
                        <a:rPr lang="pl-PL" sz="1000" b="1" u="none" strike="noStrike" dirty="0">
                          <a:effectLst/>
                        </a:rPr>
                        <a:t>() </a:t>
                      </a:r>
                      <a:endParaRPr lang="pl-PL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20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+</a:t>
                      </a:r>
                      <a:endParaRPr lang="pl-PL" sz="2000" b="1" i="0" u="none" strike="noStrike" dirty="0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</a:t>
                      </a:r>
                      <a:endParaRPr lang="pl-PL" sz="20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u="none" strike="noStrike" dirty="0">
                          <a:effectLst/>
                        </a:rPr>
                        <a:t>Złożone warunki i wykorzystanie zmiennych z zewnątrz przez @ w stylu podobnym dla SQL. Zoptymalizowane do dużych zbiorów, analogicznie jak </a:t>
                      </a:r>
                      <a:r>
                        <a:rPr lang="pl-PL" sz="1000" b="1" u="none" strike="noStrike" dirty="0" err="1">
                          <a:effectLst/>
                        </a:rPr>
                        <a:t>eval</a:t>
                      </a:r>
                      <a:r>
                        <a:rPr lang="pl-PL" sz="1000" b="1" u="none" strike="noStrike" dirty="0">
                          <a:effectLst/>
                        </a:rPr>
                        <a:t>()</a:t>
                      </a:r>
                      <a:r>
                        <a:rPr lang="pl-PL" sz="1000" u="none" strike="noStrike" dirty="0">
                          <a:effectLst/>
                        </a:rPr>
                        <a:t>.</a:t>
                      </a: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 err="1">
                          <a:effectLst/>
                        </a:rPr>
                        <a:t>df.query</a:t>
                      </a:r>
                      <a:r>
                        <a:rPr lang="en-US" sz="1000" u="none" strike="noStrike" dirty="0">
                          <a:effectLst/>
                        </a:rPr>
                        <a:t>('</a:t>
                      </a:r>
                      <a:r>
                        <a:rPr lang="en-US" sz="1000" u="none" strike="noStrike" dirty="0" err="1">
                          <a:effectLst/>
                        </a:rPr>
                        <a:t>imie.str.contains</a:t>
                      </a:r>
                      <a:r>
                        <a:rPr lang="en-US" sz="1000" u="none" strike="noStrike" dirty="0">
                          <a:effectLst/>
                        </a:rPr>
                        <a:t>("a") and </a:t>
                      </a:r>
                      <a:r>
                        <a:rPr lang="en-US" sz="1000" u="none" strike="noStrike" dirty="0" err="1">
                          <a:effectLst/>
                        </a:rPr>
                        <a:t>dpd</a:t>
                      </a:r>
                      <a:r>
                        <a:rPr lang="en-US" sz="1000" u="none" strike="noStrike" dirty="0">
                          <a:effectLst/>
                        </a:rPr>
                        <a:t>&gt;0')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 err="1">
                          <a:effectLst/>
                        </a:rPr>
                        <a:t>df.query</a:t>
                      </a:r>
                      <a:r>
                        <a:rPr lang="en-US" sz="1000" u="none" strike="noStrike" dirty="0">
                          <a:effectLst/>
                        </a:rPr>
                        <a:t>('PD&lt;0.1  and </a:t>
                      </a:r>
                      <a:r>
                        <a:rPr lang="en-US" sz="1000" u="none" strike="noStrike" dirty="0" err="1">
                          <a:effectLst/>
                        </a:rPr>
                        <a:t>dpd</a:t>
                      </a:r>
                      <a:r>
                        <a:rPr lang="en-US" sz="1000" u="none" strike="noStrike" dirty="0">
                          <a:effectLst/>
                        </a:rPr>
                        <a:t>&gt;0')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 err="1">
                          <a:effectLst/>
                        </a:rPr>
                        <a:t>df.query</a:t>
                      </a:r>
                      <a:r>
                        <a:rPr lang="en-US" sz="1000" u="none" strike="noStrike" dirty="0">
                          <a:effectLst/>
                        </a:rPr>
                        <a:t>('PD&lt;@zmienna_PD  and </a:t>
                      </a:r>
                      <a:r>
                        <a:rPr lang="en-US" sz="1000" u="none" strike="noStrike" dirty="0" err="1">
                          <a:effectLst/>
                        </a:rPr>
                        <a:t>dpd</a:t>
                      </a:r>
                      <a:r>
                        <a:rPr lang="en-US" sz="1000" u="none" strike="noStrike" dirty="0">
                          <a:effectLst/>
                        </a:rPr>
                        <a:t>&gt;0')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3605940"/>
                  </a:ext>
                </a:extLst>
              </a:tr>
            </a:tbl>
          </a:graphicData>
        </a:graphic>
      </p:graphicFrame>
      <p:pic>
        <p:nvPicPr>
          <p:cNvPr id="13" name="Obraz 12" descr="Obraz zawierający tekst, numer, Czcionka, zrzut ekranu&#10;&#10;Zawartość wygenerowana przez AI może być niepoprawna.">
            <a:extLst>
              <a:ext uri="{FF2B5EF4-FFF2-40B4-BE49-F238E27FC236}">
                <a16:creationId xmlns:a16="http://schemas.microsoft.com/office/drawing/2014/main" id="{4F2D12F3-E814-722E-99D0-4082FBF3E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94" y="538016"/>
            <a:ext cx="2705964" cy="140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344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A585D-E477-B527-A212-5D7F0E00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4B8F50E6-81F8-8164-6305-7AEC5DB80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Dodatek 1 – nie tylko filtrowanie </a:t>
            </a:r>
            <a:r>
              <a:rPr lang="pl-PL" dirty="0" err="1"/>
              <a:t>DataFrame</a:t>
            </a:r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C54D96C2-5FB9-391A-CD8C-2F448A1519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44</a:t>
            </a:fld>
            <a:endParaRPr lang="pl-PL" dirty="0"/>
          </a:p>
        </p:txBody>
      </p:sp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1902900A-7120-1C64-29F9-00A80A0E6689}"/>
              </a:ext>
            </a:extLst>
          </p:cNvPr>
          <p:cNvSpPr txBox="1">
            <a:spLocks/>
          </p:cNvSpPr>
          <p:nvPr/>
        </p:nvSpPr>
        <p:spPr>
          <a:xfrm>
            <a:off x="220844" y="575221"/>
            <a:ext cx="11221411" cy="1384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pic>
        <p:nvPicPr>
          <p:cNvPr id="13" name="Obraz 12" descr="Obraz zawierający tekst, numer, Czcionka, zrzut ekranu&#10;&#10;Zawartość wygenerowana przez AI może być niepoprawna.">
            <a:extLst>
              <a:ext uri="{FF2B5EF4-FFF2-40B4-BE49-F238E27FC236}">
                <a16:creationId xmlns:a16="http://schemas.microsoft.com/office/drawing/2014/main" id="{D89E5BD9-13BB-16CD-99B5-381186D7A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94" y="538016"/>
            <a:ext cx="2705964" cy="1406156"/>
          </a:xfrm>
          <a:prstGeom prst="rect">
            <a:avLst/>
          </a:prstGeom>
        </p:spPr>
      </p:pic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AEAAB01E-5D13-8AD5-017D-80E7221AB6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594199"/>
              </p:ext>
            </p:extLst>
          </p:nvPr>
        </p:nvGraphicFramePr>
        <p:xfrm>
          <a:off x="3327042" y="2121362"/>
          <a:ext cx="7366715" cy="1472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5525">
                  <a:extLst>
                    <a:ext uri="{9D8B030D-6E8A-4147-A177-3AD203B41FA5}">
                      <a16:colId xmlns:a16="http://schemas.microsoft.com/office/drawing/2014/main" val="1955141082"/>
                    </a:ext>
                  </a:extLst>
                </a:gridCol>
                <a:gridCol w="1811827">
                  <a:extLst>
                    <a:ext uri="{9D8B030D-6E8A-4147-A177-3AD203B41FA5}">
                      <a16:colId xmlns:a16="http://schemas.microsoft.com/office/drawing/2014/main" val="4284400389"/>
                    </a:ext>
                  </a:extLst>
                </a:gridCol>
                <a:gridCol w="3009363">
                  <a:extLst>
                    <a:ext uri="{9D8B030D-6E8A-4147-A177-3AD203B41FA5}">
                      <a16:colId xmlns:a16="http://schemas.microsoft.com/office/drawing/2014/main" val="2210780086"/>
                    </a:ext>
                  </a:extLst>
                </a:gridCol>
              </a:tblGrid>
              <a:tr h="2936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u="none" strike="noStrike" dirty="0">
                          <a:effectLst/>
                        </a:rPr>
                        <a:t>Metoda</a:t>
                      </a:r>
                      <a:endParaRPr lang="pl-PL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u="none" strike="noStrike" dirty="0">
                          <a:effectLst/>
                        </a:rPr>
                        <a:t>Logika</a:t>
                      </a:r>
                      <a:endParaRPr lang="pl-PL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u="none" strike="noStrike" dirty="0">
                          <a:effectLst/>
                        </a:rPr>
                        <a:t>Jak używać</a:t>
                      </a:r>
                      <a:endParaRPr lang="pl-PL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574024"/>
                  </a:ext>
                </a:extLst>
              </a:tr>
              <a:tr h="2981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00" b="1" u="none" strike="noStrike" dirty="0" err="1">
                          <a:effectLst/>
                        </a:rPr>
                        <a:t>mask</a:t>
                      </a:r>
                      <a:r>
                        <a:rPr lang="pl-PL" sz="900" b="1" u="none" strike="noStrike" dirty="0">
                          <a:effectLst/>
                        </a:rPr>
                        <a:t>(</a:t>
                      </a:r>
                      <a:r>
                        <a:rPr lang="pl-PL" sz="900" b="1" u="none" strike="noStrike" dirty="0" err="1">
                          <a:effectLst/>
                        </a:rPr>
                        <a:t>cond,output_value</a:t>
                      </a:r>
                      <a:r>
                        <a:rPr lang="pl-PL" sz="900" b="1" u="none" strike="noStrike" dirty="0">
                          <a:effectLst/>
                        </a:rPr>
                        <a:t>) </a:t>
                      </a:r>
                      <a:endParaRPr lang="pl-PL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00" u="none" strike="noStrike" dirty="0" err="1">
                          <a:effectLst/>
                        </a:rPr>
                        <a:t>cond</a:t>
                      </a:r>
                      <a:r>
                        <a:rPr lang="pl-PL" sz="900" u="none" strike="noStrike" dirty="0">
                          <a:effectLst/>
                        </a:rPr>
                        <a:t>=True --&gt; </a:t>
                      </a:r>
                      <a:r>
                        <a:rPr lang="pl-PL" sz="900" u="none" strike="noStrike" dirty="0" err="1">
                          <a:effectLst/>
                        </a:rPr>
                        <a:t>output_value</a:t>
                      </a:r>
                      <a:endParaRPr lang="pl-PL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00" u="none" strike="noStrike" dirty="0">
                          <a:effectLst/>
                        </a:rPr>
                        <a:t>zmień wartość jeżeli spełniony warunek </a:t>
                      </a:r>
                      <a:endParaRPr lang="pl-PL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3841612"/>
                  </a:ext>
                </a:extLst>
              </a:tr>
              <a:tr h="3355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00" b="1" u="none" strike="noStrike" dirty="0" err="1">
                          <a:effectLst/>
                        </a:rPr>
                        <a:t>where</a:t>
                      </a:r>
                      <a:r>
                        <a:rPr lang="pl-PL" sz="900" b="1" u="none" strike="noStrike" dirty="0">
                          <a:effectLst/>
                        </a:rPr>
                        <a:t>(</a:t>
                      </a:r>
                      <a:r>
                        <a:rPr lang="pl-PL" sz="900" b="1" u="none" strike="noStrike" dirty="0" err="1">
                          <a:effectLst/>
                        </a:rPr>
                        <a:t>cond</a:t>
                      </a:r>
                      <a:r>
                        <a:rPr lang="pl-PL" sz="900" b="1" u="none" strike="noStrike" dirty="0">
                          <a:effectLst/>
                        </a:rPr>
                        <a:t>, </a:t>
                      </a:r>
                      <a:r>
                        <a:rPr lang="pl-PL" sz="900" b="1" u="none" strike="noStrike" dirty="0" err="1">
                          <a:effectLst/>
                        </a:rPr>
                        <a:t>output_Value</a:t>
                      </a:r>
                      <a:r>
                        <a:rPr lang="pl-PL" sz="900" b="1" u="none" strike="noStrike" dirty="0">
                          <a:effectLst/>
                        </a:rPr>
                        <a:t>) </a:t>
                      </a:r>
                      <a:endParaRPr lang="pl-PL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00" u="none" strike="noStrike" dirty="0" err="1">
                          <a:effectLst/>
                        </a:rPr>
                        <a:t>cond</a:t>
                      </a:r>
                      <a:r>
                        <a:rPr lang="pl-PL" sz="900" u="none" strike="noStrike" dirty="0">
                          <a:effectLst/>
                        </a:rPr>
                        <a:t>=</a:t>
                      </a:r>
                      <a:r>
                        <a:rPr lang="pl-PL" sz="900" u="none" strike="noStrike" dirty="0" err="1">
                          <a:effectLst/>
                        </a:rPr>
                        <a:t>False</a:t>
                      </a:r>
                      <a:r>
                        <a:rPr lang="pl-PL" sz="900" u="none" strike="noStrike" dirty="0">
                          <a:effectLst/>
                        </a:rPr>
                        <a:t>  --&gt; </a:t>
                      </a:r>
                      <a:r>
                        <a:rPr lang="pl-PL" sz="900" u="none" strike="noStrike" dirty="0" err="1">
                          <a:effectLst/>
                        </a:rPr>
                        <a:t>output_value</a:t>
                      </a:r>
                      <a:endParaRPr lang="pl-PL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00" u="none" strike="noStrike" dirty="0">
                          <a:effectLst/>
                        </a:rPr>
                        <a:t>zmień wartość jeżeli warunek niespełniony</a:t>
                      </a:r>
                      <a:endParaRPr lang="pl-PL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5104153"/>
                  </a:ext>
                </a:extLst>
              </a:tr>
              <a:tr h="2097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00" b="1" u="none" strike="noStrike" dirty="0" err="1">
                          <a:effectLst/>
                        </a:rPr>
                        <a:t>np.where</a:t>
                      </a:r>
                      <a:r>
                        <a:rPr lang="pl-PL" sz="900" b="1" u="none" strike="noStrike" dirty="0">
                          <a:effectLst/>
                        </a:rPr>
                        <a:t>(</a:t>
                      </a:r>
                      <a:r>
                        <a:rPr lang="pl-PL" sz="900" b="1" u="none" strike="noStrike" dirty="0" err="1">
                          <a:effectLst/>
                        </a:rPr>
                        <a:t>cond</a:t>
                      </a:r>
                      <a:r>
                        <a:rPr lang="pl-PL" sz="900" b="1" u="none" strike="noStrike" dirty="0">
                          <a:effectLst/>
                        </a:rPr>
                        <a:t>, x, y) </a:t>
                      </a:r>
                      <a:endParaRPr lang="pl-PL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cond=True then x else y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00" u="none" strike="noStrike" dirty="0">
                          <a:effectLst/>
                        </a:rPr>
                        <a:t>odpowiednik </a:t>
                      </a:r>
                      <a:r>
                        <a:rPr lang="pl-PL" sz="900" u="none" strike="noStrike" dirty="0" err="1">
                          <a:effectLst/>
                        </a:rPr>
                        <a:t>if</a:t>
                      </a:r>
                      <a:r>
                        <a:rPr lang="pl-PL" sz="900" u="none" strike="noStrike" dirty="0">
                          <a:effectLst/>
                        </a:rPr>
                        <a:t> </a:t>
                      </a:r>
                      <a:r>
                        <a:rPr lang="pl-PL" sz="900" u="none" strike="noStrike" dirty="0" err="1">
                          <a:effectLst/>
                        </a:rPr>
                        <a:t>else</a:t>
                      </a:r>
                      <a:r>
                        <a:rPr lang="pl-PL" sz="900" u="none" strike="noStrike" dirty="0">
                          <a:effectLst/>
                        </a:rPr>
                        <a:t> / </a:t>
                      </a:r>
                      <a:r>
                        <a:rPr lang="pl-PL" sz="900" u="none" strike="noStrike" dirty="0" err="1">
                          <a:effectLst/>
                        </a:rPr>
                        <a:t>numpy</a:t>
                      </a:r>
                      <a:r>
                        <a:rPr lang="pl-PL" sz="900" u="none" strike="noStrike" dirty="0">
                          <a:effectLst/>
                        </a:rPr>
                        <a:t> tj. zoptymalizowane</a:t>
                      </a:r>
                      <a:endParaRPr lang="pl-PL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520927"/>
                  </a:ext>
                </a:extLst>
              </a:tr>
              <a:tr h="3355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 dirty="0" err="1">
                          <a:effectLst/>
                        </a:rPr>
                        <a:t>np.select</a:t>
                      </a:r>
                      <a:r>
                        <a:rPr lang="en-US" sz="900" b="1" u="none" strike="noStrike" dirty="0">
                          <a:effectLst/>
                        </a:rPr>
                        <a:t>(</a:t>
                      </a:r>
                      <a:r>
                        <a:rPr lang="en-US" sz="900" b="1" u="none" strike="noStrike" dirty="0" err="1">
                          <a:effectLst/>
                        </a:rPr>
                        <a:t>cond_list</a:t>
                      </a:r>
                      <a:r>
                        <a:rPr lang="en-US" sz="900" b="1" u="none" strike="noStrike" dirty="0">
                          <a:effectLst/>
                        </a:rPr>
                        <a:t>, </a:t>
                      </a:r>
                      <a:r>
                        <a:rPr lang="en-US" sz="900" b="1" u="none" strike="noStrike" dirty="0" err="1">
                          <a:effectLst/>
                        </a:rPr>
                        <a:t>choice_list</a:t>
                      </a:r>
                      <a:r>
                        <a:rPr lang="en-US" sz="900" b="1" u="none" strike="noStrike" dirty="0">
                          <a:effectLst/>
                        </a:rPr>
                        <a:t>, default)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cond_list[item]=True then choice_list[item] else default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00" u="none" strike="noStrike" dirty="0">
                          <a:effectLst/>
                        </a:rPr>
                        <a:t>odpowiednik </a:t>
                      </a:r>
                      <a:r>
                        <a:rPr lang="pl-PL" sz="900" u="none" strike="noStrike" dirty="0" err="1">
                          <a:effectLst/>
                        </a:rPr>
                        <a:t>case</a:t>
                      </a:r>
                      <a:r>
                        <a:rPr lang="pl-PL" sz="900" u="none" strike="noStrike" dirty="0">
                          <a:effectLst/>
                        </a:rPr>
                        <a:t> </a:t>
                      </a:r>
                      <a:r>
                        <a:rPr lang="pl-PL" sz="900" u="none" strike="noStrike" dirty="0" err="1">
                          <a:effectLst/>
                        </a:rPr>
                        <a:t>when</a:t>
                      </a:r>
                      <a:r>
                        <a:rPr lang="pl-PL" sz="900" u="none" strike="noStrike" dirty="0">
                          <a:effectLst/>
                        </a:rPr>
                        <a:t> / </a:t>
                      </a:r>
                      <a:r>
                        <a:rPr lang="pl-PL" sz="900" u="none" strike="noStrike" dirty="0" err="1">
                          <a:effectLst/>
                        </a:rPr>
                        <a:t>numpy</a:t>
                      </a:r>
                      <a:r>
                        <a:rPr lang="pl-PL" sz="900" u="none" strike="noStrike" dirty="0">
                          <a:effectLst/>
                        </a:rPr>
                        <a:t> tj. zoptymalizowane</a:t>
                      </a:r>
                      <a:endParaRPr lang="pl-PL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8762989"/>
                  </a:ext>
                </a:extLst>
              </a:tr>
            </a:tbl>
          </a:graphicData>
        </a:graphic>
      </p:graphicFrame>
      <p:pic>
        <p:nvPicPr>
          <p:cNvPr id="7" name="Obraz 6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337960FB-AB8F-5818-4BC0-A6A98CE69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794" y="4313562"/>
            <a:ext cx="4584021" cy="1763936"/>
          </a:xfrm>
          <a:prstGeom prst="rect">
            <a:avLst/>
          </a:prstGeom>
        </p:spPr>
      </p:pic>
      <p:pic>
        <p:nvPicPr>
          <p:cNvPr id="10" name="Obraz 9" descr="Obraz zawierający tekst, zrzut ekranu, numer, Czcionka&#10;&#10;Zawartość wygenerowana przez AI może być niepoprawna.">
            <a:extLst>
              <a:ext uri="{FF2B5EF4-FFF2-40B4-BE49-F238E27FC236}">
                <a16:creationId xmlns:a16="http://schemas.microsoft.com/office/drawing/2014/main" id="{DE35CBB0-F2AE-4AB3-160A-1F727E8FC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637" y="4280079"/>
            <a:ext cx="6514102" cy="176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2366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0D243-26B8-DF19-EB11-AE41D1FA1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7A9E5F5B-58D5-EA14-D188-6DFC7CA97458}"/>
              </a:ext>
            </a:extLst>
          </p:cNvPr>
          <p:cNvSpPr txBox="1">
            <a:spLocks/>
          </p:cNvSpPr>
          <p:nvPr/>
        </p:nvSpPr>
        <p:spPr>
          <a:xfrm>
            <a:off x="451707" y="2680406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 dirty="0"/>
              <a:t>Dodatek 2 – łączenie </a:t>
            </a:r>
            <a:r>
              <a:rPr lang="pl-PL" sz="4000" b="1" dirty="0" err="1"/>
              <a:t>DataFrames</a:t>
            </a:r>
            <a:endParaRPr lang="pl-PL" sz="4000" b="1" dirty="0"/>
          </a:p>
          <a:p>
            <a:endParaRPr lang="pl-PL" b="1" dirty="0"/>
          </a:p>
        </p:txBody>
      </p:sp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0833F789-EC5A-CF0E-22B5-EB4C7D5988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45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5684907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91BF8-0069-F313-BEF2-C6EF3C783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3306E8B8-01D9-69BE-9CD2-9F7F20EDA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Dodatek 2 – łączenie </a:t>
            </a:r>
            <a:r>
              <a:rPr lang="pl-PL" dirty="0" err="1"/>
              <a:t>DataFrame</a:t>
            </a:r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3F1449E7-9028-E31F-1940-87FBAE3945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46</a:t>
            </a:fld>
            <a:endParaRPr lang="pl-PL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6A31146C-4764-6C0D-1BEF-A845085043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213544"/>
              </p:ext>
            </p:extLst>
          </p:nvPr>
        </p:nvGraphicFramePr>
        <p:xfrm>
          <a:off x="2365598" y="850825"/>
          <a:ext cx="8268058" cy="2731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1322">
                  <a:extLst>
                    <a:ext uri="{9D8B030D-6E8A-4147-A177-3AD203B41FA5}">
                      <a16:colId xmlns:a16="http://schemas.microsoft.com/office/drawing/2014/main" val="4021082342"/>
                    </a:ext>
                  </a:extLst>
                </a:gridCol>
                <a:gridCol w="1552810">
                  <a:extLst>
                    <a:ext uri="{9D8B030D-6E8A-4147-A177-3AD203B41FA5}">
                      <a16:colId xmlns:a16="http://schemas.microsoft.com/office/drawing/2014/main" val="2490832237"/>
                    </a:ext>
                  </a:extLst>
                </a:gridCol>
                <a:gridCol w="1459605">
                  <a:extLst>
                    <a:ext uri="{9D8B030D-6E8A-4147-A177-3AD203B41FA5}">
                      <a16:colId xmlns:a16="http://schemas.microsoft.com/office/drawing/2014/main" val="1095276299"/>
                    </a:ext>
                  </a:extLst>
                </a:gridCol>
                <a:gridCol w="4254321">
                  <a:extLst>
                    <a:ext uri="{9D8B030D-6E8A-4147-A177-3AD203B41FA5}">
                      <a16:colId xmlns:a16="http://schemas.microsoft.com/office/drawing/2014/main" val="3856538957"/>
                    </a:ext>
                  </a:extLst>
                </a:gridCol>
              </a:tblGrid>
              <a:tr h="2351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u="none" strike="noStrike" dirty="0">
                          <a:effectLst/>
                        </a:rPr>
                        <a:t>Metoda</a:t>
                      </a:r>
                      <a:endParaRPr lang="pl-PL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u="none" strike="noStrike" dirty="0">
                          <a:effectLst/>
                        </a:rPr>
                        <a:t>Klucze</a:t>
                      </a:r>
                      <a:endParaRPr lang="pl-PL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u="none" strike="noStrike" dirty="0">
                          <a:effectLst/>
                        </a:rPr>
                        <a:t>Obiekty</a:t>
                      </a:r>
                      <a:endParaRPr lang="pl-PL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u="none" strike="noStrike" dirty="0">
                          <a:effectLst/>
                        </a:rPr>
                        <a:t>Opis</a:t>
                      </a:r>
                      <a:endParaRPr lang="pl-PL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966450"/>
                  </a:ext>
                </a:extLst>
              </a:tr>
              <a:tr h="86325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b="1" u="none" strike="noStrike" dirty="0" err="1">
                          <a:effectLst/>
                        </a:rPr>
                        <a:t>merge</a:t>
                      </a:r>
                      <a:r>
                        <a:rPr lang="pl-PL" sz="1200" b="1" u="none" strike="noStrike" dirty="0">
                          <a:effectLst/>
                        </a:rPr>
                        <a:t>() </a:t>
                      </a:r>
                      <a:endParaRPr lang="pl-PL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>
                          <a:effectLst/>
                        </a:rPr>
                        <a:t>indeksy i kolumny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 err="1">
                          <a:effectLst/>
                        </a:rPr>
                        <a:t>dataframe</a:t>
                      </a:r>
                      <a:r>
                        <a:rPr lang="pl-PL" sz="1200" u="none" strike="noStrike" dirty="0">
                          <a:effectLst/>
                        </a:rPr>
                        <a:t>, </a:t>
                      </a:r>
                      <a:r>
                        <a:rPr lang="pl-PL" sz="1200" u="none" strike="noStrike" dirty="0" err="1">
                          <a:effectLst/>
                        </a:rPr>
                        <a:t>series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 err="1">
                          <a:effectLst/>
                        </a:rPr>
                        <a:t>Merge</a:t>
                      </a:r>
                      <a:r>
                        <a:rPr lang="pl-PL" sz="1200" u="none" strike="noStrike" dirty="0">
                          <a:effectLst/>
                        </a:rPr>
                        <a:t>() ramek danych w </a:t>
                      </a:r>
                      <a:r>
                        <a:rPr lang="pl-PL" sz="1200" u="none" strike="noStrike" dirty="0" err="1">
                          <a:effectLst/>
                        </a:rPr>
                        <a:t>Pandas</a:t>
                      </a:r>
                      <a:r>
                        <a:rPr lang="pl-PL" sz="1200" u="none" strike="noStrike" dirty="0">
                          <a:effectLst/>
                        </a:rPr>
                        <a:t> jest podobne do wykonywania złączeń SQL. Jest to przydatne, gdy musimy połączyć dwie ramki danych w oparciu o wspólną kolumnę lub indeks. Funkcja </a:t>
                      </a:r>
                      <a:r>
                        <a:rPr lang="pl-PL" sz="1200" u="none" strike="noStrike" dirty="0" err="1">
                          <a:effectLst/>
                        </a:rPr>
                        <a:t>merge</a:t>
                      </a:r>
                      <a:r>
                        <a:rPr lang="pl-PL" sz="1200" u="none" strike="noStrike" dirty="0">
                          <a:effectLst/>
                        </a:rPr>
                        <a:t>() zapewnia elastyczność dla różnych typów złączeń.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224298"/>
                  </a:ext>
                </a:extLst>
              </a:tr>
              <a:tr h="86325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b="1" u="none" strike="noStrike" dirty="0" err="1">
                          <a:effectLst/>
                        </a:rPr>
                        <a:t>join</a:t>
                      </a:r>
                      <a:r>
                        <a:rPr lang="pl-PL" sz="1200" b="1" u="none" strike="noStrike" dirty="0">
                          <a:effectLst/>
                        </a:rPr>
                        <a:t>() </a:t>
                      </a:r>
                      <a:endParaRPr lang="pl-PL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>
                          <a:effectLst/>
                        </a:rPr>
                        <a:t>tylko indeksy</a:t>
                      </a:r>
                      <a:endParaRPr lang="pl-PL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 err="1">
                          <a:effectLst/>
                        </a:rPr>
                        <a:t>dataframe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>
                          <a:effectLst/>
                        </a:rPr>
                        <a:t>Metoda .</a:t>
                      </a:r>
                      <a:r>
                        <a:rPr lang="pl-PL" sz="1200" u="none" strike="noStrike" dirty="0" err="1">
                          <a:effectLst/>
                        </a:rPr>
                        <a:t>join</a:t>
                      </a:r>
                      <a:r>
                        <a:rPr lang="pl-PL" sz="1200" u="none" strike="noStrike" dirty="0">
                          <a:effectLst/>
                        </a:rPr>
                        <a:t>() w </a:t>
                      </a:r>
                      <a:r>
                        <a:rPr lang="pl-PL" sz="1200" u="none" strike="noStrike" dirty="0" err="1">
                          <a:effectLst/>
                        </a:rPr>
                        <a:t>Pandas</a:t>
                      </a:r>
                      <a:r>
                        <a:rPr lang="pl-PL" sz="1200" u="none" strike="noStrike" dirty="0">
                          <a:effectLst/>
                        </a:rPr>
                        <a:t> służy do łączenia kolumn dwóch ramek danych na podstawie ich indeksów. To prosty sposób na scalenie dwóch ramek danych, gdy relacja między nimi opiera się głównie na indeksach wierszy.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280772"/>
                  </a:ext>
                </a:extLst>
              </a:tr>
              <a:tr h="6906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b="1" u="none" strike="noStrike" dirty="0" err="1">
                          <a:effectLst/>
                        </a:rPr>
                        <a:t>concat</a:t>
                      </a:r>
                      <a:r>
                        <a:rPr lang="pl-PL" sz="1200" b="1" u="none" strike="noStrike" dirty="0">
                          <a:effectLst/>
                        </a:rPr>
                        <a:t>() </a:t>
                      </a:r>
                      <a:endParaRPr lang="pl-PL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>
                          <a:effectLst/>
                        </a:rPr>
                        <a:t>Nie dotyczy - sklejanie</a:t>
                      </a:r>
                      <a:endParaRPr lang="pl-PL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 err="1">
                          <a:effectLst/>
                        </a:rPr>
                        <a:t>dataframe</a:t>
                      </a:r>
                      <a:r>
                        <a:rPr lang="pl-PL" sz="1200" u="none" strike="noStrike" dirty="0">
                          <a:effectLst/>
                        </a:rPr>
                        <a:t>, </a:t>
                      </a:r>
                      <a:r>
                        <a:rPr lang="pl-PL" sz="1200" u="none" strike="noStrike" dirty="0" err="1">
                          <a:effectLst/>
                        </a:rPr>
                        <a:t>series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 err="1">
                          <a:effectLst/>
                        </a:rPr>
                        <a:t>Concat</a:t>
                      </a:r>
                      <a:r>
                        <a:rPr lang="pl-PL" sz="1200" u="none" strike="noStrike" dirty="0">
                          <a:effectLst/>
                        </a:rPr>
                        <a:t>() ramek danych polega na ułożeniu ich jedna na drugiej (w pionie) lub obok siebie (w poziomie). </a:t>
                      </a:r>
                    </a:p>
                    <a:p>
                      <a:pPr algn="l" fontAlgn="ctr">
                        <a:buNone/>
                      </a:pPr>
                      <a:r>
                        <a:rPr lang="pl-PL" sz="1200" u="none" strike="noStrike" dirty="0">
                          <a:effectLst/>
                        </a:rPr>
                        <a:t>Dodawania wierszy/kolumn.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051906"/>
                  </a:ext>
                </a:extLst>
              </a:tr>
            </a:tbl>
          </a:graphicData>
        </a:graphic>
      </p:graphicFrame>
      <p:sp>
        <p:nvSpPr>
          <p:cNvPr id="5" name="Symbol zastępczy zawartości 1">
            <a:extLst>
              <a:ext uri="{FF2B5EF4-FFF2-40B4-BE49-F238E27FC236}">
                <a16:creationId xmlns:a16="http://schemas.microsoft.com/office/drawing/2014/main" id="{733C1129-D477-9926-4389-D9745C7094E2}"/>
              </a:ext>
            </a:extLst>
          </p:cNvPr>
          <p:cNvSpPr txBox="1">
            <a:spLocks/>
          </p:cNvSpPr>
          <p:nvPr/>
        </p:nvSpPr>
        <p:spPr>
          <a:xfrm>
            <a:off x="2247505" y="460206"/>
            <a:ext cx="11221411" cy="3950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r>
              <a:rPr lang="pl-PL" dirty="0">
                <a:hlinkClick r:id="rId2"/>
              </a:rPr>
              <a:t>Dokumentacja</a:t>
            </a:r>
            <a:r>
              <a:rPr lang="pl-PL" dirty="0"/>
              <a:t> </a:t>
            </a:r>
            <a:r>
              <a:rPr lang="pl-PL" dirty="0" err="1"/>
              <a:t>pandas</a:t>
            </a:r>
            <a:r>
              <a:rPr lang="pl-PL" dirty="0"/>
              <a:t> o łączeniu obiektów.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pic>
        <p:nvPicPr>
          <p:cNvPr id="8" name="Obraz 7" descr="Obraz zawierający tekst, Czcionka, zrzut ekranu, dokument&#10;&#10;Zawartość wygenerowana przez AI może być niepoprawna.">
            <a:extLst>
              <a:ext uri="{FF2B5EF4-FFF2-40B4-BE49-F238E27FC236}">
                <a16:creationId xmlns:a16="http://schemas.microsoft.com/office/drawing/2014/main" id="{64B34FF2-6863-8CE4-0327-D27809A23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9" y="3610833"/>
            <a:ext cx="5081325" cy="1485254"/>
          </a:xfrm>
          <a:prstGeom prst="rect">
            <a:avLst/>
          </a:prstGeom>
        </p:spPr>
      </p:pic>
      <p:pic>
        <p:nvPicPr>
          <p:cNvPr id="10" name="Obraz 9" descr="Obraz zawierający tekst, Czcionka, zrzut ekranu, dokument&#10;&#10;Zawartość wygenerowana przez AI może być niepoprawna.">
            <a:extLst>
              <a:ext uri="{FF2B5EF4-FFF2-40B4-BE49-F238E27FC236}">
                <a16:creationId xmlns:a16="http://schemas.microsoft.com/office/drawing/2014/main" id="{27F92795-4D44-368E-106F-04D6C6E78B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5115" y="3581979"/>
            <a:ext cx="4718092" cy="1638807"/>
          </a:xfrm>
          <a:prstGeom prst="rect">
            <a:avLst/>
          </a:prstGeom>
        </p:spPr>
      </p:pic>
      <p:pic>
        <p:nvPicPr>
          <p:cNvPr id="12" name="Obraz 11" descr="Obraz zawierający krąg, diagram, design&#10;&#10;Zawartość wygenerowana przez AI może być niepoprawna.">
            <a:extLst>
              <a:ext uri="{FF2B5EF4-FFF2-40B4-BE49-F238E27FC236}">
                <a16:creationId xmlns:a16="http://schemas.microsoft.com/office/drawing/2014/main" id="{02B9DF61-C1A0-6D73-16A6-F3D25F1580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1681" y="3610833"/>
            <a:ext cx="2213336" cy="1332561"/>
          </a:xfrm>
          <a:prstGeom prst="rect">
            <a:avLst/>
          </a:prstGeom>
        </p:spPr>
      </p:pic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0BF4B35B-80D1-EFAE-E386-DF299D79BB79}"/>
              </a:ext>
            </a:extLst>
          </p:cNvPr>
          <p:cNvSpPr txBox="1">
            <a:spLocks/>
          </p:cNvSpPr>
          <p:nvPr/>
        </p:nvSpPr>
        <p:spPr>
          <a:xfrm>
            <a:off x="363586" y="5220786"/>
            <a:ext cx="3767839" cy="1439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200" dirty="0"/>
              <a:t>… i jest jeszcze funkcja </a:t>
            </a:r>
            <a:r>
              <a:rPr lang="pl-PL" sz="1200" b="1" dirty="0"/>
              <a:t>zip()</a:t>
            </a:r>
            <a:r>
              <a:rPr lang="pl-PL" sz="1200" dirty="0"/>
              <a:t>, która zwraca obiekt zip, będący </a:t>
            </a:r>
            <a:r>
              <a:rPr lang="pl-PL" sz="1200" dirty="0" err="1"/>
              <a:t>iteratorem</a:t>
            </a:r>
            <a:r>
              <a:rPr lang="pl-PL" sz="1200" dirty="0"/>
              <a:t> krotek, gdzie pierwszy element w każdym przekazanym </a:t>
            </a:r>
            <a:r>
              <a:rPr lang="pl-PL" sz="1200" dirty="0" err="1"/>
              <a:t>iteratorze</a:t>
            </a:r>
            <a:r>
              <a:rPr lang="pl-PL" sz="1200" dirty="0"/>
              <a:t> jest parowany ze sobą, a następnie drugi element w każdym przekazanym </a:t>
            </a:r>
            <a:r>
              <a:rPr lang="pl-PL" sz="1200" dirty="0" err="1"/>
              <a:t>iteratorze</a:t>
            </a:r>
            <a:r>
              <a:rPr lang="pl-PL" sz="1200" dirty="0"/>
              <a:t> jest parowany ze sobą itd.: zip(iterator1, iterator2, iterator3,….)</a:t>
            </a:r>
            <a:r>
              <a:rPr lang="pl-PL" sz="1200" b="1" dirty="0"/>
              <a:t>   </a:t>
            </a:r>
          </a:p>
          <a:p>
            <a:pPr marL="0" lvl="2" indent="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  <a:p>
            <a:pPr marL="285750" lvl="2" indent="-28575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pic>
        <p:nvPicPr>
          <p:cNvPr id="15" name="Obraz 14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7C0AC733-BE9C-DCBE-5ABE-A3677CB329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4804" y="5220786"/>
            <a:ext cx="2663201" cy="158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5354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5BA13-0DBB-9189-9634-773CE5BBF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CB766670-19E2-48CD-7668-BA19CB343440}"/>
              </a:ext>
            </a:extLst>
          </p:cNvPr>
          <p:cNvSpPr txBox="1">
            <a:spLocks/>
          </p:cNvSpPr>
          <p:nvPr/>
        </p:nvSpPr>
        <p:spPr>
          <a:xfrm>
            <a:off x="451707" y="2680406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 dirty="0"/>
              <a:t>Dodatek 3 – </a:t>
            </a:r>
            <a:r>
              <a:rPr lang="pl-PL" sz="4000" b="1" dirty="0" err="1"/>
              <a:t>groupby</a:t>
            </a:r>
            <a:endParaRPr lang="pl-PL" sz="4000" b="1" dirty="0"/>
          </a:p>
          <a:p>
            <a:endParaRPr lang="pl-PL" b="1" dirty="0"/>
          </a:p>
        </p:txBody>
      </p:sp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5C439B02-7648-8FAF-EAB6-8DF5C70BAF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47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5770185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E0691-5E86-D8D3-C0EE-B4AB500B5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E97183BE-8008-3619-9FBF-01AB967FA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Dodatek 3 – </a:t>
            </a:r>
            <a:r>
              <a:rPr lang="pl-PL" dirty="0" err="1"/>
              <a:t>groupby</a:t>
            </a:r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0DBC8370-9538-B363-580C-69666695F7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48</a:t>
            </a:fld>
            <a:endParaRPr lang="pl-PL" dirty="0"/>
          </a:p>
        </p:txBody>
      </p:sp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0842854D-245B-3DF5-28F3-4EE68C6917B9}"/>
              </a:ext>
            </a:extLst>
          </p:cNvPr>
          <p:cNvSpPr txBox="1">
            <a:spLocks/>
          </p:cNvSpPr>
          <p:nvPr/>
        </p:nvSpPr>
        <p:spPr>
          <a:xfrm>
            <a:off x="220844" y="575221"/>
            <a:ext cx="11221411" cy="1384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pic>
        <p:nvPicPr>
          <p:cNvPr id="5" name="Obraz 4" descr="Obraz zawierający tekst, zrzut ekranu, numer, Równolegle&#10;&#10;Zawartość wygenerowana przez AI może być niepoprawna.">
            <a:extLst>
              <a:ext uri="{FF2B5EF4-FFF2-40B4-BE49-F238E27FC236}">
                <a16:creationId xmlns:a16="http://schemas.microsoft.com/office/drawing/2014/main" id="{F5518F8E-D721-48F6-03CB-81E8339C5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716" y="2007445"/>
            <a:ext cx="7439057" cy="4648943"/>
          </a:xfrm>
          <a:prstGeom prst="rect">
            <a:avLst/>
          </a:prstGeom>
        </p:spPr>
      </p:pic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4B1FBF52-72EC-9552-56EF-CDBEB92B60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3199745"/>
              </p:ext>
            </p:extLst>
          </p:nvPr>
        </p:nvGraphicFramePr>
        <p:xfrm>
          <a:off x="1707915" y="653977"/>
          <a:ext cx="7607300" cy="11709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6897">
                  <a:extLst>
                    <a:ext uri="{9D8B030D-6E8A-4147-A177-3AD203B41FA5}">
                      <a16:colId xmlns:a16="http://schemas.microsoft.com/office/drawing/2014/main" val="2765616957"/>
                    </a:ext>
                  </a:extLst>
                </a:gridCol>
                <a:gridCol w="1477703">
                  <a:extLst>
                    <a:ext uri="{9D8B030D-6E8A-4147-A177-3AD203B41FA5}">
                      <a16:colId xmlns:a16="http://schemas.microsoft.com/office/drawing/2014/main" val="874167836"/>
                    </a:ext>
                  </a:extLst>
                </a:gridCol>
                <a:gridCol w="1822450">
                  <a:extLst>
                    <a:ext uri="{9D8B030D-6E8A-4147-A177-3AD203B41FA5}">
                      <a16:colId xmlns:a16="http://schemas.microsoft.com/office/drawing/2014/main" val="2707194815"/>
                    </a:ext>
                  </a:extLst>
                </a:gridCol>
                <a:gridCol w="3270250">
                  <a:extLst>
                    <a:ext uri="{9D8B030D-6E8A-4147-A177-3AD203B41FA5}">
                      <a16:colId xmlns:a16="http://schemas.microsoft.com/office/drawing/2014/main" val="2354291009"/>
                    </a:ext>
                  </a:extLst>
                </a:gridCol>
              </a:tblGrid>
              <a:tr h="2648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400" b="1" u="none" strike="noStrike" dirty="0">
                          <a:effectLst/>
                        </a:rPr>
                        <a:t>Metoda</a:t>
                      </a:r>
                      <a:endParaRPr lang="pl-PL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400" b="1" u="none" strike="noStrike" dirty="0">
                          <a:effectLst/>
                        </a:rPr>
                        <a:t>Dane wejściowe</a:t>
                      </a:r>
                      <a:endParaRPr lang="pl-PL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400" b="1" u="none" strike="noStrike" dirty="0">
                          <a:effectLst/>
                        </a:rPr>
                        <a:t>Dane wyjściowe</a:t>
                      </a:r>
                      <a:endParaRPr lang="pl-PL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400" b="1" u="none" strike="noStrike" dirty="0">
                          <a:effectLst/>
                        </a:rPr>
                        <a:t>Cel</a:t>
                      </a:r>
                      <a:endParaRPr lang="pl-PL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640481"/>
                  </a:ext>
                </a:extLst>
              </a:tr>
              <a:tr h="3041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60" u="none" strike="noStrike" dirty="0" err="1">
                          <a:effectLst/>
                        </a:rPr>
                        <a:t>agg</a:t>
                      </a:r>
                      <a:r>
                        <a:rPr lang="pl-PL" sz="960" u="none" strike="noStrike" dirty="0">
                          <a:effectLst/>
                        </a:rPr>
                        <a:t>()</a:t>
                      </a:r>
                      <a:endParaRPr lang="pl-PL" sz="96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60" u="none" strike="noStrike" dirty="0">
                          <a:effectLst/>
                        </a:rPr>
                        <a:t>N wierszy</a:t>
                      </a:r>
                      <a:endParaRPr lang="pl-PL" sz="96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60" u="none" strike="noStrike" dirty="0">
                          <a:effectLst/>
                        </a:rPr>
                        <a:t>K grup</a:t>
                      </a:r>
                      <a:endParaRPr lang="pl-PL" sz="96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60" b="1" u="none" strike="noStrike" dirty="0">
                          <a:effectLst/>
                        </a:rPr>
                        <a:t>Redukcja: </a:t>
                      </a:r>
                      <a:r>
                        <a:rPr lang="pl-PL" sz="960" u="none" strike="noStrike" dirty="0">
                          <a:effectLst/>
                        </a:rPr>
                        <a:t>Podsumowuje dane w nowej tabeli.</a:t>
                      </a:r>
                      <a:endParaRPr lang="pl-PL" sz="96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7396216"/>
                  </a:ext>
                </a:extLst>
              </a:tr>
              <a:tr h="3717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60" u="none" strike="noStrike" dirty="0" err="1">
                          <a:effectLst/>
                        </a:rPr>
                        <a:t>transform</a:t>
                      </a:r>
                      <a:r>
                        <a:rPr lang="pl-PL" sz="960" u="none" strike="noStrike" dirty="0">
                          <a:effectLst/>
                        </a:rPr>
                        <a:t>()</a:t>
                      </a:r>
                      <a:endParaRPr lang="pl-PL" sz="96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60" u="none" strike="noStrike">
                          <a:effectLst/>
                        </a:rPr>
                        <a:t>N wierszy</a:t>
                      </a:r>
                      <a:endParaRPr lang="pl-PL" sz="96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60" u="none" strike="noStrike" dirty="0">
                          <a:effectLst/>
                        </a:rPr>
                        <a:t>N wierszy</a:t>
                      </a:r>
                      <a:endParaRPr lang="pl-PL" sz="96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60" b="1" u="none" strike="noStrike" dirty="0">
                          <a:effectLst/>
                        </a:rPr>
                        <a:t>Uzupełnienie/rozszerzenie: </a:t>
                      </a:r>
                      <a:r>
                        <a:rPr lang="pl-PL" sz="960" u="none" strike="noStrike" dirty="0">
                          <a:effectLst/>
                        </a:rPr>
                        <a:t>Oblicza statystyki grupy, ale zachowuje szczegóły wiersza.</a:t>
                      </a:r>
                      <a:endParaRPr lang="pl-PL" sz="96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5705183"/>
                  </a:ext>
                </a:extLst>
              </a:tr>
              <a:tr h="2301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60" u="none" strike="noStrike" dirty="0" err="1">
                          <a:effectLst/>
                        </a:rPr>
                        <a:t>filter</a:t>
                      </a:r>
                      <a:r>
                        <a:rPr lang="pl-PL" sz="960" u="none" strike="noStrike" dirty="0">
                          <a:effectLst/>
                        </a:rPr>
                        <a:t>()</a:t>
                      </a:r>
                      <a:endParaRPr lang="pl-PL" sz="96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60" u="none" strike="noStrike">
                          <a:effectLst/>
                        </a:rPr>
                        <a:t>N wierszy</a:t>
                      </a:r>
                      <a:endParaRPr lang="pl-PL" sz="96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60" u="none" strike="noStrike">
                          <a:effectLst/>
                        </a:rPr>
                        <a:t>M wierszy (M ≤ N)</a:t>
                      </a:r>
                      <a:endParaRPr lang="pl-PL" sz="96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60" b="1" u="none" strike="noStrike" dirty="0">
                          <a:effectLst/>
                        </a:rPr>
                        <a:t>Podzbiór: </a:t>
                      </a:r>
                      <a:r>
                        <a:rPr lang="pl-PL" sz="960" u="none" strike="noStrike" dirty="0">
                          <a:effectLst/>
                        </a:rPr>
                        <a:t>Usuwa całe grupy na podstawie warunku.</a:t>
                      </a:r>
                      <a:endParaRPr lang="pl-PL" sz="96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764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35223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82046-125C-931F-629C-CAA9D6FF6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C3AE20C6-5B49-AA73-EBBC-3C9349CDD3CF}"/>
              </a:ext>
            </a:extLst>
          </p:cNvPr>
          <p:cNvSpPr txBox="1">
            <a:spLocks/>
          </p:cNvSpPr>
          <p:nvPr/>
        </p:nvSpPr>
        <p:spPr>
          <a:xfrm>
            <a:off x="451707" y="2680406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 dirty="0"/>
              <a:t>Dodatek 4 – </a:t>
            </a:r>
            <a:r>
              <a:rPr lang="pl-PL" sz="4000" b="1" dirty="0" err="1"/>
              <a:t>apply</a:t>
            </a:r>
            <a:endParaRPr lang="pl-PL" sz="4000" b="1" dirty="0"/>
          </a:p>
          <a:p>
            <a:endParaRPr lang="pl-PL" b="1" dirty="0"/>
          </a:p>
        </p:txBody>
      </p:sp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2ED2A5B0-E72F-D9BC-24C7-89D9385675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49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546269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7496F-C5EB-8103-EFB9-6E20E50C8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1B3C7FE8-7A38-44EA-1DEB-1DA6F33A0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Dodatek 4 – </a:t>
            </a:r>
            <a:r>
              <a:rPr lang="pl-PL" dirty="0" err="1"/>
              <a:t>apply</a:t>
            </a:r>
            <a:r>
              <a:rPr lang="pl-PL" dirty="0"/>
              <a:t>/map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76AB35A8-298A-CAEA-F5AF-7455347765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50</a:t>
            </a:fld>
            <a:endParaRPr lang="pl-PL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36444910-F7A3-55AC-7952-AF6AD5F2B5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774468"/>
              </p:ext>
            </p:extLst>
          </p:nvPr>
        </p:nvGraphicFramePr>
        <p:xfrm>
          <a:off x="886119" y="674854"/>
          <a:ext cx="10737129" cy="27541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4920">
                  <a:extLst>
                    <a:ext uri="{9D8B030D-6E8A-4147-A177-3AD203B41FA5}">
                      <a16:colId xmlns:a16="http://schemas.microsoft.com/office/drawing/2014/main" val="3147474423"/>
                    </a:ext>
                  </a:extLst>
                </a:gridCol>
                <a:gridCol w="1212084">
                  <a:extLst>
                    <a:ext uri="{9D8B030D-6E8A-4147-A177-3AD203B41FA5}">
                      <a16:colId xmlns:a16="http://schemas.microsoft.com/office/drawing/2014/main" val="134506305"/>
                    </a:ext>
                  </a:extLst>
                </a:gridCol>
                <a:gridCol w="845462">
                  <a:extLst>
                    <a:ext uri="{9D8B030D-6E8A-4147-A177-3AD203B41FA5}">
                      <a16:colId xmlns:a16="http://schemas.microsoft.com/office/drawing/2014/main" val="2286330859"/>
                    </a:ext>
                  </a:extLst>
                </a:gridCol>
                <a:gridCol w="1162658">
                  <a:extLst>
                    <a:ext uri="{9D8B030D-6E8A-4147-A177-3AD203B41FA5}">
                      <a16:colId xmlns:a16="http://schemas.microsoft.com/office/drawing/2014/main" val="2403263364"/>
                    </a:ext>
                  </a:extLst>
                </a:gridCol>
                <a:gridCol w="6192005">
                  <a:extLst>
                    <a:ext uri="{9D8B030D-6E8A-4147-A177-3AD203B41FA5}">
                      <a16:colId xmlns:a16="http://schemas.microsoft.com/office/drawing/2014/main" val="496648406"/>
                    </a:ext>
                  </a:extLst>
                </a:gridCol>
              </a:tblGrid>
              <a:tr h="26561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u="none" strike="noStrike" dirty="0">
                          <a:effectLst/>
                        </a:rPr>
                        <a:t>Metoda</a:t>
                      </a:r>
                      <a:endParaRPr lang="pl-PL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u="none" strike="noStrike" dirty="0">
                          <a:effectLst/>
                        </a:rPr>
                        <a:t>Zakres</a:t>
                      </a:r>
                      <a:endParaRPr lang="pl-PL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u="none" strike="noStrike" dirty="0">
                          <a:effectLst/>
                        </a:rPr>
                        <a:t>Prędkość</a:t>
                      </a:r>
                      <a:endParaRPr lang="pl-PL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Use</a:t>
                      </a:r>
                      <a:r>
                        <a:rPr lang="pl-PL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Case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u="none" strike="noStrike" dirty="0">
                          <a:effectLst/>
                        </a:rPr>
                        <a:t>Opis</a:t>
                      </a:r>
                      <a:endParaRPr lang="pl-PL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847401"/>
                  </a:ext>
                </a:extLst>
              </a:tr>
              <a:tr h="5045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b="1" u="none" strike="noStrike" dirty="0" err="1">
                          <a:effectLst/>
                        </a:rPr>
                        <a:t>apply</a:t>
                      </a:r>
                      <a:r>
                        <a:rPr lang="pl-PL" sz="1200" b="1" u="none" strike="noStrike" dirty="0">
                          <a:effectLst/>
                        </a:rPr>
                        <a:t>(</a:t>
                      </a:r>
                      <a:r>
                        <a:rPr lang="pl-PL" sz="1200" b="1" u="none" strike="noStrike" dirty="0" err="1">
                          <a:effectLst/>
                        </a:rPr>
                        <a:t>axis</a:t>
                      </a:r>
                      <a:r>
                        <a:rPr lang="pl-PL" sz="1200" b="1" u="none" strike="noStrike" dirty="0">
                          <a:effectLst/>
                        </a:rPr>
                        <a:t>=1) </a:t>
                      </a:r>
                      <a:endParaRPr lang="pl-PL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 err="1">
                          <a:effectLst/>
                        </a:rPr>
                        <a:t>Rows</a:t>
                      </a:r>
                      <a:r>
                        <a:rPr lang="pl-PL" sz="1200" u="none" strike="noStrike" dirty="0">
                          <a:effectLst/>
                        </a:rPr>
                        <a:t> 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 err="1">
                          <a:effectLst/>
                        </a:rPr>
                        <a:t>Slowest</a:t>
                      </a:r>
                      <a:r>
                        <a:rPr lang="pl-PL" sz="1200" u="none" strike="noStrike" dirty="0">
                          <a:effectLst/>
                        </a:rPr>
                        <a:t> 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Użyj funkcji na wierszu/kolumnie/</a:t>
                      </a:r>
                      <a:r>
                        <a:rPr lang="pl-PL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series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>
                          <a:effectLst/>
                        </a:rPr>
                        <a:t>Stosuje funkcje  wzdłuż osi(</a:t>
                      </a:r>
                      <a:r>
                        <a:rPr lang="pl-PL" sz="1200" u="none" strike="noStrike" dirty="0" err="1">
                          <a:effectLst/>
                        </a:rPr>
                        <a:t>axis</a:t>
                      </a:r>
                      <a:r>
                        <a:rPr lang="pl-PL" sz="1200" u="none" strike="noStrike" dirty="0">
                          <a:effectLst/>
                        </a:rPr>
                        <a:t>) </a:t>
                      </a:r>
                      <a:r>
                        <a:rPr lang="pl-PL" sz="1200" u="none" strike="noStrike" dirty="0" err="1">
                          <a:effectLst/>
                        </a:rPr>
                        <a:t>DataFrame</a:t>
                      </a:r>
                      <a:r>
                        <a:rPr lang="pl-PL" sz="1200" u="none" strike="noStrike" dirty="0">
                          <a:effectLst/>
                        </a:rPr>
                        <a:t>, tzn. stosuje funkcję wzdłuż osi (na kolumnę lub na wiersz),a funkcja </a:t>
                      </a:r>
                      <a:r>
                        <a:rPr lang="pl-PL" sz="1200" b="1" u="none" strike="noStrike" dirty="0">
                          <a:effectLst/>
                        </a:rPr>
                        <a:t>otrzymuje całą serię (wiersz/kolumnę) na raz jako argument używanej funkcji </a:t>
                      </a:r>
                      <a:r>
                        <a:rPr lang="pl-PL" sz="1200" u="none" strike="noStrike" dirty="0">
                          <a:effectLst/>
                        </a:rPr>
                        <a:t>(na przykład </a:t>
                      </a:r>
                      <a:r>
                        <a:rPr lang="pl-PL" sz="1200" u="none" strike="noStrike" dirty="0" err="1">
                          <a:effectLst/>
                        </a:rPr>
                        <a:t>np.sum</a:t>
                      </a:r>
                      <a:r>
                        <a:rPr lang="pl-PL" sz="1200" u="none" strike="noStrike" dirty="0">
                          <a:effectLst/>
                        </a:rPr>
                        <a:t> po wierszach lub kolumnach). Zoptymalizowana, gdy stosowane są funkcje </a:t>
                      </a:r>
                      <a:r>
                        <a:rPr lang="pl-PL" sz="1200" u="none" strike="noStrike" dirty="0" err="1">
                          <a:effectLst/>
                        </a:rPr>
                        <a:t>numpy</a:t>
                      </a:r>
                      <a:r>
                        <a:rPr lang="pl-PL" sz="1200" u="none" strike="noStrike" dirty="0">
                          <a:effectLst/>
                        </a:rPr>
                        <a:t>.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289956"/>
                  </a:ext>
                </a:extLst>
              </a:tr>
              <a:tr h="5045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b="1" u="none" strike="noStrike" dirty="0" err="1">
                          <a:effectLst/>
                        </a:rPr>
                        <a:t>apply</a:t>
                      </a:r>
                      <a:r>
                        <a:rPr lang="pl-PL" sz="1200" b="1" u="none" strike="noStrike" dirty="0">
                          <a:effectLst/>
                        </a:rPr>
                        <a:t>(</a:t>
                      </a:r>
                      <a:r>
                        <a:rPr lang="pl-PL" sz="1200" b="1" u="none" strike="noStrike" dirty="0" err="1">
                          <a:effectLst/>
                        </a:rPr>
                        <a:t>axis</a:t>
                      </a:r>
                      <a:r>
                        <a:rPr lang="pl-PL" sz="1200" b="1" u="none" strike="noStrike" dirty="0">
                          <a:effectLst/>
                        </a:rPr>
                        <a:t>=0) </a:t>
                      </a:r>
                      <a:endParaRPr lang="pl-PL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 err="1">
                          <a:effectLst/>
                        </a:rPr>
                        <a:t>Columns</a:t>
                      </a:r>
                      <a:r>
                        <a:rPr lang="pl-PL" sz="1200" u="none" strike="noStrike" dirty="0">
                          <a:effectLst/>
                        </a:rPr>
                        <a:t> 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>
                          <a:effectLst/>
                        </a:rPr>
                        <a:t>Medium 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640092"/>
                  </a:ext>
                </a:extLst>
              </a:tr>
              <a:tr h="9748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b="1" u="none" strike="noStrike" dirty="0">
                          <a:effectLst/>
                        </a:rPr>
                        <a:t>map </a:t>
                      </a:r>
                      <a:endParaRPr lang="pl-PL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>
                          <a:effectLst/>
                        </a:rPr>
                        <a:t>Elements - wise</a:t>
                      </a:r>
                      <a:endParaRPr lang="pl-PL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>
                          <a:effectLst/>
                        </a:rPr>
                        <a:t>Fast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Zmapuj, zastąp wartości używając funkcji lub słownika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>
                          <a:effectLst/>
                        </a:rPr>
                        <a:t>Wykonuje funkcje/mapowania po elementach </a:t>
                      </a:r>
                      <a:r>
                        <a:rPr lang="pl-PL" sz="1200" u="none" strike="noStrike" dirty="0" err="1">
                          <a:effectLst/>
                        </a:rPr>
                        <a:t>Dataframe</a:t>
                      </a:r>
                      <a:r>
                        <a:rPr lang="pl-PL" sz="1200" u="none" strike="noStrike" dirty="0">
                          <a:effectLst/>
                        </a:rPr>
                        <a:t>.  </a:t>
                      </a:r>
                      <a:r>
                        <a:rPr lang="pl-PL" sz="1200" b="1" u="none" strike="noStrike" dirty="0">
                          <a:effectLst/>
                        </a:rPr>
                        <a:t>Argumentem są skalar/</a:t>
                      </a:r>
                      <a:r>
                        <a:rPr lang="pl-PL" sz="1200" b="1" u="none" strike="noStrike" dirty="0" err="1">
                          <a:effectLst/>
                        </a:rPr>
                        <a:t>dict</a:t>
                      </a:r>
                      <a:r>
                        <a:rPr lang="pl-PL" sz="1200" b="1" u="none" strike="noStrike" dirty="0">
                          <a:effectLst/>
                        </a:rPr>
                        <a:t>/</a:t>
                      </a:r>
                      <a:r>
                        <a:rPr lang="pl-PL" sz="1200" b="1" u="none" strike="noStrike" dirty="0" err="1">
                          <a:effectLst/>
                        </a:rPr>
                        <a:t>series</a:t>
                      </a:r>
                      <a:r>
                        <a:rPr lang="pl-PL" sz="1200" b="1" u="none" strike="noStrike" dirty="0">
                          <a:effectLst/>
                        </a:rPr>
                        <a:t>/funkcje </a:t>
                      </a:r>
                      <a:r>
                        <a:rPr lang="pl-PL" sz="1200" u="none" strike="noStrike" dirty="0">
                          <a:effectLst/>
                        </a:rPr>
                        <a:t>i zwracają wartość do każdego elementu </a:t>
                      </a:r>
                      <a:r>
                        <a:rPr lang="pl-PL" sz="1200" u="none" strike="noStrike" dirty="0" err="1">
                          <a:effectLst/>
                        </a:rPr>
                        <a:t>DataFrame</a:t>
                      </a:r>
                      <a:r>
                        <a:rPr lang="pl-PL" sz="1200" u="none" strike="noStrike" dirty="0">
                          <a:effectLst/>
                        </a:rPr>
                        <a:t>. Zoptymalizowane do mapowania i </a:t>
                      </a:r>
                      <a:r>
                        <a:rPr lang="pl-PL" sz="1200" u="none" strike="noStrike" dirty="0" err="1">
                          <a:effectLst/>
                        </a:rPr>
                        <a:t>tranformowania</a:t>
                      </a:r>
                      <a:r>
                        <a:rPr lang="pl-PL" sz="1200" u="none" strike="noStrike" dirty="0">
                          <a:effectLst/>
                        </a:rPr>
                        <a:t> po elementach jak otrzymuje argumenty w </a:t>
                      </a:r>
                      <a:r>
                        <a:rPr lang="pl-PL" sz="1200" u="none" strike="noStrike" dirty="0" err="1">
                          <a:effectLst/>
                        </a:rPr>
                        <a:t>postacji</a:t>
                      </a:r>
                      <a:r>
                        <a:rPr lang="pl-PL" sz="1200" u="none" strike="noStrike" dirty="0">
                          <a:effectLst/>
                        </a:rPr>
                        <a:t> </a:t>
                      </a:r>
                      <a:r>
                        <a:rPr lang="pl-PL" sz="1200" u="none" strike="noStrike" dirty="0" err="1">
                          <a:effectLst/>
                        </a:rPr>
                        <a:t>dict</a:t>
                      </a:r>
                      <a:r>
                        <a:rPr lang="pl-PL" sz="1200" u="none" strike="noStrike" dirty="0">
                          <a:effectLst/>
                        </a:rPr>
                        <a:t>/</a:t>
                      </a:r>
                      <a:r>
                        <a:rPr lang="pl-PL" sz="1200" u="none" strike="noStrike" dirty="0" err="1">
                          <a:effectLst/>
                        </a:rPr>
                        <a:t>series</a:t>
                      </a:r>
                      <a:r>
                        <a:rPr lang="pl-PL" sz="1200" u="none" strike="noStrike" dirty="0">
                          <a:effectLst/>
                        </a:rPr>
                        <a:t>.</a:t>
                      </a:r>
                    </a:p>
                    <a:p>
                      <a:pPr algn="l" fontAlgn="ctr">
                        <a:buNone/>
                      </a:pP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252131"/>
                  </a:ext>
                </a:extLst>
              </a:tr>
              <a:tr h="5045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b="1" u="none" strike="noStrike" dirty="0" err="1">
                          <a:effectLst/>
                        </a:rPr>
                        <a:t>Vectorized</a:t>
                      </a:r>
                      <a:r>
                        <a:rPr lang="pl-PL" sz="1200" b="1" u="none" strike="noStrike" dirty="0">
                          <a:effectLst/>
                        </a:rPr>
                        <a:t> </a:t>
                      </a:r>
                      <a:endParaRPr lang="pl-PL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>
                          <a:effectLst/>
                        </a:rPr>
                        <a:t>Native </a:t>
                      </a:r>
                      <a:endParaRPr lang="pl-PL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 err="1">
                          <a:effectLst/>
                        </a:rPr>
                        <a:t>Fastest</a:t>
                      </a:r>
                      <a:r>
                        <a:rPr lang="pl-PL" sz="1200" u="none" strike="noStrike" dirty="0">
                          <a:effectLst/>
                        </a:rPr>
                        <a:t> 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>
                          <a:effectLst/>
                        </a:rPr>
                        <a:t>Wykorzystuje funkcjonalności języka i najczęściej wykorzystuje wiele operacji na raz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9800218"/>
                  </a:ext>
                </a:extLst>
              </a:tr>
            </a:tbl>
          </a:graphicData>
        </a:graphic>
      </p:graphicFrame>
      <p:pic>
        <p:nvPicPr>
          <p:cNvPr id="7" name="Obraz 6" descr="Obraz zawierający tekst, Czcionka, zrzut ekranu&#10;&#10;Zawartość wygenerowana przez AI może być niepoprawna.">
            <a:extLst>
              <a:ext uri="{FF2B5EF4-FFF2-40B4-BE49-F238E27FC236}">
                <a16:creationId xmlns:a16="http://schemas.microsoft.com/office/drawing/2014/main" id="{B11CEAC9-8D65-D889-B78A-8C6DA415B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73" y="3486126"/>
            <a:ext cx="5336771" cy="1716197"/>
          </a:xfrm>
          <a:prstGeom prst="rect">
            <a:avLst/>
          </a:prstGeom>
        </p:spPr>
      </p:pic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40C5048B-31C2-3687-FE6C-EE2C655257A1}"/>
              </a:ext>
            </a:extLst>
          </p:cNvPr>
          <p:cNvSpPr txBox="1">
            <a:spLocks/>
          </p:cNvSpPr>
          <p:nvPr/>
        </p:nvSpPr>
        <p:spPr>
          <a:xfrm>
            <a:off x="520360" y="5299218"/>
            <a:ext cx="2808887" cy="1384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r>
              <a:rPr lang="pl-PL" dirty="0"/>
              <a:t>W przypadku metody </a:t>
            </a:r>
            <a:r>
              <a:rPr lang="pl-PL" b="1" dirty="0"/>
              <a:t>map</a:t>
            </a:r>
            <a:r>
              <a:rPr lang="pl-PL" dirty="0"/>
              <a:t> dla </a:t>
            </a:r>
            <a:r>
              <a:rPr lang="pl-PL" dirty="0" err="1"/>
              <a:t>dict</a:t>
            </a:r>
            <a:r>
              <a:rPr lang="pl-PL" dirty="0"/>
              <a:t>, pamiętaj o możliwościach </a:t>
            </a:r>
            <a:r>
              <a:rPr lang="pl-PL" b="1" dirty="0" err="1"/>
              <a:t>replace</a:t>
            </a:r>
            <a:r>
              <a:rPr lang="pl-PL" b="1" dirty="0"/>
              <a:t> z wyrażeniami regularnymi </a:t>
            </a:r>
            <a:r>
              <a:rPr lang="pl-PL" dirty="0"/>
              <a:t>(patrz wcześniej przykład dla poprawiania dat). 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pic>
        <p:nvPicPr>
          <p:cNvPr id="10" name="Obraz 9" descr="Obraz zawierający tekst, zrzut ekranu, Czcionka, linia&#10;&#10;Zawartość wygenerowana przez AI może być niepoprawna.">
            <a:extLst>
              <a:ext uri="{FF2B5EF4-FFF2-40B4-BE49-F238E27FC236}">
                <a16:creationId xmlns:a16="http://schemas.microsoft.com/office/drawing/2014/main" id="{B693C78B-38C0-D155-1493-7607AE8FE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5807" y="5259450"/>
            <a:ext cx="3380589" cy="1101540"/>
          </a:xfrm>
          <a:prstGeom prst="rect">
            <a:avLst/>
          </a:prstGeom>
        </p:spPr>
      </p:pic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6F83ED6F-9AC3-8D31-3C56-EAD695D42E21}"/>
              </a:ext>
            </a:extLst>
          </p:cNvPr>
          <p:cNvSpPr txBox="1">
            <a:spLocks/>
          </p:cNvSpPr>
          <p:nvPr/>
        </p:nvSpPr>
        <p:spPr>
          <a:xfrm>
            <a:off x="6774302" y="3537599"/>
            <a:ext cx="5004831" cy="1384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r>
              <a:rPr lang="pl-PL" b="1" dirty="0" err="1"/>
              <a:t>Vectorized</a:t>
            </a:r>
            <a:r>
              <a:rPr lang="pl-PL" dirty="0"/>
              <a:t> – jeżeli logika operacji pozwala na podejście wektorowe do obliczeń, to najczęściej otrzymujesz duży uzysk czasowy na operacji.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cxnSp>
        <p:nvCxnSpPr>
          <p:cNvPr id="9" name="Łącznik prosty 8">
            <a:extLst>
              <a:ext uri="{FF2B5EF4-FFF2-40B4-BE49-F238E27FC236}">
                <a16:creationId xmlns:a16="http://schemas.microsoft.com/office/drawing/2014/main" id="{92524DBA-0F43-EED2-F32F-74651BCC25F4}"/>
              </a:ext>
            </a:extLst>
          </p:cNvPr>
          <p:cNvCxnSpPr/>
          <p:nvPr/>
        </p:nvCxnSpPr>
        <p:spPr>
          <a:xfrm>
            <a:off x="6587836" y="3566427"/>
            <a:ext cx="0" cy="29549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Obraz 11" descr="Obraz zawierający tekst, zrzut ekranu, Czcionka, linia&#10;&#10;Zawartość wygenerowana przez AI może być niepoprawna.">
            <a:extLst>
              <a:ext uri="{FF2B5EF4-FFF2-40B4-BE49-F238E27FC236}">
                <a16:creationId xmlns:a16="http://schemas.microsoft.com/office/drawing/2014/main" id="{0ABEE260-1CA0-EB4E-E1B5-67F2638E4E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3286" y="4344224"/>
            <a:ext cx="3677163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4414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E4045-1787-C21D-E312-D07CE0F16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C30F5FC0-B8A4-4DD3-3228-39963EFB7FF1}"/>
              </a:ext>
            </a:extLst>
          </p:cNvPr>
          <p:cNvSpPr txBox="1">
            <a:spLocks/>
          </p:cNvSpPr>
          <p:nvPr/>
        </p:nvSpPr>
        <p:spPr>
          <a:xfrm>
            <a:off x="451707" y="2680406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 dirty="0"/>
              <a:t>Dodatek 5 – one-</a:t>
            </a:r>
            <a:r>
              <a:rPr lang="pl-PL" sz="4000" b="1" dirty="0" err="1"/>
              <a:t>liner’y</a:t>
            </a:r>
            <a:endParaRPr lang="pl-PL" sz="4000" b="1" dirty="0"/>
          </a:p>
          <a:p>
            <a:endParaRPr lang="pl-PL" b="1" dirty="0"/>
          </a:p>
        </p:txBody>
      </p:sp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B4401279-3D15-1C5A-674A-BAED3FD960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51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8218186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87533-13C1-C1F4-8C24-02CF8096C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82049B6D-8342-DC21-3DBF-7E72F7F06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Dodatek 5 – one-</a:t>
            </a:r>
            <a:r>
              <a:rPr lang="pl-PL" dirty="0" err="1"/>
              <a:t>liner’y</a:t>
            </a:r>
            <a:r>
              <a:rPr lang="pl-PL" dirty="0"/>
              <a:t> EDA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8279BFF4-3856-9E53-5FAC-81FEDC0C71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52</a:t>
            </a:fld>
            <a:endParaRPr lang="pl-PL" dirty="0"/>
          </a:p>
        </p:txBody>
      </p:sp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736B76D0-9D9A-5A7A-149A-8E4BC2055804}"/>
              </a:ext>
            </a:extLst>
          </p:cNvPr>
          <p:cNvSpPr txBox="1">
            <a:spLocks/>
          </p:cNvSpPr>
          <p:nvPr/>
        </p:nvSpPr>
        <p:spPr>
          <a:xfrm>
            <a:off x="196163" y="444731"/>
            <a:ext cx="4479746" cy="6274416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#Read </a:t>
            </a:r>
            <a:r>
              <a:rPr lang="pl-PL" dirty="0" err="1">
                <a:solidFill>
                  <a:srgbClr val="00B050"/>
                </a:solidFill>
              </a:rPr>
              <a:t>Only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What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You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Need</a:t>
            </a: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/>
              <a:t>df</a:t>
            </a:r>
            <a:r>
              <a:rPr lang="pl-PL" dirty="0"/>
              <a:t> = </a:t>
            </a:r>
            <a:r>
              <a:rPr lang="pl-PL" dirty="0" err="1"/>
              <a:t>pd.read_csv</a:t>
            </a:r>
            <a:r>
              <a:rPr lang="pl-PL" dirty="0"/>
              <a:t>("big.csv", </a:t>
            </a:r>
            <a:r>
              <a:rPr lang="pl-PL" dirty="0" err="1"/>
              <a:t>usecols</a:t>
            </a:r>
            <a:r>
              <a:rPr lang="pl-PL" dirty="0"/>
              <a:t>=["id", "</a:t>
            </a:r>
            <a:r>
              <a:rPr lang="pl-PL" dirty="0" err="1"/>
              <a:t>total</a:t>
            </a:r>
            <a:r>
              <a:rPr lang="pl-PL" dirty="0"/>
              <a:t>", "</a:t>
            </a:r>
            <a:r>
              <a:rPr lang="pl-PL" dirty="0" err="1"/>
              <a:t>date</a:t>
            </a:r>
            <a:r>
              <a:rPr lang="pl-PL" dirty="0"/>
              <a:t>"], </a:t>
            </a:r>
            <a:r>
              <a:rPr lang="pl-PL" dirty="0" err="1"/>
              <a:t>dtype_backend</a:t>
            </a:r>
            <a:r>
              <a:rPr lang="pl-PL" dirty="0"/>
              <a:t>="</a:t>
            </a:r>
            <a:r>
              <a:rPr lang="pl-PL" dirty="0" err="1"/>
              <a:t>pyarrow</a:t>
            </a:r>
            <a:r>
              <a:rPr lang="pl-PL" dirty="0"/>
              <a:t>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#Load </a:t>
            </a:r>
            <a:r>
              <a:rPr lang="pl-PL" dirty="0" err="1">
                <a:solidFill>
                  <a:srgbClr val="00B050"/>
                </a:solidFill>
              </a:rPr>
              <a:t>excel</a:t>
            </a:r>
            <a:r>
              <a:rPr lang="pl-PL" dirty="0">
                <a:solidFill>
                  <a:srgbClr val="00B050"/>
                </a:solidFill>
              </a:rPr>
              <a:t> data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/>
              <a:t>df</a:t>
            </a:r>
            <a:r>
              <a:rPr lang="pl-PL" dirty="0"/>
              <a:t> = </a:t>
            </a:r>
            <a:r>
              <a:rPr lang="pl-PL" dirty="0" err="1"/>
              <a:t>pd.read_excel</a:t>
            </a:r>
            <a:r>
              <a:rPr lang="pl-PL" dirty="0"/>
              <a:t>('portfolio.xlsx', </a:t>
            </a:r>
            <a:r>
              <a:rPr lang="pl-PL" dirty="0" err="1"/>
              <a:t>sheet_name</a:t>
            </a:r>
            <a:r>
              <a:rPr lang="pl-PL" dirty="0"/>
              <a:t>='</a:t>
            </a:r>
            <a:r>
              <a:rPr lang="pl-PL" dirty="0" err="1"/>
              <a:t>RiskData</a:t>
            </a:r>
            <a:r>
              <a:rPr lang="pl-PL" dirty="0"/>
              <a:t>')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#Get Memory </a:t>
            </a:r>
            <a:r>
              <a:rPr lang="pl-PL" dirty="0" err="1">
                <a:solidFill>
                  <a:srgbClr val="00B050"/>
                </a:solidFill>
              </a:rPr>
              <a:t>Usage</a:t>
            </a:r>
            <a:r>
              <a:rPr lang="pl-PL" dirty="0">
                <a:solidFill>
                  <a:srgbClr val="00B050"/>
                </a:solidFill>
              </a:rPr>
              <a:t> in MB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/>
              <a:t>df.memory_usage</a:t>
            </a:r>
            <a:r>
              <a:rPr lang="pl-PL" dirty="0"/>
              <a:t>(</a:t>
            </a:r>
            <a:r>
              <a:rPr lang="pl-PL" dirty="0" err="1"/>
              <a:t>deep</a:t>
            </a:r>
            <a:r>
              <a:rPr lang="pl-PL" dirty="0"/>
              <a:t>=True).sum() / 1_048_576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500" dirty="0">
                <a:solidFill>
                  <a:srgbClr val="00B050"/>
                </a:solidFill>
              </a:rPr>
              <a:t>#Full Data </a:t>
            </a:r>
            <a:r>
              <a:rPr lang="pl-PL" sz="1500" dirty="0" err="1">
                <a:solidFill>
                  <a:srgbClr val="00B050"/>
                </a:solidFill>
              </a:rPr>
              <a:t>Summary</a:t>
            </a:r>
            <a:r>
              <a:rPr lang="pl-PL" sz="1500" dirty="0">
                <a:solidFill>
                  <a:srgbClr val="00B050"/>
                </a:solidFill>
              </a:rPr>
              <a:t> in One Line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/>
              <a:t>df.describe</a:t>
            </a:r>
            <a:r>
              <a:rPr lang="pl-PL" dirty="0"/>
              <a:t>(</a:t>
            </a:r>
            <a:r>
              <a:rPr lang="pl-PL" dirty="0" err="1"/>
              <a:t>include</a:t>
            </a:r>
            <a:r>
              <a:rPr lang="pl-PL" dirty="0"/>
              <a:t>="</a:t>
            </a:r>
            <a:r>
              <a:rPr lang="pl-PL" dirty="0" err="1"/>
              <a:t>all</a:t>
            </a:r>
            <a:r>
              <a:rPr lang="pl-PL" dirty="0"/>
              <a:t>", </a:t>
            </a:r>
            <a:r>
              <a:rPr lang="pl-PL" dirty="0" err="1"/>
              <a:t>datetime_is_numeric</a:t>
            </a:r>
            <a:r>
              <a:rPr lang="pl-PL" dirty="0"/>
              <a:t>=True)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500" dirty="0">
                <a:solidFill>
                  <a:srgbClr val="00B050"/>
                </a:solidFill>
              </a:rPr>
              <a:t>#Categorical </a:t>
            </a:r>
            <a:r>
              <a:rPr lang="pl-PL" sz="1500" dirty="0" err="1">
                <a:solidFill>
                  <a:srgbClr val="00B050"/>
                </a:solidFill>
              </a:rPr>
              <a:t>Overview</a:t>
            </a:r>
            <a:r>
              <a:rPr lang="pl-PL" sz="1500" dirty="0">
                <a:solidFill>
                  <a:srgbClr val="00B050"/>
                </a:solidFill>
              </a:rPr>
              <a:t>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/>
              <a:t>df.select_dtypes</a:t>
            </a:r>
            <a:r>
              <a:rPr lang="pl-PL" dirty="0"/>
              <a:t>(</a:t>
            </a:r>
            <a:r>
              <a:rPr lang="pl-PL" dirty="0" err="1"/>
              <a:t>include</a:t>
            </a:r>
            <a:r>
              <a:rPr lang="pl-PL" dirty="0"/>
              <a:t>='</a:t>
            </a:r>
            <a:r>
              <a:rPr lang="pl-PL" dirty="0" err="1"/>
              <a:t>object</a:t>
            </a:r>
            <a:r>
              <a:rPr lang="pl-PL" dirty="0"/>
              <a:t>').</a:t>
            </a:r>
            <a:r>
              <a:rPr lang="pl-PL" dirty="0" err="1"/>
              <a:t>nunique</a:t>
            </a:r>
            <a:r>
              <a:rPr lang="pl-PL" dirty="0"/>
              <a:t>()  # </a:t>
            </a:r>
            <a:r>
              <a:rPr lang="pl-PL" dirty="0" err="1"/>
              <a:t>Unique</a:t>
            </a:r>
            <a:r>
              <a:rPr lang="pl-PL" dirty="0"/>
              <a:t> </a:t>
            </a:r>
            <a:r>
              <a:rPr lang="pl-PL" dirty="0" err="1"/>
              <a:t>cats</a:t>
            </a:r>
            <a:r>
              <a:rPr lang="pl-PL" dirty="0"/>
              <a:t> per </a:t>
            </a:r>
            <a:r>
              <a:rPr lang="pl-PL" dirty="0" err="1"/>
              <a:t>column</a:t>
            </a: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500" dirty="0">
                <a:solidFill>
                  <a:srgbClr val="00B050"/>
                </a:solidFill>
              </a:rPr>
              <a:t>#Data </a:t>
            </a:r>
            <a:r>
              <a:rPr lang="pl-PL" sz="1500" dirty="0" err="1">
                <a:solidFill>
                  <a:srgbClr val="00B050"/>
                </a:solidFill>
              </a:rPr>
              <a:t>frame</a:t>
            </a:r>
            <a:r>
              <a:rPr lang="pl-PL" sz="1500" dirty="0">
                <a:solidFill>
                  <a:srgbClr val="00B050"/>
                </a:solidFill>
              </a:rPr>
              <a:t> </a:t>
            </a:r>
            <a:r>
              <a:rPr lang="pl-PL" sz="1500" dirty="0" err="1">
                <a:solidFill>
                  <a:srgbClr val="00B050"/>
                </a:solidFill>
              </a:rPr>
              <a:t>inspection</a:t>
            </a:r>
            <a:endParaRPr lang="pl-PL" sz="15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/>
              <a:t>df.info()  # </a:t>
            </a:r>
            <a:r>
              <a:rPr lang="pl-PL" dirty="0" err="1"/>
              <a:t>Shape</a:t>
            </a:r>
            <a:r>
              <a:rPr lang="pl-PL" dirty="0"/>
              <a:t>, </a:t>
            </a:r>
            <a:r>
              <a:rPr lang="pl-PL" dirty="0" err="1"/>
              <a:t>dtypes</a:t>
            </a:r>
            <a:r>
              <a:rPr lang="pl-PL" dirty="0"/>
              <a:t>, </a:t>
            </a:r>
            <a:r>
              <a:rPr lang="pl-PL" dirty="0" err="1"/>
              <a:t>memory</a:t>
            </a:r>
            <a:r>
              <a:rPr lang="pl-PL" dirty="0"/>
              <a:t>, non-</a:t>
            </a:r>
            <a:r>
              <a:rPr lang="pl-PL" dirty="0" err="1"/>
              <a:t>null</a:t>
            </a:r>
            <a:r>
              <a:rPr lang="pl-PL" dirty="0"/>
              <a:t> </a:t>
            </a:r>
            <a:r>
              <a:rPr lang="pl-PL" dirty="0" err="1"/>
              <a:t>counts</a:t>
            </a: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500" dirty="0">
                <a:solidFill>
                  <a:srgbClr val="00B050"/>
                </a:solidFill>
              </a:rPr>
              <a:t>#Missing </a:t>
            </a:r>
            <a:r>
              <a:rPr lang="pl-PL" sz="1500" dirty="0" err="1">
                <a:solidFill>
                  <a:srgbClr val="00B050"/>
                </a:solidFill>
              </a:rPr>
              <a:t>Values</a:t>
            </a:r>
            <a:r>
              <a:rPr lang="pl-PL" sz="1500" dirty="0">
                <a:solidFill>
                  <a:srgbClr val="00B050"/>
                </a:solidFill>
              </a:rPr>
              <a:t> </a:t>
            </a:r>
            <a:r>
              <a:rPr lang="pl-PL" sz="1500" dirty="0" err="1">
                <a:solidFill>
                  <a:srgbClr val="00B050"/>
                </a:solidFill>
              </a:rPr>
              <a:t>Check</a:t>
            </a:r>
            <a:r>
              <a:rPr lang="pl-PL" sz="1500" dirty="0">
                <a:solidFill>
                  <a:srgbClr val="00B050"/>
                </a:solidFill>
              </a:rPr>
              <a:t>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/>
              <a:t>df.isna</a:t>
            </a:r>
            <a:r>
              <a:rPr lang="pl-PL" dirty="0"/>
              <a:t>().sum()  # </a:t>
            </a:r>
            <a:r>
              <a:rPr lang="pl-PL" dirty="0" err="1"/>
              <a:t>Count</a:t>
            </a:r>
            <a:r>
              <a:rPr lang="pl-PL" dirty="0"/>
              <a:t> </a:t>
            </a:r>
            <a:r>
              <a:rPr lang="pl-PL" dirty="0" err="1"/>
              <a:t>NaNs</a:t>
            </a:r>
            <a:r>
              <a:rPr lang="pl-PL" dirty="0"/>
              <a:t> per </a:t>
            </a:r>
            <a:r>
              <a:rPr lang="pl-PL" dirty="0" err="1"/>
              <a:t>column</a:t>
            </a:r>
            <a:r>
              <a:rPr lang="pl-PL" dirty="0"/>
              <a:t>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/>
              <a:t>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500" dirty="0">
                <a:solidFill>
                  <a:srgbClr val="00B050"/>
                </a:solidFill>
              </a:rPr>
              <a:t>#Missing Data </a:t>
            </a:r>
            <a:r>
              <a:rPr lang="pl-PL" sz="1500" dirty="0" err="1">
                <a:solidFill>
                  <a:srgbClr val="00B050"/>
                </a:solidFill>
              </a:rPr>
              <a:t>replace</a:t>
            </a:r>
            <a:r>
              <a:rPr lang="pl-PL" sz="1500" dirty="0">
                <a:solidFill>
                  <a:srgbClr val="00B050"/>
                </a:solidFill>
              </a:rPr>
              <a:t>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/>
              <a:t>df</a:t>
            </a:r>
            <a:r>
              <a:rPr lang="pl-PL" dirty="0"/>
              <a:t> = </a:t>
            </a:r>
            <a:r>
              <a:rPr lang="pl-PL" dirty="0" err="1"/>
              <a:t>df.fillna</a:t>
            </a:r>
            <a:r>
              <a:rPr lang="pl-PL" dirty="0"/>
              <a:t>(</a:t>
            </a:r>
            <a:r>
              <a:rPr lang="pl-PL" dirty="0" err="1"/>
              <a:t>df.median</a:t>
            </a:r>
            <a:r>
              <a:rPr lang="pl-PL" dirty="0"/>
              <a:t>(</a:t>
            </a:r>
            <a:r>
              <a:rPr lang="pl-PL" dirty="0" err="1"/>
              <a:t>numeric_only</a:t>
            </a:r>
            <a:r>
              <a:rPr lang="pl-PL" dirty="0"/>
              <a:t>=True))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500" dirty="0">
                <a:solidFill>
                  <a:srgbClr val="00B050"/>
                </a:solidFill>
              </a:rPr>
              <a:t>#Duplicates </a:t>
            </a:r>
            <a:r>
              <a:rPr lang="pl-PL" sz="1500" dirty="0" err="1">
                <a:solidFill>
                  <a:srgbClr val="00B050"/>
                </a:solidFill>
              </a:rPr>
              <a:t>Detection</a:t>
            </a:r>
            <a:endParaRPr lang="pl-PL" sz="15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/>
              <a:t>df.duplicated</a:t>
            </a:r>
            <a:r>
              <a:rPr lang="pl-PL" dirty="0"/>
              <a:t>().sum()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500" dirty="0">
                <a:solidFill>
                  <a:srgbClr val="00B050"/>
                </a:solidFill>
              </a:rPr>
              <a:t>#Drop </a:t>
            </a:r>
            <a:r>
              <a:rPr lang="pl-PL" sz="1500" dirty="0" err="1">
                <a:solidFill>
                  <a:srgbClr val="00B050"/>
                </a:solidFill>
              </a:rPr>
              <a:t>duplicates</a:t>
            </a:r>
            <a:endParaRPr lang="pl-PL" sz="15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/>
              <a:t>df.drop_duplicates</a:t>
            </a:r>
            <a:r>
              <a:rPr lang="pl-PL" dirty="0"/>
              <a:t>()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500" dirty="0">
                <a:solidFill>
                  <a:srgbClr val="00B050"/>
                </a:solidFill>
              </a:rPr>
              <a:t>#Remove </a:t>
            </a:r>
            <a:r>
              <a:rPr lang="pl-PL" sz="1500" dirty="0" err="1">
                <a:solidFill>
                  <a:srgbClr val="00B050"/>
                </a:solidFill>
              </a:rPr>
              <a:t>Constants</a:t>
            </a:r>
            <a:r>
              <a:rPr lang="pl-PL" sz="1500" dirty="0">
                <a:solidFill>
                  <a:srgbClr val="00B050"/>
                </a:solidFill>
              </a:rPr>
              <a:t>/Zero </a:t>
            </a:r>
            <a:r>
              <a:rPr lang="pl-PL" sz="1500" dirty="0" err="1">
                <a:solidFill>
                  <a:srgbClr val="00B050"/>
                </a:solidFill>
              </a:rPr>
              <a:t>Variance</a:t>
            </a:r>
            <a:r>
              <a:rPr lang="pl-PL" sz="1500" dirty="0">
                <a:solidFill>
                  <a:srgbClr val="00B050"/>
                </a:solidFill>
              </a:rPr>
              <a:t>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/>
              <a:t>df</a:t>
            </a:r>
            <a:r>
              <a:rPr lang="pl-PL" dirty="0"/>
              <a:t> = </a:t>
            </a:r>
            <a:r>
              <a:rPr lang="pl-PL" dirty="0" err="1"/>
              <a:t>df.loc</a:t>
            </a:r>
            <a:r>
              <a:rPr lang="pl-PL" dirty="0"/>
              <a:t>[:, </a:t>
            </a:r>
            <a:r>
              <a:rPr lang="pl-PL" dirty="0" err="1"/>
              <a:t>df.std</a:t>
            </a:r>
            <a:r>
              <a:rPr lang="pl-PL" dirty="0"/>
              <a:t>() &gt; 0.01]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500" dirty="0">
                <a:solidFill>
                  <a:srgbClr val="00B050"/>
                </a:solidFill>
              </a:rPr>
              <a:t>#Outlier </a:t>
            </a:r>
            <a:r>
              <a:rPr lang="pl-PL" sz="1500" dirty="0" err="1">
                <a:solidFill>
                  <a:srgbClr val="00B050"/>
                </a:solidFill>
              </a:rPr>
              <a:t>Removal</a:t>
            </a:r>
            <a:r>
              <a:rPr lang="pl-PL" sz="1500" dirty="0">
                <a:solidFill>
                  <a:srgbClr val="00B050"/>
                </a:solidFill>
              </a:rPr>
              <a:t> (IQR)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/>
              <a:t>Q1 = </a:t>
            </a:r>
            <a:r>
              <a:rPr lang="pl-PL" dirty="0" err="1"/>
              <a:t>df.quantile</a:t>
            </a:r>
            <a:r>
              <a:rPr lang="pl-PL" dirty="0"/>
              <a:t>(0.25); Q3 = </a:t>
            </a:r>
            <a:r>
              <a:rPr lang="pl-PL" dirty="0" err="1"/>
              <a:t>df.quantile</a:t>
            </a:r>
            <a:r>
              <a:rPr lang="pl-PL" dirty="0"/>
              <a:t>(0.75)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/>
              <a:t>df</a:t>
            </a:r>
            <a:r>
              <a:rPr lang="pl-PL" dirty="0"/>
              <a:t> = </a:t>
            </a:r>
            <a:r>
              <a:rPr lang="pl-PL" dirty="0" err="1"/>
              <a:t>df</a:t>
            </a:r>
            <a:r>
              <a:rPr lang="pl-PL" dirty="0"/>
              <a:t>[~((</a:t>
            </a:r>
            <a:r>
              <a:rPr lang="pl-PL" dirty="0" err="1"/>
              <a:t>df</a:t>
            </a:r>
            <a:r>
              <a:rPr lang="pl-PL" dirty="0"/>
              <a:t> &lt; (Q1 - 1.5 * (Q3 - Q1))) | (</a:t>
            </a:r>
            <a:r>
              <a:rPr lang="pl-PL" dirty="0" err="1"/>
              <a:t>df</a:t>
            </a:r>
            <a:r>
              <a:rPr lang="pl-PL" dirty="0"/>
              <a:t> &gt; (Q3 + 1.5 * (Q3 - Q1))).</a:t>
            </a:r>
            <a:r>
              <a:rPr lang="pl-PL" dirty="0" err="1"/>
              <a:t>any</a:t>
            </a:r>
            <a:r>
              <a:rPr lang="pl-PL" dirty="0"/>
              <a:t>())]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500" dirty="0">
                <a:solidFill>
                  <a:srgbClr val="00B050"/>
                </a:solidFill>
              </a:rPr>
              <a:t>#Encode </a:t>
            </a:r>
            <a:r>
              <a:rPr lang="pl-PL" sz="1500" dirty="0" err="1">
                <a:solidFill>
                  <a:srgbClr val="00B050"/>
                </a:solidFill>
              </a:rPr>
              <a:t>Categoricals</a:t>
            </a:r>
            <a:r>
              <a:rPr lang="pl-PL" sz="1500" dirty="0">
                <a:solidFill>
                  <a:srgbClr val="00B050"/>
                </a:solidFill>
              </a:rPr>
              <a:t>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/>
              <a:t>df</a:t>
            </a:r>
            <a:r>
              <a:rPr lang="pl-PL" dirty="0"/>
              <a:t> = </a:t>
            </a:r>
            <a:r>
              <a:rPr lang="pl-PL" dirty="0" err="1"/>
              <a:t>pd.get_dummies</a:t>
            </a:r>
            <a:r>
              <a:rPr lang="pl-PL" dirty="0"/>
              <a:t>(</a:t>
            </a:r>
            <a:r>
              <a:rPr lang="pl-PL" dirty="0" err="1"/>
              <a:t>df</a:t>
            </a:r>
            <a:r>
              <a:rPr lang="pl-PL" dirty="0"/>
              <a:t>, </a:t>
            </a:r>
            <a:r>
              <a:rPr lang="pl-PL" dirty="0" err="1"/>
              <a:t>drop_first</a:t>
            </a:r>
            <a:r>
              <a:rPr lang="pl-PL" dirty="0"/>
              <a:t>=True)  # One-hot </a:t>
            </a:r>
            <a:r>
              <a:rPr lang="pl-PL" dirty="0" err="1"/>
              <a:t>encoding</a:t>
            </a: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500" dirty="0">
                <a:solidFill>
                  <a:srgbClr val="00B050"/>
                </a:solidFill>
              </a:rPr>
              <a:t>#Column </a:t>
            </a:r>
            <a:r>
              <a:rPr lang="pl-PL" sz="1500" dirty="0" err="1">
                <a:solidFill>
                  <a:srgbClr val="00B050"/>
                </a:solidFill>
              </a:rPr>
              <a:t>split</a:t>
            </a:r>
            <a:r>
              <a:rPr lang="pl-PL" sz="1500" dirty="0">
                <a:solidFill>
                  <a:srgbClr val="00B050"/>
                </a:solidFill>
              </a:rPr>
              <a:t> by </a:t>
            </a:r>
            <a:r>
              <a:rPr lang="pl-PL" sz="1500" dirty="0" err="1">
                <a:solidFill>
                  <a:srgbClr val="00B050"/>
                </a:solidFill>
              </a:rPr>
              <a:t>first</a:t>
            </a:r>
            <a:r>
              <a:rPr lang="pl-PL" sz="1500" dirty="0">
                <a:solidFill>
                  <a:srgbClr val="00B050"/>
                </a:solidFill>
              </a:rPr>
              <a:t> </a:t>
            </a:r>
            <a:r>
              <a:rPr lang="pl-PL" sz="1500" dirty="0" err="1">
                <a:solidFill>
                  <a:srgbClr val="00B050"/>
                </a:solidFill>
              </a:rPr>
              <a:t>space</a:t>
            </a:r>
            <a:endParaRPr lang="pl-PL" sz="15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 err="1"/>
              <a:t>df</a:t>
            </a:r>
            <a:r>
              <a:rPr lang="en-US" dirty="0"/>
              <a:t>[['first', 'last']] = </a:t>
            </a:r>
            <a:r>
              <a:rPr lang="en-US" dirty="0" err="1"/>
              <a:t>df</a:t>
            </a:r>
            <a:r>
              <a:rPr lang="en-US" dirty="0"/>
              <a:t>['</a:t>
            </a:r>
            <a:r>
              <a:rPr lang="en-US" dirty="0" err="1"/>
              <a:t>full_name</a:t>
            </a:r>
            <a:r>
              <a:rPr lang="en-US" dirty="0"/>
              <a:t>'].</a:t>
            </a:r>
            <a:r>
              <a:rPr lang="en-US" dirty="0" err="1"/>
              <a:t>str.split</a:t>
            </a:r>
            <a:r>
              <a:rPr lang="en-US" dirty="0"/>
              <a:t>(' ', n=1, expand=True)</a:t>
            </a: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sp>
        <p:nvSpPr>
          <p:cNvPr id="5" name="Symbol zastępczy zawartości 1">
            <a:extLst>
              <a:ext uri="{FF2B5EF4-FFF2-40B4-BE49-F238E27FC236}">
                <a16:creationId xmlns:a16="http://schemas.microsoft.com/office/drawing/2014/main" id="{E64653A2-EF45-172F-DEBA-F1A8ADDB14EE}"/>
              </a:ext>
            </a:extLst>
          </p:cNvPr>
          <p:cNvSpPr txBox="1">
            <a:spLocks/>
          </p:cNvSpPr>
          <p:nvPr/>
        </p:nvSpPr>
        <p:spPr>
          <a:xfrm>
            <a:off x="4573486" y="521914"/>
            <a:ext cx="4226207" cy="5951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#Value </a:t>
            </a:r>
            <a:r>
              <a:rPr lang="pl-PL" sz="900" dirty="0" err="1">
                <a:solidFill>
                  <a:srgbClr val="00B050"/>
                </a:solidFill>
              </a:rPr>
              <a:t>Counts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df</a:t>
            </a:r>
            <a:r>
              <a:rPr lang="pl-PL" sz="900" dirty="0"/>
              <a:t>["Dept"].</a:t>
            </a:r>
            <a:r>
              <a:rPr lang="pl-PL" sz="900" dirty="0" err="1"/>
              <a:t>value_counts</a:t>
            </a:r>
            <a:r>
              <a:rPr lang="pl-PL" sz="900" dirty="0"/>
              <a:t>()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#Random </a:t>
            </a:r>
            <a:r>
              <a:rPr lang="pl-PL" sz="900" dirty="0" err="1">
                <a:solidFill>
                  <a:srgbClr val="00B050"/>
                </a:solidFill>
              </a:rPr>
              <a:t>sample</a:t>
            </a:r>
            <a:r>
              <a:rPr lang="pl-PL" sz="900" dirty="0">
                <a:solidFill>
                  <a:srgbClr val="00B050"/>
                </a:solidFill>
              </a:rPr>
              <a:t> </a:t>
            </a:r>
            <a:r>
              <a:rPr lang="pl-PL" sz="900" dirty="0" err="1">
                <a:solidFill>
                  <a:srgbClr val="00B050"/>
                </a:solidFill>
              </a:rPr>
              <a:t>or</a:t>
            </a:r>
            <a:r>
              <a:rPr lang="pl-PL" sz="900" dirty="0">
                <a:solidFill>
                  <a:srgbClr val="00B050"/>
                </a:solidFill>
              </a:rPr>
              <a:t> </a:t>
            </a:r>
            <a:r>
              <a:rPr lang="pl-PL" sz="900" dirty="0" err="1">
                <a:solidFill>
                  <a:srgbClr val="00B050"/>
                </a:solidFill>
              </a:rPr>
              <a:t>head</a:t>
            </a:r>
            <a:r>
              <a:rPr lang="pl-PL" sz="900" dirty="0">
                <a:solidFill>
                  <a:srgbClr val="00B050"/>
                </a:solidFill>
              </a:rPr>
              <a:t>/</a:t>
            </a:r>
            <a:r>
              <a:rPr lang="pl-PL" sz="900" dirty="0" err="1">
                <a:solidFill>
                  <a:srgbClr val="00B050"/>
                </a:solidFill>
              </a:rPr>
              <a:t>tail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df.sample</a:t>
            </a:r>
            <a:r>
              <a:rPr lang="pl-PL" sz="900" dirty="0"/>
              <a:t>(5); </a:t>
            </a:r>
            <a:r>
              <a:rPr lang="pl-PL" sz="900" dirty="0" err="1"/>
              <a:t>df.head</a:t>
            </a:r>
            <a:r>
              <a:rPr lang="pl-PL" sz="900" dirty="0"/>
              <a:t>(5); </a:t>
            </a:r>
            <a:r>
              <a:rPr lang="pl-PL" sz="900" dirty="0" err="1"/>
              <a:t>df.tail</a:t>
            </a:r>
            <a:r>
              <a:rPr lang="pl-PL" sz="900" dirty="0"/>
              <a:t>(5);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#Drop </a:t>
            </a:r>
            <a:r>
              <a:rPr lang="pl-PL" sz="900" dirty="0" err="1">
                <a:solidFill>
                  <a:srgbClr val="00B050"/>
                </a:solidFill>
              </a:rPr>
              <a:t>column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df.drop</a:t>
            </a:r>
            <a:r>
              <a:rPr lang="pl-PL" sz="900" dirty="0"/>
              <a:t>("col", </a:t>
            </a:r>
            <a:r>
              <a:rPr lang="pl-PL" sz="900" dirty="0" err="1"/>
              <a:t>axis</a:t>
            </a:r>
            <a:r>
              <a:rPr lang="pl-PL" sz="900" dirty="0"/>
              <a:t>=1)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#Sort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df.sort_values</a:t>
            </a:r>
            <a:r>
              <a:rPr lang="pl-PL" sz="900" dirty="0"/>
              <a:t>("</a:t>
            </a:r>
            <a:r>
              <a:rPr lang="pl-PL" sz="900" dirty="0" err="1"/>
              <a:t>Salary</a:t>
            </a:r>
            <a:r>
              <a:rPr lang="pl-PL" sz="900" dirty="0"/>
              <a:t>")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#Rolling </a:t>
            </a:r>
            <a:r>
              <a:rPr lang="pl-PL" sz="900" dirty="0" err="1">
                <a:solidFill>
                  <a:srgbClr val="00B050"/>
                </a:solidFill>
              </a:rPr>
              <a:t>average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df</a:t>
            </a:r>
            <a:r>
              <a:rPr lang="pl-PL" sz="900" dirty="0"/>
              <a:t>["Sales"].rolling(3).</a:t>
            </a:r>
            <a:r>
              <a:rPr lang="pl-PL" sz="900" dirty="0" err="1"/>
              <a:t>mean</a:t>
            </a:r>
            <a:r>
              <a:rPr lang="pl-PL" sz="900" dirty="0"/>
              <a:t>()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#Apply </a:t>
            </a:r>
            <a:r>
              <a:rPr lang="pl-PL" sz="900" dirty="0" err="1">
                <a:solidFill>
                  <a:srgbClr val="00B050"/>
                </a:solidFill>
              </a:rPr>
              <a:t>function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/>
              <a:t>f["col"].</a:t>
            </a:r>
            <a:r>
              <a:rPr lang="pl-PL" sz="900" dirty="0" err="1"/>
              <a:t>apply</a:t>
            </a:r>
            <a:r>
              <a:rPr lang="pl-PL" sz="900" dirty="0"/>
              <a:t>(lambda x:x*2)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#SQL-Like </a:t>
            </a:r>
            <a:r>
              <a:rPr lang="pl-PL" sz="900" dirty="0" err="1">
                <a:solidFill>
                  <a:srgbClr val="00B050"/>
                </a:solidFill>
              </a:rPr>
              <a:t>Filtering</a:t>
            </a:r>
            <a:r>
              <a:rPr lang="pl-PL" sz="900" dirty="0">
                <a:solidFill>
                  <a:srgbClr val="00B050"/>
                </a:solidFill>
              </a:rPr>
              <a:t> with Query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high_apac</a:t>
            </a:r>
            <a:r>
              <a:rPr lang="pl-PL" sz="900" dirty="0"/>
              <a:t> = </a:t>
            </a:r>
            <a:r>
              <a:rPr lang="pl-PL" sz="900" dirty="0" err="1"/>
              <a:t>df.query</a:t>
            </a:r>
            <a:r>
              <a:rPr lang="pl-PL" sz="900" dirty="0"/>
              <a:t>("</a:t>
            </a:r>
            <a:r>
              <a:rPr lang="pl-PL" sz="900" dirty="0" err="1"/>
              <a:t>sales</a:t>
            </a:r>
            <a:r>
              <a:rPr lang="pl-PL" sz="900" dirty="0"/>
              <a:t> &gt; 1000 &amp; region == 'APAC'")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#Column Math with </a:t>
            </a:r>
            <a:r>
              <a:rPr lang="pl-PL" sz="900" dirty="0" err="1">
                <a:solidFill>
                  <a:srgbClr val="00B050"/>
                </a:solidFill>
              </a:rPr>
              <a:t>eval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df</a:t>
            </a:r>
            <a:r>
              <a:rPr lang="pl-PL" sz="900" dirty="0"/>
              <a:t>["</a:t>
            </a:r>
            <a:r>
              <a:rPr lang="pl-PL" sz="900" dirty="0" err="1"/>
              <a:t>revenue</a:t>
            </a:r>
            <a:r>
              <a:rPr lang="pl-PL" sz="900" dirty="0"/>
              <a:t>"] = </a:t>
            </a:r>
            <a:r>
              <a:rPr lang="pl-PL" sz="900" dirty="0" err="1"/>
              <a:t>df.eval</a:t>
            </a:r>
            <a:r>
              <a:rPr lang="pl-PL" sz="900" dirty="0"/>
              <a:t>("</a:t>
            </a:r>
            <a:r>
              <a:rPr lang="pl-PL" sz="900" dirty="0" err="1"/>
              <a:t>quantity</a:t>
            </a:r>
            <a:r>
              <a:rPr lang="pl-PL" sz="900" dirty="0"/>
              <a:t> * </a:t>
            </a:r>
            <a:r>
              <a:rPr lang="pl-PL" sz="900" dirty="0" err="1"/>
              <a:t>price</a:t>
            </a:r>
            <a:r>
              <a:rPr lang="pl-PL" sz="900" dirty="0"/>
              <a:t>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#Top-N </a:t>
            </a:r>
            <a:r>
              <a:rPr lang="pl-PL" sz="900" dirty="0" err="1">
                <a:solidFill>
                  <a:srgbClr val="00B050"/>
                </a:solidFill>
              </a:rPr>
              <a:t>Without</a:t>
            </a:r>
            <a:r>
              <a:rPr lang="pl-PL" sz="900" dirty="0">
                <a:solidFill>
                  <a:srgbClr val="00B050"/>
                </a:solidFill>
              </a:rPr>
              <a:t> </a:t>
            </a:r>
            <a:r>
              <a:rPr lang="pl-PL" sz="900" dirty="0" err="1">
                <a:solidFill>
                  <a:srgbClr val="00B050"/>
                </a:solidFill>
              </a:rPr>
              <a:t>Sorting</a:t>
            </a:r>
            <a:r>
              <a:rPr lang="pl-PL" sz="900" dirty="0">
                <a:solidFill>
                  <a:srgbClr val="00B050"/>
                </a:solidFill>
              </a:rPr>
              <a:t> </a:t>
            </a:r>
            <a:r>
              <a:rPr lang="pl-PL" sz="900" dirty="0" err="1">
                <a:solidFill>
                  <a:srgbClr val="00B050"/>
                </a:solidFill>
              </a:rPr>
              <a:t>Everything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/>
              <a:t>top10 = </a:t>
            </a:r>
            <a:r>
              <a:rPr lang="pl-PL" sz="900" dirty="0" err="1"/>
              <a:t>df.nlargest</a:t>
            </a:r>
            <a:r>
              <a:rPr lang="pl-PL" sz="900" dirty="0"/>
              <a:t>(10, "profit")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#Add </a:t>
            </a:r>
            <a:r>
              <a:rPr lang="pl-PL" sz="900" dirty="0" err="1">
                <a:solidFill>
                  <a:srgbClr val="00B050"/>
                </a:solidFill>
              </a:rPr>
              <a:t>Column</a:t>
            </a:r>
            <a:r>
              <a:rPr lang="pl-PL" sz="900" dirty="0">
                <a:solidFill>
                  <a:srgbClr val="00B050"/>
                </a:solidFill>
              </a:rPr>
              <a:t> with </a:t>
            </a:r>
            <a:r>
              <a:rPr lang="pl-PL" sz="900" dirty="0" err="1">
                <a:solidFill>
                  <a:srgbClr val="00B050"/>
                </a:solidFill>
              </a:rPr>
              <a:t>assign</a:t>
            </a:r>
            <a:r>
              <a:rPr lang="pl-PL" sz="900" dirty="0">
                <a:solidFill>
                  <a:srgbClr val="00B050"/>
                </a:solidFill>
              </a:rPr>
              <a:t> and lambda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df</a:t>
            </a:r>
            <a:r>
              <a:rPr lang="pl-PL" sz="900" dirty="0"/>
              <a:t> = </a:t>
            </a:r>
            <a:r>
              <a:rPr lang="pl-PL" sz="900" dirty="0" err="1"/>
              <a:t>df.assign</a:t>
            </a:r>
            <a:r>
              <a:rPr lang="pl-PL" sz="900" dirty="0"/>
              <a:t>(</a:t>
            </a:r>
            <a:r>
              <a:rPr lang="pl-PL" sz="900" dirty="0" err="1"/>
              <a:t>gm</a:t>
            </a:r>
            <a:r>
              <a:rPr lang="pl-PL" sz="900" dirty="0"/>
              <a:t>=lambda x: </a:t>
            </a:r>
            <a:r>
              <a:rPr lang="pl-PL" sz="900" dirty="0" err="1"/>
              <a:t>x.gross</a:t>
            </a:r>
            <a:r>
              <a:rPr lang="pl-PL" sz="900" dirty="0"/>
              <a:t> - </a:t>
            </a:r>
            <a:r>
              <a:rPr lang="pl-PL" sz="900" dirty="0" err="1"/>
              <a:t>x.cogs</a:t>
            </a:r>
            <a:r>
              <a:rPr lang="pl-PL" sz="900" dirty="0"/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#Drop </a:t>
            </a:r>
            <a:r>
              <a:rPr lang="pl-PL" sz="900" dirty="0" err="1">
                <a:solidFill>
                  <a:srgbClr val="00B050"/>
                </a:solidFill>
              </a:rPr>
              <a:t>Mostly-Empty</a:t>
            </a:r>
            <a:r>
              <a:rPr lang="pl-PL" sz="900" dirty="0">
                <a:solidFill>
                  <a:srgbClr val="00B050"/>
                </a:solidFill>
              </a:rPr>
              <a:t> </a:t>
            </a:r>
            <a:r>
              <a:rPr lang="pl-PL" sz="900" dirty="0" err="1">
                <a:solidFill>
                  <a:srgbClr val="00B050"/>
                </a:solidFill>
              </a:rPr>
              <a:t>Columns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df</a:t>
            </a:r>
            <a:r>
              <a:rPr lang="pl-PL" sz="900" dirty="0"/>
              <a:t> = </a:t>
            </a:r>
            <a:r>
              <a:rPr lang="pl-PL" sz="900" dirty="0" err="1"/>
              <a:t>df.dropna</a:t>
            </a:r>
            <a:r>
              <a:rPr lang="pl-PL" sz="900" dirty="0"/>
              <a:t>(</a:t>
            </a:r>
            <a:r>
              <a:rPr lang="pl-PL" sz="900" dirty="0" err="1"/>
              <a:t>axis</a:t>
            </a:r>
            <a:r>
              <a:rPr lang="pl-PL" sz="900" dirty="0"/>
              <a:t>=1, </a:t>
            </a:r>
            <a:r>
              <a:rPr lang="pl-PL" sz="900" dirty="0" err="1"/>
              <a:t>thresh</a:t>
            </a:r>
            <a:r>
              <a:rPr lang="pl-PL" sz="900" dirty="0"/>
              <a:t>=len(</a:t>
            </a:r>
            <a:r>
              <a:rPr lang="pl-PL" sz="900" dirty="0" err="1"/>
              <a:t>df</a:t>
            </a:r>
            <a:r>
              <a:rPr lang="pl-PL" sz="900" dirty="0"/>
              <a:t>) * 0.8)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86E137AC-5B20-B96F-72B5-4212B76EFBB0}"/>
              </a:ext>
            </a:extLst>
          </p:cNvPr>
          <p:cNvSpPr txBox="1"/>
          <p:nvPr/>
        </p:nvSpPr>
        <p:spPr>
          <a:xfrm>
            <a:off x="-54033" y="6679954"/>
            <a:ext cx="1164210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600" dirty="0">
                <a:solidFill>
                  <a:schemeClr val="bg1">
                    <a:lumMod val="50000"/>
                  </a:schemeClr>
                </a:solidFill>
              </a:rPr>
              <a:t>Źródła:</a:t>
            </a:r>
            <a:r>
              <a:rPr lang="pl-PL" sz="600" dirty="0"/>
              <a:t> </a:t>
            </a:r>
            <a:r>
              <a:rPr lang="pl-PL" sz="600" dirty="0" err="1"/>
              <a:t>internety</a:t>
            </a:r>
            <a:r>
              <a:rPr lang="pl-PL" sz="600" dirty="0"/>
              <a:t> hasło </a:t>
            </a:r>
            <a:r>
              <a:rPr lang="pl-PL" sz="600" dirty="0" err="1"/>
              <a:t>pandas</a:t>
            </a:r>
            <a:r>
              <a:rPr lang="pl-PL" sz="600" dirty="0"/>
              <a:t> one-</a:t>
            </a:r>
            <a:r>
              <a:rPr lang="pl-PL" sz="600" dirty="0" err="1"/>
              <a:t>liner</a:t>
            </a:r>
            <a:endParaRPr lang="pl-PL" sz="600" dirty="0"/>
          </a:p>
        </p:txBody>
      </p:sp>
      <p:sp>
        <p:nvSpPr>
          <p:cNvPr id="13" name="Symbol zastępczy zawartości 1">
            <a:extLst>
              <a:ext uri="{FF2B5EF4-FFF2-40B4-BE49-F238E27FC236}">
                <a16:creationId xmlns:a16="http://schemas.microsoft.com/office/drawing/2014/main" id="{7724832E-C4DD-48AE-7D9C-542AC0E89C87}"/>
              </a:ext>
            </a:extLst>
          </p:cNvPr>
          <p:cNvSpPr txBox="1">
            <a:spLocks/>
          </p:cNvSpPr>
          <p:nvPr/>
        </p:nvSpPr>
        <p:spPr>
          <a:xfrm>
            <a:off x="7693429" y="534749"/>
            <a:ext cx="4542906" cy="5951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#Validate </a:t>
            </a:r>
            <a:r>
              <a:rPr lang="pl-PL" sz="900" dirty="0" err="1">
                <a:solidFill>
                  <a:srgbClr val="00B050"/>
                </a:solidFill>
              </a:rPr>
              <a:t>Emails</a:t>
            </a:r>
            <a:r>
              <a:rPr lang="pl-PL" sz="900" dirty="0">
                <a:solidFill>
                  <a:srgbClr val="00B050"/>
                </a:solidFill>
              </a:rPr>
              <a:t> with </a:t>
            </a:r>
            <a:r>
              <a:rPr lang="pl-PL" sz="900" dirty="0" err="1">
                <a:solidFill>
                  <a:srgbClr val="00B050"/>
                </a:solidFill>
              </a:rPr>
              <a:t>Regex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df</a:t>
            </a:r>
            <a:r>
              <a:rPr lang="pl-PL" sz="900" dirty="0"/>
              <a:t>["</a:t>
            </a:r>
            <a:r>
              <a:rPr lang="pl-PL" sz="900" dirty="0" err="1"/>
              <a:t>email_ok</a:t>
            </a:r>
            <a:r>
              <a:rPr lang="pl-PL" sz="900" dirty="0"/>
              <a:t>"] = </a:t>
            </a:r>
            <a:r>
              <a:rPr lang="pl-PL" sz="900" dirty="0" err="1"/>
              <a:t>df.email.str.contains</a:t>
            </a:r>
            <a:r>
              <a:rPr lang="pl-PL" sz="900" dirty="0"/>
              <a:t>(r"^[\w\.-]+@[\w\.-]+\.\w+$", na=</a:t>
            </a:r>
            <a:r>
              <a:rPr lang="pl-PL" sz="900" dirty="0" err="1"/>
              <a:t>False</a:t>
            </a:r>
            <a:r>
              <a:rPr lang="pl-PL" sz="900" dirty="0"/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#Parse and </a:t>
            </a:r>
            <a:r>
              <a:rPr lang="pl-PL" sz="900" dirty="0" err="1">
                <a:solidFill>
                  <a:srgbClr val="00B050"/>
                </a:solidFill>
              </a:rPr>
              <a:t>Convert</a:t>
            </a:r>
            <a:r>
              <a:rPr lang="pl-PL" sz="900" dirty="0">
                <a:solidFill>
                  <a:srgbClr val="00B050"/>
                </a:solidFill>
              </a:rPr>
              <a:t> </a:t>
            </a:r>
            <a:r>
              <a:rPr lang="pl-PL" sz="900" dirty="0" err="1">
                <a:solidFill>
                  <a:srgbClr val="00B050"/>
                </a:solidFill>
              </a:rPr>
              <a:t>Timezones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df</a:t>
            </a:r>
            <a:r>
              <a:rPr lang="pl-PL" sz="900" dirty="0"/>
              <a:t>["</a:t>
            </a:r>
            <a:r>
              <a:rPr lang="pl-PL" sz="900" dirty="0" err="1"/>
              <a:t>date</a:t>
            </a:r>
            <a:r>
              <a:rPr lang="pl-PL" sz="900" dirty="0"/>
              <a:t>"] = </a:t>
            </a:r>
            <a:r>
              <a:rPr lang="pl-PL" sz="900" dirty="0" err="1"/>
              <a:t>pd.to_datetime</a:t>
            </a:r>
            <a:r>
              <a:rPr lang="pl-PL" sz="900" dirty="0"/>
              <a:t>(</a:t>
            </a:r>
            <a:r>
              <a:rPr lang="pl-PL" sz="900" dirty="0" err="1"/>
              <a:t>df.date</a:t>
            </a:r>
            <a:r>
              <a:rPr lang="pl-PL" sz="900" dirty="0"/>
              <a:t>).</a:t>
            </a:r>
            <a:r>
              <a:rPr lang="pl-PL" sz="900" dirty="0" err="1"/>
              <a:t>dt.tz_localize</a:t>
            </a:r>
            <a:r>
              <a:rPr lang="pl-PL" sz="900" dirty="0"/>
              <a:t>("UTC").</a:t>
            </a:r>
            <a:r>
              <a:rPr lang="pl-PL" sz="900" dirty="0" err="1"/>
              <a:t>dt.tz_convert</a:t>
            </a:r>
            <a:r>
              <a:rPr lang="pl-PL" sz="900" dirty="0"/>
              <a:t>("Asia/</a:t>
            </a:r>
            <a:r>
              <a:rPr lang="pl-PL" sz="900" dirty="0" err="1"/>
              <a:t>Jakarta</a:t>
            </a:r>
            <a:r>
              <a:rPr lang="pl-PL" sz="900" dirty="0"/>
              <a:t>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#Group and </a:t>
            </a:r>
            <a:r>
              <a:rPr lang="pl-PL" sz="900" dirty="0" err="1">
                <a:solidFill>
                  <a:srgbClr val="00B050"/>
                </a:solidFill>
              </a:rPr>
              <a:t>Aggregate</a:t>
            </a:r>
            <a:r>
              <a:rPr lang="pl-PL" sz="900" dirty="0">
                <a:solidFill>
                  <a:srgbClr val="00B050"/>
                </a:solidFill>
              </a:rPr>
              <a:t> </a:t>
            </a:r>
            <a:r>
              <a:rPr lang="pl-PL" sz="900" dirty="0" err="1">
                <a:solidFill>
                  <a:srgbClr val="00B050"/>
                </a:solidFill>
              </a:rPr>
              <a:t>Multiple</a:t>
            </a:r>
            <a:r>
              <a:rPr lang="pl-PL" sz="900" dirty="0">
                <a:solidFill>
                  <a:srgbClr val="00B050"/>
                </a:solidFill>
              </a:rPr>
              <a:t> </a:t>
            </a:r>
            <a:r>
              <a:rPr lang="pl-PL" sz="900" dirty="0" err="1">
                <a:solidFill>
                  <a:srgbClr val="00B050"/>
                </a:solidFill>
              </a:rPr>
              <a:t>Metrics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summary</a:t>
            </a:r>
            <a:r>
              <a:rPr lang="pl-PL" sz="900" dirty="0"/>
              <a:t> = </a:t>
            </a:r>
            <a:r>
              <a:rPr lang="pl-PL" sz="900" dirty="0" err="1"/>
              <a:t>df.groupby</a:t>
            </a:r>
            <a:r>
              <a:rPr lang="pl-PL" sz="900" dirty="0"/>
              <a:t>("region", </a:t>
            </a:r>
            <a:r>
              <a:rPr lang="pl-PL" sz="900" dirty="0" err="1"/>
              <a:t>as_index</a:t>
            </a:r>
            <a:r>
              <a:rPr lang="pl-PL" sz="900" dirty="0"/>
              <a:t>=</a:t>
            </a:r>
            <a:r>
              <a:rPr lang="pl-PL" sz="900" dirty="0" err="1"/>
              <a:t>False</a:t>
            </a:r>
            <a:r>
              <a:rPr lang="pl-PL" sz="900" dirty="0"/>
              <a:t>).</a:t>
            </a:r>
            <a:r>
              <a:rPr lang="pl-PL" sz="900" dirty="0" err="1"/>
              <a:t>agg</a:t>
            </a:r>
            <a:r>
              <a:rPr lang="pl-PL" sz="900" dirty="0"/>
              <a:t>(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/>
              <a:t>    </a:t>
            </a:r>
            <a:r>
              <a:rPr lang="pl-PL" sz="900" dirty="0" err="1"/>
              <a:t>total</a:t>
            </a:r>
            <a:r>
              <a:rPr lang="pl-PL" sz="900" dirty="0"/>
              <a:t>=("</a:t>
            </a:r>
            <a:r>
              <a:rPr lang="pl-PL" sz="900" dirty="0" err="1"/>
              <a:t>sales</a:t>
            </a:r>
            <a:r>
              <a:rPr lang="pl-PL" sz="900" dirty="0"/>
              <a:t>", "sum"), </a:t>
            </a:r>
            <a:r>
              <a:rPr lang="pl-PL" sz="900" dirty="0" err="1"/>
              <a:t>margin_avg</a:t>
            </a:r>
            <a:r>
              <a:rPr lang="pl-PL" sz="900" dirty="0"/>
              <a:t>=("</a:t>
            </a:r>
            <a:r>
              <a:rPr lang="pl-PL" sz="900" dirty="0" err="1"/>
              <a:t>margin</a:t>
            </a:r>
            <a:r>
              <a:rPr lang="pl-PL" sz="900" dirty="0"/>
              <a:t>", "</a:t>
            </a:r>
            <a:r>
              <a:rPr lang="pl-PL" sz="900" dirty="0" err="1"/>
              <a:t>mean</a:t>
            </a:r>
            <a:r>
              <a:rPr lang="pl-PL" sz="900" dirty="0"/>
              <a:t>"))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#Compute </a:t>
            </a:r>
            <a:r>
              <a:rPr lang="pl-PL" sz="900" dirty="0" err="1">
                <a:solidFill>
                  <a:srgbClr val="00B050"/>
                </a:solidFill>
              </a:rPr>
              <a:t>Share</a:t>
            </a:r>
            <a:r>
              <a:rPr lang="pl-PL" sz="900" dirty="0">
                <a:solidFill>
                  <a:srgbClr val="00B050"/>
                </a:solidFill>
              </a:rPr>
              <a:t> </a:t>
            </a:r>
            <a:r>
              <a:rPr lang="pl-PL" sz="900" dirty="0" err="1">
                <a:solidFill>
                  <a:srgbClr val="00B050"/>
                </a:solidFill>
              </a:rPr>
              <a:t>Within</a:t>
            </a:r>
            <a:r>
              <a:rPr lang="pl-PL" sz="900" dirty="0">
                <a:solidFill>
                  <a:srgbClr val="00B050"/>
                </a:solidFill>
              </a:rPr>
              <a:t> </a:t>
            </a:r>
            <a:r>
              <a:rPr lang="pl-PL" sz="900" dirty="0" err="1">
                <a:solidFill>
                  <a:srgbClr val="00B050"/>
                </a:solidFill>
              </a:rPr>
              <a:t>Group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df</a:t>
            </a:r>
            <a:r>
              <a:rPr lang="pl-PL" sz="900" dirty="0"/>
              <a:t>["</a:t>
            </a:r>
            <a:r>
              <a:rPr lang="pl-PL" sz="900" dirty="0" err="1"/>
              <a:t>sales_share</a:t>
            </a:r>
            <a:r>
              <a:rPr lang="pl-PL" sz="900" dirty="0"/>
              <a:t>"] = </a:t>
            </a:r>
            <a:r>
              <a:rPr lang="pl-PL" sz="900" dirty="0" err="1"/>
              <a:t>df.groupby</a:t>
            </a:r>
            <a:r>
              <a:rPr lang="pl-PL" sz="900" dirty="0"/>
              <a:t>("</a:t>
            </a:r>
            <a:r>
              <a:rPr lang="pl-PL" sz="900" dirty="0" err="1"/>
              <a:t>product</a:t>
            </a:r>
            <a:r>
              <a:rPr lang="pl-PL" sz="900" dirty="0"/>
              <a:t>")["</a:t>
            </a:r>
            <a:r>
              <a:rPr lang="pl-PL" sz="900" dirty="0" err="1"/>
              <a:t>sales</a:t>
            </a:r>
            <a:r>
              <a:rPr lang="pl-PL" sz="900" dirty="0"/>
              <a:t>"].</a:t>
            </a:r>
            <a:r>
              <a:rPr lang="pl-PL" sz="900" dirty="0" err="1"/>
              <a:t>transform</a:t>
            </a:r>
            <a:r>
              <a:rPr lang="pl-PL" sz="900" dirty="0"/>
              <a:t>(lambda x: x / </a:t>
            </a:r>
            <a:r>
              <a:rPr lang="pl-PL" sz="900" dirty="0" err="1"/>
              <a:t>x.sum</a:t>
            </a:r>
            <a:r>
              <a:rPr lang="pl-PL" sz="900" dirty="0"/>
              <a:t>())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#Pivot with </a:t>
            </a:r>
            <a:r>
              <a:rPr lang="pl-PL" sz="900" dirty="0" err="1">
                <a:solidFill>
                  <a:srgbClr val="00B050"/>
                </a:solidFill>
              </a:rPr>
              <a:t>Aggregation</a:t>
            </a:r>
            <a:r>
              <a:rPr lang="pl-PL" sz="900" dirty="0">
                <a:solidFill>
                  <a:srgbClr val="00B050"/>
                </a:solidFill>
              </a:rPr>
              <a:t> and </a:t>
            </a:r>
            <a:r>
              <a:rPr lang="pl-PL" sz="900" dirty="0" err="1">
                <a:solidFill>
                  <a:srgbClr val="00B050"/>
                </a:solidFill>
              </a:rPr>
              <a:t>Fill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pivot</a:t>
            </a:r>
            <a:r>
              <a:rPr lang="pl-PL" sz="900" dirty="0"/>
              <a:t> = </a:t>
            </a:r>
            <a:r>
              <a:rPr lang="pl-PL" sz="900" dirty="0" err="1"/>
              <a:t>df.pivot_table</a:t>
            </a:r>
            <a:r>
              <a:rPr lang="pl-PL" sz="900" dirty="0"/>
              <a:t>(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/>
              <a:t>    index="</a:t>
            </a:r>
            <a:r>
              <a:rPr lang="pl-PL" sz="900" dirty="0" err="1"/>
              <a:t>date</a:t>
            </a:r>
            <a:r>
              <a:rPr lang="pl-PL" sz="900" dirty="0"/>
              <a:t>", </a:t>
            </a:r>
            <a:r>
              <a:rPr lang="pl-PL" sz="900" dirty="0" err="1"/>
              <a:t>columns</a:t>
            </a:r>
            <a:r>
              <a:rPr lang="pl-PL" sz="900" dirty="0"/>
              <a:t>="region", </a:t>
            </a:r>
            <a:r>
              <a:rPr lang="pl-PL" sz="900" dirty="0" err="1"/>
              <a:t>values</a:t>
            </a:r>
            <a:r>
              <a:rPr lang="pl-PL" sz="900" dirty="0"/>
              <a:t>="</a:t>
            </a:r>
            <a:r>
              <a:rPr lang="pl-PL" sz="900" dirty="0" err="1"/>
              <a:t>sales</a:t>
            </a:r>
            <a:r>
              <a:rPr lang="pl-PL" sz="900" dirty="0"/>
              <a:t>", </a:t>
            </a:r>
            <a:r>
              <a:rPr lang="pl-PL" sz="900" dirty="0" err="1"/>
              <a:t>aggfunc</a:t>
            </a:r>
            <a:r>
              <a:rPr lang="pl-PL" sz="900" dirty="0"/>
              <a:t>="sum", </a:t>
            </a:r>
            <a:r>
              <a:rPr lang="pl-PL" sz="900" dirty="0" err="1"/>
              <a:t>fill_value</a:t>
            </a:r>
            <a:r>
              <a:rPr lang="pl-PL" sz="900" dirty="0"/>
              <a:t>=0)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#Reshape from </a:t>
            </a:r>
            <a:r>
              <a:rPr lang="pl-PL" sz="900" dirty="0" err="1">
                <a:solidFill>
                  <a:srgbClr val="00B050"/>
                </a:solidFill>
              </a:rPr>
              <a:t>Wide</a:t>
            </a:r>
            <a:r>
              <a:rPr lang="pl-PL" sz="900" dirty="0">
                <a:solidFill>
                  <a:srgbClr val="00B050"/>
                </a:solidFill>
              </a:rPr>
              <a:t> to </a:t>
            </a:r>
            <a:r>
              <a:rPr lang="pl-PL" sz="900" dirty="0" err="1">
                <a:solidFill>
                  <a:srgbClr val="00B050"/>
                </a:solidFill>
              </a:rPr>
              <a:t>Long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long</a:t>
            </a:r>
            <a:r>
              <a:rPr lang="pl-PL" sz="900" dirty="0"/>
              <a:t> = </a:t>
            </a:r>
            <a:r>
              <a:rPr lang="pl-PL" sz="900" dirty="0" err="1"/>
              <a:t>df.melt</a:t>
            </a:r>
            <a:r>
              <a:rPr lang="pl-PL" sz="900" dirty="0"/>
              <a:t>(</a:t>
            </a:r>
            <a:r>
              <a:rPr lang="pl-PL" sz="900" dirty="0" err="1"/>
              <a:t>id_vars</a:t>
            </a:r>
            <a:r>
              <a:rPr lang="pl-PL" sz="900" dirty="0"/>
              <a:t>="id", </a:t>
            </a:r>
            <a:r>
              <a:rPr lang="pl-PL" sz="900" dirty="0" err="1"/>
              <a:t>var_name</a:t>
            </a:r>
            <a:r>
              <a:rPr lang="pl-PL" sz="900" dirty="0"/>
              <a:t>="</a:t>
            </a:r>
            <a:r>
              <a:rPr lang="pl-PL" sz="900" dirty="0" err="1"/>
              <a:t>metric</a:t>
            </a:r>
            <a:r>
              <a:rPr lang="pl-PL" sz="900" dirty="0"/>
              <a:t>", </a:t>
            </a:r>
            <a:r>
              <a:rPr lang="pl-PL" sz="900" dirty="0" err="1"/>
              <a:t>value_name</a:t>
            </a:r>
            <a:r>
              <a:rPr lang="pl-PL" sz="900" dirty="0"/>
              <a:t>="</a:t>
            </a:r>
            <a:r>
              <a:rPr lang="pl-PL" sz="900" dirty="0" err="1"/>
              <a:t>value</a:t>
            </a:r>
            <a:r>
              <a:rPr lang="pl-PL" sz="900" dirty="0"/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6289252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22C8C-CF07-1075-1089-0DD03CE8C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zawartości 1">
            <a:extLst>
              <a:ext uri="{FF2B5EF4-FFF2-40B4-BE49-F238E27FC236}">
                <a16:creationId xmlns:a16="http://schemas.microsoft.com/office/drawing/2014/main" id="{70E41410-1DC4-1CC0-791D-A7DB9E8891FD}"/>
              </a:ext>
            </a:extLst>
          </p:cNvPr>
          <p:cNvSpPr txBox="1">
            <a:spLocks/>
          </p:cNvSpPr>
          <p:nvPr/>
        </p:nvSpPr>
        <p:spPr>
          <a:xfrm>
            <a:off x="6063563" y="559268"/>
            <a:ext cx="5406615" cy="6228073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### </a:t>
            </a:r>
            <a:r>
              <a:rPr lang="pl-PL" dirty="0" err="1">
                <a:solidFill>
                  <a:srgbClr val="00B050"/>
                </a:solidFill>
              </a:rPr>
              <a:t>Feature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Selection</a:t>
            </a:r>
            <a:r>
              <a:rPr lang="pl-PL" dirty="0">
                <a:solidFill>
                  <a:srgbClr val="00B050"/>
                </a:solidFill>
              </a:rPr>
              <a:t> ###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import </a:t>
            </a:r>
            <a:r>
              <a:rPr lang="pl-PL" dirty="0" err="1">
                <a:solidFill>
                  <a:schemeClr val="tx1"/>
                </a:solidFill>
              </a:rPr>
              <a:t>numpy</a:t>
            </a:r>
            <a:r>
              <a:rPr lang="pl-PL" dirty="0">
                <a:solidFill>
                  <a:schemeClr val="tx1"/>
                </a:solidFill>
              </a:rPr>
              <a:t> as </a:t>
            </a:r>
            <a:r>
              <a:rPr lang="pl-PL" dirty="0" err="1">
                <a:solidFill>
                  <a:schemeClr val="tx1"/>
                </a:solidFill>
              </a:rPr>
              <a:t>np</a:t>
            </a:r>
            <a:endParaRPr lang="pl-PL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from </a:t>
            </a:r>
            <a:r>
              <a:rPr lang="pl-PL" dirty="0" err="1">
                <a:solidFill>
                  <a:schemeClr val="tx1"/>
                </a:solidFill>
              </a:rPr>
              <a:t>sklearn.datasets</a:t>
            </a:r>
            <a:r>
              <a:rPr lang="pl-PL" dirty="0">
                <a:solidFill>
                  <a:schemeClr val="tx1"/>
                </a:solidFill>
              </a:rPr>
              <a:t> import </a:t>
            </a:r>
            <a:r>
              <a:rPr lang="pl-PL" dirty="0" err="1">
                <a:solidFill>
                  <a:schemeClr val="tx1"/>
                </a:solidFill>
              </a:rPr>
              <a:t>load_wine</a:t>
            </a:r>
            <a:r>
              <a:rPr lang="pl-PL" dirty="0">
                <a:solidFill>
                  <a:schemeClr val="tx1"/>
                </a:solidFill>
              </a:rPr>
              <a:t>, </a:t>
            </a:r>
            <a:r>
              <a:rPr lang="pl-PL" dirty="0" err="1">
                <a:solidFill>
                  <a:schemeClr val="tx1"/>
                </a:solidFill>
              </a:rPr>
              <a:t>load_breast_cancer</a:t>
            </a:r>
            <a:endParaRPr lang="pl-PL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from </a:t>
            </a:r>
            <a:r>
              <a:rPr lang="pl-PL" dirty="0" err="1">
                <a:solidFill>
                  <a:schemeClr val="tx1"/>
                </a:solidFill>
              </a:rPr>
              <a:t>sklearn.feature_selection</a:t>
            </a:r>
            <a:r>
              <a:rPr lang="pl-PL" dirty="0">
                <a:solidFill>
                  <a:schemeClr val="tx1"/>
                </a:solidFill>
              </a:rPr>
              <a:t> import </a:t>
            </a:r>
            <a:r>
              <a:rPr lang="pl-PL" dirty="0" err="1">
                <a:solidFill>
                  <a:schemeClr val="tx1"/>
                </a:solidFill>
              </a:rPr>
              <a:t>SelectKBest</a:t>
            </a:r>
            <a:r>
              <a:rPr lang="pl-PL" dirty="0">
                <a:solidFill>
                  <a:schemeClr val="tx1"/>
                </a:solidFill>
              </a:rPr>
              <a:t>, </a:t>
            </a:r>
            <a:r>
              <a:rPr lang="pl-PL" dirty="0" err="1">
                <a:solidFill>
                  <a:schemeClr val="tx1"/>
                </a:solidFill>
              </a:rPr>
              <a:t>f_classif</a:t>
            </a:r>
            <a:r>
              <a:rPr lang="pl-PL" dirty="0">
                <a:solidFill>
                  <a:schemeClr val="tx1"/>
                </a:solidFill>
              </a:rPr>
              <a:t>, </a:t>
            </a:r>
            <a:r>
              <a:rPr lang="pl-PL" dirty="0" err="1">
                <a:solidFill>
                  <a:schemeClr val="tx1"/>
                </a:solidFill>
              </a:rPr>
              <a:t>mutual_info_classif</a:t>
            </a:r>
            <a:r>
              <a:rPr lang="pl-PL" dirty="0">
                <a:solidFill>
                  <a:schemeClr val="tx1"/>
                </a:solidFill>
              </a:rPr>
              <a:t>, RFE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from </a:t>
            </a:r>
            <a:r>
              <a:rPr lang="pl-PL" dirty="0" err="1">
                <a:solidFill>
                  <a:schemeClr val="tx1"/>
                </a:solidFill>
              </a:rPr>
              <a:t>sklearn.ensemble</a:t>
            </a:r>
            <a:r>
              <a:rPr lang="pl-PL" dirty="0">
                <a:solidFill>
                  <a:schemeClr val="tx1"/>
                </a:solidFill>
              </a:rPr>
              <a:t> import </a:t>
            </a:r>
            <a:r>
              <a:rPr lang="pl-PL" dirty="0" err="1">
                <a:solidFill>
                  <a:schemeClr val="tx1"/>
                </a:solidFill>
              </a:rPr>
              <a:t>RandomForestClassifier</a:t>
            </a:r>
            <a:endParaRPr lang="pl-PL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from </a:t>
            </a:r>
            <a:r>
              <a:rPr lang="pl-PL" dirty="0" err="1">
                <a:solidFill>
                  <a:schemeClr val="tx1"/>
                </a:solidFill>
              </a:rPr>
              <a:t>sklearn.linear_model</a:t>
            </a:r>
            <a:r>
              <a:rPr lang="pl-PL" dirty="0">
                <a:solidFill>
                  <a:schemeClr val="tx1"/>
                </a:solidFill>
              </a:rPr>
              <a:t> import </a:t>
            </a:r>
            <a:r>
              <a:rPr lang="pl-PL" dirty="0" err="1">
                <a:solidFill>
                  <a:schemeClr val="tx1"/>
                </a:solidFill>
              </a:rPr>
              <a:t>LogisticRegression</a:t>
            </a:r>
            <a:endParaRPr lang="pl-PL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from </a:t>
            </a:r>
            <a:r>
              <a:rPr lang="pl-PL" dirty="0" err="1">
                <a:solidFill>
                  <a:schemeClr val="tx1"/>
                </a:solidFill>
              </a:rPr>
              <a:t>sklearn.preprocessing</a:t>
            </a:r>
            <a:r>
              <a:rPr lang="pl-PL" dirty="0">
                <a:solidFill>
                  <a:schemeClr val="tx1"/>
                </a:solidFill>
              </a:rPr>
              <a:t> import </a:t>
            </a:r>
            <a:r>
              <a:rPr lang="pl-PL" dirty="0" err="1">
                <a:solidFill>
                  <a:schemeClr val="tx1"/>
                </a:solidFill>
              </a:rPr>
              <a:t>StandardScaler</a:t>
            </a:r>
            <a:endParaRPr lang="pl-PL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from </a:t>
            </a:r>
            <a:r>
              <a:rPr lang="pl-PL" dirty="0" err="1">
                <a:solidFill>
                  <a:schemeClr val="tx1"/>
                </a:solidFill>
              </a:rPr>
              <a:t>sklearn.decomposition</a:t>
            </a:r>
            <a:r>
              <a:rPr lang="pl-PL" dirty="0">
                <a:solidFill>
                  <a:schemeClr val="tx1"/>
                </a:solidFill>
              </a:rPr>
              <a:t> import PCA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import </a:t>
            </a:r>
            <a:r>
              <a:rPr lang="pl-PL" dirty="0" err="1">
                <a:solidFill>
                  <a:schemeClr val="tx1"/>
                </a:solidFill>
              </a:rPr>
              <a:t>seaborn</a:t>
            </a:r>
            <a:r>
              <a:rPr lang="pl-PL" dirty="0">
                <a:solidFill>
                  <a:schemeClr val="tx1"/>
                </a:solidFill>
              </a:rPr>
              <a:t> as </a:t>
            </a:r>
            <a:r>
              <a:rPr lang="pl-PL" dirty="0" err="1">
                <a:solidFill>
                  <a:schemeClr val="tx1"/>
                </a:solidFill>
              </a:rPr>
              <a:t>sns</a:t>
            </a:r>
            <a:endParaRPr lang="pl-PL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wine_data</a:t>
            </a:r>
            <a:r>
              <a:rPr lang="pl-PL" dirty="0">
                <a:solidFill>
                  <a:schemeClr val="tx1"/>
                </a:solidFill>
              </a:rPr>
              <a:t> = </a:t>
            </a:r>
            <a:r>
              <a:rPr lang="pl-PL" dirty="0" err="1">
                <a:solidFill>
                  <a:schemeClr val="tx1"/>
                </a:solidFill>
              </a:rPr>
              <a:t>pd.DataFrame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load_wine</a:t>
            </a:r>
            <a:r>
              <a:rPr lang="pl-PL" dirty="0">
                <a:solidFill>
                  <a:schemeClr val="tx1"/>
                </a:solidFill>
              </a:rPr>
              <a:t>().data, </a:t>
            </a:r>
            <a:r>
              <a:rPr lang="pl-PL" dirty="0" err="1">
                <a:solidFill>
                  <a:schemeClr val="tx1"/>
                </a:solidFill>
              </a:rPr>
              <a:t>columns</a:t>
            </a:r>
            <a:r>
              <a:rPr lang="pl-PL" dirty="0">
                <a:solidFill>
                  <a:schemeClr val="tx1"/>
                </a:solidFill>
              </a:rPr>
              <a:t>=</a:t>
            </a:r>
            <a:r>
              <a:rPr lang="pl-PL" dirty="0" err="1">
                <a:solidFill>
                  <a:schemeClr val="tx1"/>
                </a:solidFill>
              </a:rPr>
              <a:t>load_wine</a:t>
            </a:r>
            <a:r>
              <a:rPr lang="pl-PL" dirty="0">
                <a:solidFill>
                  <a:schemeClr val="tx1"/>
                </a:solidFill>
              </a:rPr>
              <a:t>().</a:t>
            </a:r>
            <a:r>
              <a:rPr lang="pl-PL" dirty="0" err="1">
                <a:solidFill>
                  <a:schemeClr val="tx1"/>
                </a:solidFill>
              </a:rPr>
              <a:t>feature_names</a:t>
            </a:r>
            <a:r>
              <a:rPr lang="pl-PL" dirty="0">
                <a:solidFill>
                  <a:schemeClr val="tx1"/>
                </a:solidFill>
              </a:rPr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bc_data</a:t>
            </a:r>
            <a:r>
              <a:rPr lang="pl-PL" dirty="0">
                <a:solidFill>
                  <a:schemeClr val="tx1"/>
                </a:solidFill>
              </a:rPr>
              <a:t> = </a:t>
            </a:r>
            <a:r>
              <a:rPr lang="pl-PL" dirty="0" err="1">
                <a:solidFill>
                  <a:schemeClr val="tx1"/>
                </a:solidFill>
              </a:rPr>
              <a:t>pd.DataFrame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load_breast_cancer</a:t>
            </a:r>
            <a:r>
              <a:rPr lang="pl-PL" dirty="0">
                <a:solidFill>
                  <a:schemeClr val="tx1"/>
                </a:solidFill>
              </a:rPr>
              <a:t>().data, </a:t>
            </a:r>
            <a:r>
              <a:rPr lang="pl-PL" dirty="0" err="1">
                <a:solidFill>
                  <a:schemeClr val="tx1"/>
                </a:solidFill>
              </a:rPr>
              <a:t>columns</a:t>
            </a:r>
            <a:r>
              <a:rPr lang="pl-PL" dirty="0">
                <a:solidFill>
                  <a:schemeClr val="tx1"/>
                </a:solidFill>
              </a:rPr>
              <a:t>=</a:t>
            </a:r>
            <a:r>
              <a:rPr lang="pl-PL" dirty="0" err="1">
                <a:solidFill>
                  <a:schemeClr val="tx1"/>
                </a:solidFill>
              </a:rPr>
              <a:t>load_breast_cancer</a:t>
            </a:r>
            <a:r>
              <a:rPr lang="pl-PL" dirty="0">
                <a:solidFill>
                  <a:schemeClr val="tx1"/>
                </a:solidFill>
              </a:rPr>
              <a:t>().</a:t>
            </a:r>
            <a:r>
              <a:rPr lang="pl-PL" dirty="0" err="1">
                <a:solidFill>
                  <a:schemeClr val="tx1"/>
                </a:solidFill>
              </a:rPr>
              <a:t>feature_names</a:t>
            </a:r>
            <a:r>
              <a:rPr lang="pl-PL" dirty="0">
                <a:solidFill>
                  <a:schemeClr val="tx1"/>
                </a:solidFill>
              </a:rPr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#Selection </a:t>
            </a:r>
            <a:r>
              <a:rPr lang="pl-PL" dirty="0" err="1">
                <a:solidFill>
                  <a:srgbClr val="00B050"/>
                </a:solidFill>
              </a:rPr>
              <a:t>Based</a:t>
            </a:r>
            <a:r>
              <a:rPr lang="pl-PL" dirty="0">
                <a:solidFill>
                  <a:srgbClr val="00B050"/>
                </a:solidFill>
              </a:rPr>
              <a:t> on </a:t>
            </a:r>
            <a:r>
              <a:rPr lang="pl-PL" dirty="0" err="1">
                <a:solidFill>
                  <a:srgbClr val="00B050"/>
                </a:solidFill>
              </a:rPr>
              <a:t>Variance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Threshold</a:t>
            </a: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X_selected</a:t>
            </a:r>
            <a:r>
              <a:rPr lang="pl-PL" dirty="0">
                <a:solidFill>
                  <a:schemeClr val="tx1"/>
                </a:solidFill>
              </a:rPr>
              <a:t> = </a:t>
            </a:r>
            <a:r>
              <a:rPr lang="pl-PL" dirty="0" err="1">
                <a:solidFill>
                  <a:schemeClr val="tx1"/>
                </a:solidFill>
              </a:rPr>
              <a:t>wine_data.loc</a:t>
            </a:r>
            <a:r>
              <a:rPr lang="pl-PL" dirty="0">
                <a:solidFill>
                  <a:schemeClr val="tx1"/>
                </a:solidFill>
              </a:rPr>
              <a:t>[:, </a:t>
            </a:r>
            <a:r>
              <a:rPr lang="pl-PL" dirty="0" err="1">
                <a:solidFill>
                  <a:schemeClr val="tx1"/>
                </a:solidFill>
              </a:rPr>
              <a:t>wine_data.var</a:t>
            </a:r>
            <a:r>
              <a:rPr lang="pl-PL" dirty="0">
                <a:solidFill>
                  <a:schemeClr val="tx1"/>
                </a:solidFill>
              </a:rPr>
              <a:t>() &gt; 0.8]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#Correlation-Based </a:t>
            </a:r>
            <a:r>
              <a:rPr lang="pl-PL" dirty="0" err="1">
                <a:solidFill>
                  <a:srgbClr val="00B050"/>
                </a:solidFill>
              </a:rPr>
              <a:t>Feature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Selection</a:t>
            </a: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X_selected</a:t>
            </a:r>
            <a:r>
              <a:rPr lang="pl-PL" dirty="0">
                <a:solidFill>
                  <a:schemeClr val="tx1"/>
                </a:solidFill>
              </a:rPr>
              <a:t> = </a:t>
            </a:r>
            <a:r>
              <a:rPr lang="pl-PL" dirty="0" err="1">
                <a:solidFill>
                  <a:schemeClr val="tx1"/>
                </a:solidFill>
              </a:rPr>
              <a:t>bc_data.loc</a:t>
            </a:r>
            <a:r>
              <a:rPr lang="pl-PL" dirty="0">
                <a:solidFill>
                  <a:schemeClr val="tx1"/>
                </a:solidFill>
              </a:rPr>
              <a:t>[:, </a:t>
            </a:r>
            <a:r>
              <a:rPr lang="pl-PL" dirty="0" err="1">
                <a:solidFill>
                  <a:schemeClr val="tx1"/>
                </a:solidFill>
              </a:rPr>
              <a:t>bc_data.columns</a:t>
            </a:r>
            <a:r>
              <a:rPr lang="pl-PL" dirty="0">
                <a:solidFill>
                  <a:schemeClr val="tx1"/>
                </a:solidFill>
              </a:rPr>
              <a:t>[</a:t>
            </a:r>
            <a:r>
              <a:rPr lang="pl-PL" dirty="0" err="1">
                <a:solidFill>
                  <a:schemeClr val="tx1"/>
                </a:solidFill>
              </a:rPr>
              <a:t>abs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bc_data.corrwith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pd.Series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load_breast_cancer</a:t>
            </a:r>
            <a:r>
              <a:rPr lang="pl-PL" dirty="0">
                <a:solidFill>
                  <a:schemeClr val="tx1"/>
                </a:solidFill>
              </a:rPr>
              <a:t>().target))) &gt; 0.5].</a:t>
            </a:r>
            <a:r>
              <a:rPr lang="pl-PL" dirty="0" err="1">
                <a:solidFill>
                  <a:schemeClr val="tx1"/>
                </a:solidFill>
              </a:rPr>
              <a:t>tolist</a:t>
            </a:r>
            <a:r>
              <a:rPr lang="pl-PL" dirty="0">
                <a:solidFill>
                  <a:schemeClr val="tx1"/>
                </a:solidFill>
              </a:rPr>
              <a:t>()]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#Select K Best </a:t>
            </a:r>
            <a:r>
              <a:rPr lang="pl-PL" dirty="0" err="1">
                <a:solidFill>
                  <a:srgbClr val="00B050"/>
                </a:solidFill>
              </a:rPr>
              <a:t>Features</a:t>
            </a:r>
            <a:r>
              <a:rPr lang="pl-PL" dirty="0">
                <a:solidFill>
                  <a:srgbClr val="00B050"/>
                </a:solidFill>
              </a:rPr>
              <a:t> with F-Test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X_best</a:t>
            </a:r>
            <a:r>
              <a:rPr lang="pl-PL" dirty="0">
                <a:solidFill>
                  <a:schemeClr val="tx1"/>
                </a:solidFill>
              </a:rPr>
              <a:t> = </a:t>
            </a:r>
            <a:r>
              <a:rPr lang="pl-PL" dirty="0" err="1">
                <a:solidFill>
                  <a:schemeClr val="tx1"/>
                </a:solidFill>
              </a:rPr>
              <a:t>SelectKBest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f_classif</a:t>
            </a:r>
            <a:r>
              <a:rPr lang="pl-PL" dirty="0">
                <a:solidFill>
                  <a:schemeClr val="tx1"/>
                </a:solidFill>
              </a:rPr>
              <a:t>, k=5).</a:t>
            </a:r>
            <a:r>
              <a:rPr lang="pl-PL" dirty="0" err="1">
                <a:solidFill>
                  <a:schemeClr val="tx1"/>
                </a:solidFill>
              </a:rPr>
              <a:t>fit_transform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wine_data</a:t>
            </a:r>
            <a:r>
              <a:rPr lang="pl-PL" dirty="0">
                <a:solidFill>
                  <a:schemeClr val="tx1"/>
                </a:solidFill>
              </a:rPr>
              <a:t>, </a:t>
            </a:r>
            <a:r>
              <a:rPr lang="pl-PL" dirty="0" err="1">
                <a:solidFill>
                  <a:schemeClr val="tx1"/>
                </a:solidFill>
              </a:rPr>
              <a:t>load_wine</a:t>
            </a:r>
            <a:r>
              <a:rPr lang="pl-PL" dirty="0">
                <a:solidFill>
                  <a:schemeClr val="tx1"/>
                </a:solidFill>
              </a:rPr>
              <a:t>().target)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#Select K Best </a:t>
            </a:r>
            <a:r>
              <a:rPr lang="pl-PL" dirty="0" err="1">
                <a:solidFill>
                  <a:srgbClr val="00B050"/>
                </a:solidFill>
              </a:rPr>
              <a:t>Features</a:t>
            </a:r>
            <a:r>
              <a:rPr lang="pl-PL" dirty="0">
                <a:solidFill>
                  <a:srgbClr val="00B050"/>
                </a:solidFill>
              </a:rPr>
              <a:t> with Mutual Information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X_best</a:t>
            </a:r>
            <a:r>
              <a:rPr lang="pl-PL" dirty="0">
                <a:solidFill>
                  <a:schemeClr val="tx1"/>
                </a:solidFill>
              </a:rPr>
              <a:t> = </a:t>
            </a:r>
            <a:r>
              <a:rPr lang="pl-PL" dirty="0" err="1">
                <a:solidFill>
                  <a:schemeClr val="tx1"/>
                </a:solidFill>
              </a:rPr>
              <a:t>SelectKBest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mutual_info_classif</a:t>
            </a:r>
            <a:r>
              <a:rPr lang="pl-PL" dirty="0">
                <a:solidFill>
                  <a:schemeClr val="tx1"/>
                </a:solidFill>
              </a:rPr>
              <a:t>, k=6).</a:t>
            </a:r>
            <a:r>
              <a:rPr lang="pl-PL" dirty="0" err="1">
                <a:solidFill>
                  <a:schemeClr val="tx1"/>
                </a:solidFill>
              </a:rPr>
              <a:t>fit_transform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bc_data</a:t>
            </a:r>
            <a:r>
              <a:rPr lang="pl-PL" dirty="0">
                <a:solidFill>
                  <a:schemeClr val="tx1"/>
                </a:solidFill>
              </a:rPr>
              <a:t>, </a:t>
            </a:r>
            <a:r>
              <a:rPr lang="pl-PL" dirty="0" err="1">
                <a:solidFill>
                  <a:schemeClr val="tx1"/>
                </a:solidFill>
              </a:rPr>
              <a:t>load_breast_cancer</a:t>
            </a:r>
            <a:r>
              <a:rPr lang="pl-PL" dirty="0">
                <a:solidFill>
                  <a:schemeClr val="tx1"/>
                </a:solidFill>
              </a:rPr>
              <a:t>().target)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#Feature </a:t>
            </a:r>
            <a:r>
              <a:rPr lang="pl-PL" dirty="0" err="1">
                <a:solidFill>
                  <a:srgbClr val="00B050"/>
                </a:solidFill>
              </a:rPr>
              <a:t>Importance</a:t>
            </a:r>
            <a:r>
              <a:rPr lang="pl-PL" dirty="0">
                <a:solidFill>
                  <a:srgbClr val="00B050"/>
                </a:solidFill>
              </a:rPr>
              <a:t> By </a:t>
            </a:r>
            <a:r>
              <a:rPr lang="pl-PL" dirty="0" err="1">
                <a:solidFill>
                  <a:srgbClr val="00B050"/>
                </a:solidFill>
              </a:rPr>
              <a:t>Leveraging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Random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Forest</a:t>
            </a: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selected_features</a:t>
            </a:r>
            <a:r>
              <a:rPr lang="pl-PL" dirty="0">
                <a:solidFill>
                  <a:schemeClr val="tx1"/>
                </a:solidFill>
              </a:rPr>
              <a:t> = </a:t>
            </a:r>
            <a:r>
              <a:rPr lang="pl-PL" dirty="0" err="1">
                <a:solidFill>
                  <a:schemeClr val="tx1"/>
                </a:solidFill>
              </a:rPr>
              <a:t>wine_data.columns</a:t>
            </a:r>
            <a:r>
              <a:rPr lang="pl-PL" dirty="0">
                <a:solidFill>
                  <a:schemeClr val="tx1"/>
                </a:solidFill>
              </a:rPr>
              <a:t>[</a:t>
            </a:r>
            <a:r>
              <a:rPr lang="pl-PL" dirty="0" err="1">
                <a:solidFill>
                  <a:schemeClr val="tx1"/>
                </a:solidFill>
              </a:rPr>
              <a:t>np.argsort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RandomForestClassifier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random_state</a:t>
            </a:r>
            <a:r>
              <a:rPr lang="pl-PL" dirty="0">
                <a:solidFill>
                  <a:schemeClr val="tx1"/>
                </a:solidFill>
              </a:rPr>
              <a:t>=42).</a:t>
            </a:r>
            <a:r>
              <a:rPr lang="pl-PL" dirty="0" err="1">
                <a:solidFill>
                  <a:schemeClr val="tx1"/>
                </a:solidFill>
              </a:rPr>
              <a:t>fit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wine_data</a:t>
            </a:r>
            <a:r>
              <a:rPr lang="pl-PL" dirty="0">
                <a:solidFill>
                  <a:schemeClr val="tx1"/>
                </a:solidFill>
              </a:rPr>
              <a:t>, </a:t>
            </a:r>
            <a:r>
              <a:rPr lang="pl-PL" dirty="0" err="1">
                <a:solidFill>
                  <a:schemeClr val="tx1"/>
                </a:solidFill>
              </a:rPr>
              <a:t>load_wine</a:t>
            </a:r>
            <a:r>
              <a:rPr lang="pl-PL" dirty="0">
                <a:solidFill>
                  <a:schemeClr val="tx1"/>
                </a:solidFill>
              </a:rPr>
              <a:t>().target).</a:t>
            </a:r>
            <a:r>
              <a:rPr lang="pl-PL" dirty="0" err="1">
                <a:solidFill>
                  <a:schemeClr val="tx1"/>
                </a:solidFill>
              </a:rPr>
              <a:t>feature_importances</a:t>
            </a:r>
            <a:r>
              <a:rPr lang="pl-PL" dirty="0">
                <a:solidFill>
                  <a:schemeClr val="tx1"/>
                </a:solidFill>
              </a:rPr>
              <a:t>_)[-7:]].</a:t>
            </a:r>
            <a:r>
              <a:rPr lang="pl-PL" dirty="0" err="1">
                <a:solidFill>
                  <a:schemeClr val="tx1"/>
                </a:solidFill>
              </a:rPr>
              <a:t>tolist</a:t>
            </a:r>
            <a:r>
              <a:rPr lang="pl-PL" dirty="0">
                <a:solidFill>
                  <a:schemeClr val="tx1"/>
                </a:solidFill>
              </a:rPr>
              <a:t>()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#Select Top </a:t>
            </a:r>
            <a:r>
              <a:rPr lang="pl-PL" dirty="0" err="1">
                <a:solidFill>
                  <a:srgbClr val="00B050"/>
                </a:solidFill>
              </a:rPr>
              <a:t>Features</a:t>
            </a:r>
            <a:r>
              <a:rPr lang="pl-PL" dirty="0">
                <a:solidFill>
                  <a:srgbClr val="00B050"/>
                </a:solidFill>
              </a:rPr>
              <a:t> via </a:t>
            </a:r>
            <a:r>
              <a:rPr lang="pl-PL" dirty="0" err="1">
                <a:solidFill>
                  <a:srgbClr val="00B050"/>
                </a:solidFill>
              </a:rPr>
              <a:t>Recursive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Feature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Elimination</a:t>
            </a:r>
            <a:r>
              <a:rPr lang="pl-PL" dirty="0">
                <a:solidFill>
                  <a:srgbClr val="00B050"/>
                </a:solidFill>
              </a:rPr>
              <a:t> and </a:t>
            </a:r>
            <a:r>
              <a:rPr lang="pl-PL" dirty="0" err="1">
                <a:solidFill>
                  <a:srgbClr val="00B050"/>
                </a:solidFill>
              </a:rPr>
              <a:t>Logistic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Regression</a:t>
            </a: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X_rfe</a:t>
            </a:r>
            <a:r>
              <a:rPr lang="pl-PL" dirty="0">
                <a:solidFill>
                  <a:schemeClr val="tx1"/>
                </a:solidFill>
              </a:rPr>
              <a:t> = RFE(</a:t>
            </a:r>
            <a:r>
              <a:rPr lang="pl-PL" dirty="0" err="1">
                <a:solidFill>
                  <a:schemeClr val="tx1"/>
                </a:solidFill>
              </a:rPr>
              <a:t>LogisticRegression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max_iter</a:t>
            </a:r>
            <a:r>
              <a:rPr lang="pl-PL" dirty="0">
                <a:solidFill>
                  <a:schemeClr val="tx1"/>
                </a:solidFill>
              </a:rPr>
              <a:t>=1000), </a:t>
            </a:r>
            <a:r>
              <a:rPr lang="pl-PL" dirty="0" err="1">
                <a:solidFill>
                  <a:schemeClr val="tx1"/>
                </a:solidFill>
              </a:rPr>
              <a:t>n_features_to_select</a:t>
            </a:r>
            <a:r>
              <a:rPr lang="pl-PL" dirty="0">
                <a:solidFill>
                  <a:schemeClr val="tx1"/>
                </a:solidFill>
              </a:rPr>
              <a:t>=8).</a:t>
            </a:r>
            <a:r>
              <a:rPr lang="pl-PL" dirty="0" err="1">
                <a:solidFill>
                  <a:schemeClr val="tx1"/>
                </a:solidFill>
              </a:rPr>
              <a:t>fit_transform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StandardScaler</a:t>
            </a:r>
            <a:r>
              <a:rPr lang="pl-PL" dirty="0">
                <a:solidFill>
                  <a:schemeClr val="tx1"/>
                </a:solidFill>
              </a:rPr>
              <a:t>().</a:t>
            </a:r>
            <a:r>
              <a:rPr lang="pl-PL" dirty="0" err="1">
                <a:solidFill>
                  <a:schemeClr val="tx1"/>
                </a:solidFill>
              </a:rPr>
              <a:t>fit_transform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bc_data</a:t>
            </a:r>
            <a:r>
              <a:rPr lang="pl-PL" dirty="0">
                <a:solidFill>
                  <a:schemeClr val="tx1"/>
                </a:solidFill>
              </a:rPr>
              <a:t>), </a:t>
            </a:r>
            <a:r>
              <a:rPr lang="pl-PL" dirty="0" err="1">
                <a:solidFill>
                  <a:schemeClr val="tx1"/>
                </a:solidFill>
              </a:rPr>
              <a:t>load_breast_cancer</a:t>
            </a:r>
            <a:r>
              <a:rPr lang="pl-PL" dirty="0">
                <a:solidFill>
                  <a:schemeClr val="tx1"/>
                </a:solidFill>
              </a:rPr>
              <a:t>().target)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#Principal Component Analysis for </a:t>
            </a:r>
            <a:r>
              <a:rPr lang="pl-PL" dirty="0" err="1">
                <a:solidFill>
                  <a:srgbClr val="00B050"/>
                </a:solidFill>
              </a:rPr>
              <a:t>Feature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Selection</a:t>
            </a: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X_pca</a:t>
            </a:r>
            <a:r>
              <a:rPr lang="pl-PL" dirty="0">
                <a:solidFill>
                  <a:schemeClr val="tx1"/>
                </a:solidFill>
              </a:rPr>
              <a:t> = PCA(</a:t>
            </a:r>
            <a:r>
              <a:rPr lang="pl-PL" dirty="0" err="1">
                <a:solidFill>
                  <a:schemeClr val="tx1"/>
                </a:solidFill>
              </a:rPr>
              <a:t>n_components</a:t>
            </a:r>
            <a:r>
              <a:rPr lang="pl-PL" dirty="0">
                <a:solidFill>
                  <a:schemeClr val="tx1"/>
                </a:solidFill>
              </a:rPr>
              <a:t>=0.9, </a:t>
            </a:r>
            <a:r>
              <a:rPr lang="pl-PL" dirty="0" err="1">
                <a:solidFill>
                  <a:schemeClr val="tx1"/>
                </a:solidFill>
              </a:rPr>
              <a:t>random_state</a:t>
            </a:r>
            <a:r>
              <a:rPr lang="pl-PL" dirty="0">
                <a:solidFill>
                  <a:schemeClr val="tx1"/>
                </a:solidFill>
              </a:rPr>
              <a:t>=42).</a:t>
            </a:r>
            <a:r>
              <a:rPr lang="pl-PL" dirty="0" err="1">
                <a:solidFill>
                  <a:schemeClr val="tx1"/>
                </a:solidFill>
              </a:rPr>
              <a:t>fit_transform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StandardScaler</a:t>
            </a:r>
            <a:r>
              <a:rPr lang="pl-PL" dirty="0">
                <a:solidFill>
                  <a:schemeClr val="tx1"/>
                </a:solidFill>
              </a:rPr>
              <a:t>().</a:t>
            </a:r>
            <a:r>
              <a:rPr lang="pl-PL" dirty="0" err="1">
                <a:solidFill>
                  <a:schemeClr val="tx1"/>
                </a:solidFill>
              </a:rPr>
              <a:t>fit_transform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wine_data</a:t>
            </a:r>
            <a:r>
              <a:rPr lang="pl-PL" dirty="0">
                <a:solidFill>
                  <a:schemeClr val="tx1"/>
                </a:solidFill>
              </a:rPr>
              <a:t>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#Feature </a:t>
            </a:r>
            <a:r>
              <a:rPr lang="pl-PL" dirty="0" err="1">
                <a:solidFill>
                  <a:srgbClr val="00B050"/>
                </a:solidFill>
              </a:rPr>
              <a:t>Selection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Based</a:t>
            </a:r>
            <a:r>
              <a:rPr lang="pl-PL" dirty="0">
                <a:solidFill>
                  <a:srgbClr val="00B050"/>
                </a:solidFill>
              </a:rPr>
              <a:t> on Missing </a:t>
            </a:r>
            <a:r>
              <a:rPr lang="pl-PL" dirty="0" err="1">
                <a:solidFill>
                  <a:srgbClr val="00B050"/>
                </a:solidFill>
              </a:rPr>
              <a:t>Values</a:t>
            </a: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selected_cols</a:t>
            </a:r>
            <a:r>
              <a:rPr lang="pl-PL" dirty="0">
                <a:solidFill>
                  <a:schemeClr val="tx1"/>
                </a:solidFill>
              </a:rPr>
              <a:t> = </a:t>
            </a:r>
            <a:r>
              <a:rPr lang="pl-PL" dirty="0" err="1">
                <a:solidFill>
                  <a:schemeClr val="tx1"/>
                </a:solidFill>
              </a:rPr>
              <a:t>wine_data.dropna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thresh</a:t>
            </a:r>
            <a:r>
              <a:rPr lang="pl-PL" dirty="0">
                <a:solidFill>
                  <a:schemeClr val="tx1"/>
                </a:solidFill>
              </a:rPr>
              <a:t>=len(</a:t>
            </a:r>
            <a:r>
              <a:rPr lang="pl-PL" dirty="0" err="1">
                <a:solidFill>
                  <a:schemeClr val="tx1"/>
                </a:solidFill>
              </a:rPr>
              <a:t>wine_data</a:t>
            </a:r>
            <a:r>
              <a:rPr lang="pl-PL" dirty="0">
                <a:solidFill>
                  <a:schemeClr val="tx1"/>
                </a:solidFill>
              </a:rPr>
              <a:t>)*0.9, </a:t>
            </a:r>
            <a:r>
              <a:rPr lang="pl-PL" dirty="0" err="1">
                <a:solidFill>
                  <a:schemeClr val="tx1"/>
                </a:solidFill>
              </a:rPr>
              <a:t>axis</a:t>
            </a:r>
            <a:r>
              <a:rPr lang="pl-PL" dirty="0">
                <a:solidFill>
                  <a:schemeClr val="tx1"/>
                </a:solidFill>
              </a:rPr>
              <a:t>=1).</a:t>
            </a:r>
            <a:r>
              <a:rPr lang="pl-PL" dirty="0" err="1">
                <a:solidFill>
                  <a:schemeClr val="tx1"/>
                </a:solidFill>
              </a:rPr>
              <a:t>columns.tolist</a:t>
            </a:r>
            <a:r>
              <a:rPr lang="pl-PL" dirty="0">
                <a:solidFill>
                  <a:schemeClr val="tx1"/>
                </a:solidFill>
              </a:rPr>
              <a:t>()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#L1-Based </a:t>
            </a:r>
            <a:r>
              <a:rPr lang="pl-PL" dirty="0" err="1">
                <a:solidFill>
                  <a:srgbClr val="00B050"/>
                </a:solidFill>
              </a:rPr>
              <a:t>Feature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Selection</a:t>
            </a: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selected_features</a:t>
            </a:r>
            <a:r>
              <a:rPr lang="pl-PL" dirty="0">
                <a:solidFill>
                  <a:schemeClr val="tx1"/>
                </a:solidFill>
              </a:rPr>
              <a:t> = </a:t>
            </a:r>
            <a:r>
              <a:rPr lang="pl-PL" dirty="0" err="1">
                <a:solidFill>
                  <a:schemeClr val="tx1"/>
                </a:solidFill>
              </a:rPr>
              <a:t>wine_data.columns</a:t>
            </a:r>
            <a:r>
              <a:rPr lang="pl-PL" dirty="0">
                <a:solidFill>
                  <a:schemeClr val="tx1"/>
                </a:solidFill>
              </a:rPr>
              <a:t>[</a:t>
            </a:r>
            <a:r>
              <a:rPr lang="pl-PL" dirty="0" err="1">
                <a:solidFill>
                  <a:schemeClr val="tx1"/>
                </a:solidFill>
              </a:rPr>
              <a:t>np.any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LogisticRegression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penalty</a:t>
            </a:r>
            <a:r>
              <a:rPr lang="pl-PL" dirty="0">
                <a:solidFill>
                  <a:schemeClr val="tx1"/>
                </a:solidFill>
              </a:rPr>
              <a:t>='l1', </a:t>
            </a:r>
            <a:r>
              <a:rPr lang="pl-PL" dirty="0" err="1">
                <a:solidFill>
                  <a:schemeClr val="tx1"/>
                </a:solidFill>
              </a:rPr>
              <a:t>solver</a:t>
            </a:r>
            <a:r>
              <a:rPr lang="pl-PL" dirty="0">
                <a:solidFill>
                  <a:schemeClr val="tx1"/>
                </a:solidFill>
              </a:rPr>
              <a:t>='</a:t>
            </a:r>
            <a:r>
              <a:rPr lang="pl-PL" dirty="0" err="1">
                <a:solidFill>
                  <a:schemeClr val="tx1"/>
                </a:solidFill>
              </a:rPr>
              <a:t>liblinear</a:t>
            </a:r>
            <a:r>
              <a:rPr lang="pl-PL" dirty="0">
                <a:solidFill>
                  <a:schemeClr val="tx1"/>
                </a:solidFill>
              </a:rPr>
              <a:t>', C=0.5).</a:t>
            </a:r>
            <a:r>
              <a:rPr lang="pl-PL" dirty="0" err="1">
                <a:solidFill>
                  <a:schemeClr val="tx1"/>
                </a:solidFill>
              </a:rPr>
              <a:t>fit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StandardScaler</a:t>
            </a:r>
            <a:r>
              <a:rPr lang="pl-PL" dirty="0">
                <a:solidFill>
                  <a:schemeClr val="tx1"/>
                </a:solidFill>
              </a:rPr>
              <a:t>().</a:t>
            </a:r>
            <a:r>
              <a:rPr lang="pl-PL" dirty="0" err="1">
                <a:solidFill>
                  <a:schemeClr val="tx1"/>
                </a:solidFill>
              </a:rPr>
              <a:t>fit_transform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wine_data</a:t>
            </a:r>
            <a:r>
              <a:rPr lang="pl-PL" dirty="0">
                <a:solidFill>
                  <a:schemeClr val="tx1"/>
                </a:solidFill>
              </a:rPr>
              <a:t>), </a:t>
            </a:r>
            <a:r>
              <a:rPr lang="pl-PL" dirty="0" err="1">
                <a:solidFill>
                  <a:schemeClr val="tx1"/>
                </a:solidFill>
              </a:rPr>
              <a:t>load_wine</a:t>
            </a:r>
            <a:r>
              <a:rPr lang="pl-PL" dirty="0">
                <a:solidFill>
                  <a:schemeClr val="tx1"/>
                </a:solidFill>
              </a:rPr>
              <a:t>().target).</a:t>
            </a:r>
            <a:r>
              <a:rPr lang="pl-PL" dirty="0" err="1">
                <a:solidFill>
                  <a:schemeClr val="tx1"/>
                </a:solidFill>
              </a:rPr>
              <a:t>coef</a:t>
            </a:r>
            <a:r>
              <a:rPr lang="pl-PL" dirty="0">
                <a:solidFill>
                  <a:schemeClr val="tx1"/>
                </a:solidFill>
              </a:rPr>
              <a:t>_ != 0, </a:t>
            </a:r>
            <a:r>
              <a:rPr lang="pl-PL" dirty="0" err="1">
                <a:solidFill>
                  <a:schemeClr val="tx1"/>
                </a:solidFill>
              </a:rPr>
              <a:t>axis</a:t>
            </a:r>
            <a:r>
              <a:rPr lang="pl-PL" dirty="0">
                <a:solidFill>
                  <a:schemeClr val="tx1"/>
                </a:solidFill>
              </a:rPr>
              <a:t>=0)].</a:t>
            </a:r>
            <a:r>
              <a:rPr lang="pl-PL" dirty="0" err="1">
                <a:solidFill>
                  <a:schemeClr val="tx1"/>
                </a:solidFill>
              </a:rPr>
              <a:t>tolist</a:t>
            </a:r>
            <a:r>
              <a:rPr lang="pl-PL" dirty="0">
                <a:solidFill>
                  <a:schemeClr val="tx1"/>
                </a:solidFill>
              </a:rPr>
              <a:t>()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#Removing </a:t>
            </a:r>
            <a:r>
              <a:rPr lang="pl-PL" dirty="0" err="1">
                <a:solidFill>
                  <a:srgbClr val="00B050"/>
                </a:solidFill>
              </a:rPr>
              <a:t>Multicollinear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Features</a:t>
            </a: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keep_cols</a:t>
            </a:r>
            <a:r>
              <a:rPr lang="pl-PL" dirty="0">
                <a:solidFill>
                  <a:schemeClr val="tx1"/>
                </a:solidFill>
              </a:rPr>
              <a:t> = [col for col in </a:t>
            </a:r>
            <a:r>
              <a:rPr lang="pl-PL" dirty="0" err="1">
                <a:solidFill>
                  <a:schemeClr val="tx1"/>
                </a:solidFill>
              </a:rPr>
              <a:t>bc_data.columns</a:t>
            </a:r>
            <a:r>
              <a:rPr lang="pl-PL" dirty="0">
                <a:solidFill>
                  <a:schemeClr val="tx1"/>
                </a:solidFill>
              </a:rPr>
              <a:t> </a:t>
            </a:r>
            <a:r>
              <a:rPr lang="pl-PL" dirty="0" err="1">
                <a:solidFill>
                  <a:schemeClr val="tx1"/>
                </a:solidFill>
              </a:rPr>
              <a:t>if</a:t>
            </a:r>
            <a:r>
              <a:rPr lang="pl-PL" dirty="0">
                <a:solidFill>
                  <a:schemeClr val="tx1"/>
                </a:solidFill>
              </a:rPr>
              <a:t> not </a:t>
            </a:r>
            <a:r>
              <a:rPr lang="pl-PL" dirty="0" err="1">
                <a:solidFill>
                  <a:schemeClr val="tx1"/>
                </a:solidFill>
              </a:rPr>
              <a:t>any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bc_data.drop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columns</a:t>
            </a:r>
            <a:r>
              <a:rPr lang="pl-PL" dirty="0">
                <a:solidFill>
                  <a:schemeClr val="tx1"/>
                </a:solidFill>
              </a:rPr>
              <a:t>=col).</a:t>
            </a:r>
            <a:r>
              <a:rPr lang="pl-PL" dirty="0" err="1">
                <a:solidFill>
                  <a:schemeClr val="tx1"/>
                </a:solidFill>
              </a:rPr>
              <a:t>corrwith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bc_data</a:t>
            </a:r>
            <a:r>
              <a:rPr lang="pl-PL" dirty="0">
                <a:solidFill>
                  <a:schemeClr val="tx1"/>
                </a:solidFill>
              </a:rPr>
              <a:t>[col]).</a:t>
            </a:r>
            <a:r>
              <a:rPr lang="pl-PL" dirty="0" err="1">
                <a:solidFill>
                  <a:schemeClr val="tx1"/>
                </a:solidFill>
              </a:rPr>
              <a:t>abs</a:t>
            </a:r>
            <a:r>
              <a:rPr lang="pl-PL" dirty="0">
                <a:solidFill>
                  <a:schemeClr val="tx1"/>
                </a:solidFill>
              </a:rPr>
              <a:t>() &gt; 0.85)]</a:t>
            </a:r>
            <a:endParaRPr lang="pl-PL" sz="1600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7D268CBE-88E4-1131-5EBF-EF0DC5917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Dodatek 5 – one-</a:t>
            </a:r>
            <a:r>
              <a:rPr lang="pl-PL" dirty="0" err="1"/>
              <a:t>liner’y</a:t>
            </a:r>
            <a:r>
              <a:rPr lang="pl-PL" dirty="0"/>
              <a:t> – </a:t>
            </a:r>
            <a:r>
              <a:rPr lang="pl-PL" dirty="0" err="1"/>
              <a:t>Features</a:t>
            </a:r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0DF9BC28-1870-5D75-FEC8-DF2D27F0D7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53</a:t>
            </a:fld>
            <a:endParaRPr lang="pl-PL" dirty="0"/>
          </a:p>
        </p:txBody>
      </p:sp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A31A507A-C222-3ED2-D33D-AC5F80C4A6A6}"/>
              </a:ext>
            </a:extLst>
          </p:cNvPr>
          <p:cNvSpPr txBox="1">
            <a:spLocks/>
          </p:cNvSpPr>
          <p:nvPr/>
        </p:nvSpPr>
        <p:spPr>
          <a:xfrm>
            <a:off x="283447" y="501133"/>
            <a:ext cx="5406615" cy="60950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### </a:t>
            </a:r>
            <a:r>
              <a:rPr lang="pl-PL" sz="700" dirty="0" err="1">
                <a:solidFill>
                  <a:srgbClr val="00B050"/>
                </a:solidFill>
              </a:rPr>
              <a:t>Feature</a:t>
            </a:r>
            <a:r>
              <a:rPr lang="pl-PL" sz="700" dirty="0">
                <a:solidFill>
                  <a:srgbClr val="00B050"/>
                </a:solidFill>
              </a:rPr>
              <a:t> Engineering ###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chemeClr val="tx1"/>
                </a:solidFill>
              </a:rPr>
              <a:t>import </a:t>
            </a:r>
            <a:r>
              <a:rPr lang="pl-PL" sz="700" dirty="0" err="1">
                <a:solidFill>
                  <a:schemeClr val="tx1"/>
                </a:solidFill>
              </a:rPr>
              <a:t>pandas</a:t>
            </a:r>
            <a:r>
              <a:rPr lang="pl-PL" sz="700" dirty="0">
                <a:solidFill>
                  <a:schemeClr val="tx1"/>
                </a:solidFill>
              </a:rPr>
              <a:t> as </a:t>
            </a:r>
            <a:r>
              <a:rPr lang="pl-PL" sz="700" dirty="0" err="1">
                <a:solidFill>
                  <a:schemeClr val="tx1"/>
                </a:solidFill>
              </a:rPr>
              <a:t>pd</a:t>
            </a:r>
            <a:endParaRPr lang="pl-PL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chemeClr val="tx1"/>
                </a:solidFill>
              </a:rPr>
              <a:t>import </a:t>
            </a:r>
            <a:r>
              <a:rPr lang="pl-PL" sz="700" dirty="0" err="1">
                <a:solidFill>
                  <a:schemeClr val="tx1"/>
                </a:solidFill>
              </a:rPr>
              <a:t>numpy</a:t>
            </a:r>
            <a:r>
              <a:rPr lang="pl-PL" sz="700" dirty="0">
                <a:solidFill>
                  <a:schemeClr val="tx1"/>
                </a:solidFill>
              </a:rPr>
              <a:t> as </a:t>
            </a:r>
            <a:r>
              <a:rPr lang="pl-PL" sz="700" dirty="0" err="1">
                <a:solidFill>
                  <a:schemeClr val="tx1"/>
                </a:solidFill>
              </a:rPr>
              <a:t>np</a:t>
            </a:r>
            <a:endParaRPr lang="pl-PL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chemeClr val="tx1"/>
                </a:solidFill>
              </a:rPr>
              <a:t>from </a:t>
            </a:r>
            <a:r>
              <a:rPr lang="pl-PL" sz="700" dirty="0" err="1">
                <a:solidFill>
                  <a:schemeClr val="tx1"/>
                </a:solidFill>
              </a:rPr>
              <a:t>sklearn.preprocessing</a:t>
            </a:r>
            <a:r>
              <a:rPr lang="pl-PL" sz="700" dirty="0">
                <a:solidFill>
                  <a:schemeClr val="tx1"/>
                </a:solidFill>
              </a:rPr>
              <a:t> import </a:t>
            </a:r>
            <a:r>
              <a:rPr lang="pl-PL" sz="700" dirty="0" err="1">
                <a:solidFill>
                  <a:schemeClr val="tx1"/>
                </a:solidFill>
              </a:rPr>
              <a:t>StandardScaler</a:t>
            </a:r>
            <a:r>
              <a:rPr lang="pl-PL" sz="700" dirty="0">
                <a:solidFill>
                  <a:schemeClr val="tx1"/>
                </a:solidFill>
              </a:rPr>
              <a:t>, </a:t>
            </a:r>
            <a:r>
              <a:rPr lang="pl-PL" sz="700" dirty="0" err="1">
                <a:solidFill>
                  <a:schemeClr val="tx1"/>
                </a:solidFill>
              </a:rPr>
              <a:t>MinMaxScaler</a:t>
            </a:r>
            <a:r>
              <a:rPr lang="pl-PL" sz="700" dirty="0">
                <a:solidFill>
                  <a:schemeClr val="tx1"/>
                </a:solidFill>
              </a:rPr>
              <a:t>, </a:t>
            </a:r>
            <a:r>
              <a:rPr lang="pl-PL" sz="700" dirty="0" err="1">
                <a:solidFill>
                  <a:schemeClr val="tx1"/>
                </a:solidFill>
              </a:rPr>
              <a:t>OneHotEncoder</a:t>
            </a:r>
            <a:r>
              <a:rPr lang="pl-PL" sz="700" dirty="0">
                <a:solidFill>
                  <a:schemeClr val="tx1"/>
                </a:solidFill>
              </a:rPr>
              <a:t>, </a:t>
            </a:r>
            <a:r>
              <a:rPr lang="pl-PL" sz="700" dirty="0" err="1">
                <a:solidFill>
                  <a:schemeClr val="tx1"/>
                </a:solidFill>
              </a:rPr>
              <a:t>KBinsDiscretizer</a:t>
            </a:r>
            <a:r>
              <a:rPr lang="pl-PL" sz="700" dirty="0">
                <a:solidFill>
                  <a:schemeClr val="tx1"/>
                </a:solidFill>
              </a:rPr>
              <a:t>, </a:t>
            </a:r>
            <a:r>
              <a:rPr lang="pl-PL" sz="700" dirty="0" err="1">
                <a:solidFill>
                  <a:schemeClr val="tx1"/>
                </a:solidFill>
              </a:rPr>
              <a:t>PolynomialFeatures</a:t>
            </a:r>
            <a:endParaRPr lang="pl-PL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chemeClr val="tx1"/>
                </a:solidFill>
              </a:rPr>
              <a:t>from </a:t>
            </a:r>
            <a:r>
              <a:rPr lang="pl-PL" sz="700" dirty="0" err="1">
                <a:solidFill>
                  <a:schemeClr val="tx1"/>
                </a:solidFill>
              </a:rPr>
              <a:t>sklearn.feature_selection</a:t>
            </a:r>
            <a:r>
              <a:rPr lang="pl-PL" sz="700" dirty="0">
                <a:solidFill>
                  <a:schemeClr val="tx1"/>
                </a:solidFill>
              </a:rPr>
              <a:t> import </a:t>
            </a:r>
            <a:r>
              <a:rPr lang="pl-PL" sz="700" dirty="0" err="1">
                <a:solidFill>
                  <a:schemeClr val="tx1"/>
                </a:solidFill>
              </a:rPr>
              <a:t>VarianceThreshold</a:t>
            </a:r>
            <a:endParaRPr lang="pl-PL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chemeClr val="tx1"/>
                </a:solidFill>
              </a:rPr>
              <a:t>from </a:t>
            </a:r>
            <a:r>
              <a:rPr lang="pl-PL" sz="700" dirty="0" err="1">
                <a:solidFill>
                  <a:schemeClr val="tx1"/>
                </a:solidFill>
              </a:rPr>
              <a:t>sklearn.decomposition</a:t>
            </a:r>
            <a:r>
              <a:rPr lang="pl-PL" sz="700" dirty="0">
                <a:solidFill>
                  <a:schemeClr val="tx1"/>
                </a:solidFill>
              </a:rPr>
              <a:t> import PCA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 err="1">
                <a:solidFill>
                  <a:schemeClr val="tx1"/>
                </a:solidFill>
              </a:rPr>
              <a:t>wine</a:t>
            </a:r>
            <a:r>
              <a:rPr lang="pl-PL" sz="700" dirty="0">
                <a:solidFill>
                  <a:schemeClr val="tx1"/>
                </a:solidFill>
              </a:rPr>
              <a:t> = </a:t>
            </a:r>
            <a:r>
              <a:rPr lang="pl-PL" sz="700" dirty="0" err="1">
                <a:solidFill>
                  <a:schemeClr val="tx1"/>
                </a:solidFill>
              </a:rPr>
              <a:t>load_wine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as_frame</a:t>
            </a:r>
            <a:r>
              <a:rPr lang="pl-PL" sz="700" dirty="0">
                <a:solidFill>
                  <a:schemeClr val="tx1"/>
                </a:solidFill>
              </a:rPr>
              <a:t>=True)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 err="1">
                <a:solidFill>
                  <a:schemeClr val="tx1"/>
                </a:solidFill>
              </a:rPr>
              <a:t>df_wine</a:t>
            </a:r>
            <a:r>
              <a:rPr lang="pl-PL" sz="700" dirty="0">
                <a:solidFill>
                  <a:schemeClr val="tx1"/>
                </a:solidFill>
              </a:rPr>
              <a:t> = </a:t>
            </a:r>
            <a:r>
              <a:rPr lang="pl-PL" sz="700" dirty="0" err="1">
                <a:solidFill>
                  <a:schemeClr val="tx1"/>
                </a:solidFill>
              </a:rPr>
              <a:t>wine.frame</a:t>
            </a:r>
            <a:endParaRPr lang="pl-PL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chemeClr val="tx1"/>
                </a:solidFill>
              </a:rPr>
              <a:t> boston = </a:t>
            </a:r>
            <a:r>
              <a:rPr lang="pl-PL" sz="700" dirty="0" err="1">
                <a:solidFill>
                  <a:schemeClr val="tx1"/>
                </a:solidFill>
              </a:rPr>
              <a:t>fetch_openml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name</a:t>
            </a:r>
            <a:r>
              <a:rPr lang="pl-PL" sz="700" dirty="0">
                <a:solidFill>
                  <a:schemeClr val="tx1"/>
                </a:solidFill>
              </a:rPr>
              <a:t>="boston", version=1, </a:t>
            </a:r>
            <a:r>
              <a:rPr lang="pl-PL" sz="700" dirty="0" err="1">
                <a:solidFill>
                  <a:schemeClr val="tx1"/>
                </a:solidFill>
              </a:rPr>
              <a:t>as_frame</a:t>
            </a:r>
            <a:r>
              <a:rPr lang="pl-PL" sz="700" dirty="0">
                <a:solidFill>
                  <a:schemeClr val="tx1"/>
                </a:solidFill>
              </a:rPr>
              <a:t>=True)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 err="1">
                <a:solidFill>
                  <a:schemeClr val="tx1"/>
                </a:solidFill>
              </a:rPr>
              <a:t>df_boston</a:t>
            </a:r>
            <a:r>
              <a:rPr lang="pl-PL" sz="700" dirty="0">
                <a:solidFill>
                  <a:schemeClr val="tx1"/>
                </a:solidFill>
              </a:rPr>
              <a:t> = </a:t>
            </a:r>
            <a:r>
              <a:rPr lang="pl-PL" sz="700" dirty="0" err="1">
                <a:solidFill>
                  <a:schemeClr val="tx1"/>
                </a:solidFill>
              </a:rPr>
              <a:t>boston.frame</a:t>
            </a:r>
            <a:endParaRPr lang="pl-PL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#Standardization of </a:t>
            </a:r>
            <a:r>
              <a:rPr lang="pl-PL" sz="700" dirty="0" err="1">
                <a:solidFill>
                  <a:srgbClr val="00B050"/>
                </a:solidFill>
              </a:rPr>
              <a:t>Numerical</a:t>
            </a:r>
            <a:r>
              <a:rPr lang="pl-PL" sz="700" dirty="0">
                <a:solidFill>
                  <a:srgbClr val="00B050"/>
                </a:solidFill>
              </a:rPr>
              <a:t> </a:t>
            </a:r>
            <a:r>
              <a:rPr lang="pl-PL" sz="700" dirty="0" err="1">
                <a:solidFill>
                  <a:srgbClr val="00B050"/>
                </a:solidFill>
              </a:rPr>
              <a:t>Features</a:t>
            </a:r>
            <a:r>
              <a:rPr lang="pl-PL" sz="700" dirty="0">
                <a:solidFill>
                  <a:srgbClr val="00B050"/>
                </a:solidFill>
              </a:rPr>
              <a:t> (Z-</a:t>
            </a:r>
            <a:r>
              <a:rPr lang="pl-PL" sz="700" dirty="0" err="1">
                <a:solidFill>
                  <a:srgbClr val="00B050"/>
                </a:solidFill>
              </a:rPr>
              <a:t>score</a:t>
            </a:r>
            <a:r>
              <a:rPr lang="pl-PL" sz="700" dirty="0">
                <a:solidFill>
                  <a:srgbClr val="00B050"/>
                </a:solidFill>
              </a:rPr>
              <a:t> </a:t>
            </a:r>
            <a:r>
              <a:rPr lang="pl-PL" sz="700" dirty="0" err="1">
                <a:solidFill>
                  <a:srgbClr val="00B050"/>
                </a:solidFill>
              </a:rPr>
              <a:t>Scaling</a:t>
            </a:r>
            <a:r>
              <a:rPr lang="pl-PL" sz="700" dirty="0">
                <a:solidFill>
                  <a:srgbClr val="00B050"/>
                </a:solidFill>
              </a:rPr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 err="1">
                <a:solidFill>
                  <a:schemeClr val="tx1"/>
                </a:solidFill>
              </a:rPr>
              <a:t>df_wine_std</a:t>
            </a:r>
            <a:r>
              <a:rPr lang="pl-PL" sz="700" dirty="0">
                <a:solidFill>
                  <a:schemeClr val="tx1"/>
                </a:solidFill>
              </a:rPr>
              <a:t> = </a:t>
            </a:r>
            <a:r>
              <a:rPr lang="pl-PL" sz="700" dirty="0" err="1">
                <a:solidFill>
                  <a:schemeClr val="tx1"/>
                </a:solidFill>
              </a:rPr>
              <a:t>pd.DataFrame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StandardScaler</a:t>
            </a:r>
            <a:r>
              <a:rPr lang="pl-PL" sz="700" dirty="0">
                <a:solidFill>
                  <a:schemeClr val="tx1"/>
                </a:solidFill>
              </a:rPr>
              <a:t>().</a:t>
            </a:r>
            <a:r>
              <a:rPr lang="pl-PL" sz="700" dirty="0" err="1">
                <a:solidFill>
                  <a:schemeClr val="tx1"/>
                </a:solidFill>
              </a:rPr>
              <a:t>fit_transform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df_wine.drop</a:t>
            </a:r>
            <a:r>
              <a:rPr lang="pl-PL" sz="700" dirty="0">
                <a:solidFill>
                  <a:schemeClr val="tx1"/>
                </a:solidFill>
              </a:rPr>
              <a:t>('target', </a:t>
            </a:r>
            <a:r>
              <a:rPr lang="pl-PL" sz="700" dirty="0" err="1">
                <a:solidFill>
                  <a:schemeClr val="tx1"/>
                </a:solidFill>
              </a:rPr>
              <a:t>axis</a:t>
            </a:r>
            <a:r>
              <a:rPr lang="pl-PL" sz="700" dirty="0">
                <a:solidFill>
                  <a:schemeClr val="tx1"/>
                </a:solidFill>
              </a:rPr>
              <a:t>=1)), </a:t>
            </a:r>
            <a:r>
              <a:rPr lang="pl-PL" sz="700" dirty="0" err="1">
                <a:solidFill>
                  <a:schemeClr val="tx1"/>
                </a:solidFill>
              </a:rPr>
              <a:t>columns</a:t>
            </a:r>
            <a:r>
              <a:rPr lang="pl-PL" sz="700" dirty="0">
                <a:solidFill>
                  <a:schemeClr val="tx1"/>
                </a:solidFill>
              </a:rPr>
              <a:t>=</a:t>
            </a:r>
            <a:r>
              <a:rPr lang="pl-PL" sz="700" dirty="0" err="1">
                <a:solidFill>
                  <a:schemeClr val="tx1"/>
                </a:solidFill>
              </a:rPr>
              <a:t>df_wine.columns</a:t>
            </a:r>
            <a:r>
              <a:rPr lang="pl-PL" sz="700" dirty="0">
                <a:solidFill>
                  <a:schemeClr val="tx1"/>
                </a:solidFill>
              </a:rPr>
              <a:t>[:-1])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#Min-Max </a:t>
            </a:r>
            <a:r>
              <a:rPr lang="pl-PL" sz="700" dirty="0" err="1">
                <a:solidFill>
                  <a:srgbClr val="00B050"/>
                </a:solidFill>
              </a:rPr>
              <a:t>Scaling</a:t>
            </a: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 err="1">
                <a:solidFill>
                  <a:schemeClr val="tx1"/>
                </a:solidFill>
              </a:rPr>
              <a:t>df_boston_scaled</a:t>
            </a:r>
            <a:r>
              <a:rPr lang="pl-PL" sz="700" dirty="0">
                <a:solidFill>
                  <a:schemeClr val="tx1"/>
                </a:solidFill>
              </a:rPr>
              <a:t> = </a:t>
            </a:r>
            <a:r>
              <a:rPr lang="pl-PL" sz="700" dirty="0" err="1">
                <a:solidFill>
                  <a:schemeClr val="tx1"/>
                </a:solidFill>
              </a:rPr>
              <a:t>pd.DataFrame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MinMaxScaler</a:t>
            </a:r>
            <a:r>
              <a:rPr lang="pl-PL" sz="700" dirty="0">
                <a:solidFill>
                  <a:schemeClr val="tx1"/>
                </a:solidFill>
              </a:rPr>
              <a:t>().</a:t>
            </a:r>
            <a:r>
              <a:rPr lang="pl-PL" sz="700" dirty="0" err="1">
                <a:solidFill>
                  <a:schemeClr val="tx1"/>
                </a:solidFill>
              </a:rPr>
              <a:t>fit_transform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df_boston.drop</a:t>
            </a:r>
            <a:r>
              <a:rPr lang="pl-PL" sz="700" dirty="0">
                <a:solidFill>
                  <a:schemeClr val="tx1"/>
                </a:solidFill>
              </a:rPr>
              <a:t>('MEDV', </a:t>
            </a:r>
            <a:r>
              <a:rPr lang="pl-PL" sz="700" dirty="0" err="1">
                <a:solidFill>
                  <a:schemeClr val="tx1"/>
                </a:solidFill>
              </a:rPr>
              <a:t>axis</a:t>
            </a:r>
            <a:r>
              <a:rPr lang="pl-PL" sz="700" dirty="0">
                <a:solidFill>
                  <a:schemeClr val="tx1"/>
                </a:solidFill>
              </a:rPr>
              <a:t>=1)), </a:t>
            </a:r>
            <a:r>
              <a:rPr lang="pl-PL" sz="700" dirty="0" err="1">
                <a:solidFill>
                  <a:schemeClr val="tx1"/>
                </a:solidFill>
              </a:rPr>
              <a:t>columns</a:t>
            </a:r>
            <a:r>
              <a:rPr lang="pl-PL" sz="700" dirty="0">
                <a:solidFill>
                  <a:schemeClr val="tx1"/>
                </a:solidFill>
              </a:rPr>
              <a:t>=</a:t>
            </a:r>
            <a:r>
              <a:rPr lang="pl-PL" sz="700" dirty="0" err="1">
                <a:solidFill>
                  <a:schemeClr val="tx1"/>
                </a:solidFill>
              </a:rPr>
              <a:t>df_boston.columns</a:t>
            </a:r>
            <a:r>
              <a:rPr lang="pl-PL" sz="700" dirty="0">
                <a:solidFill>
                  <a:schemeClr val="tx1"/>
                </a:solidFill>
              </a:rPr>
              <a:t>[:-1])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#Add </a:t>
            </a:r>
            <a:r>
              <a:rPr lang="pl-PL" sz="700" dirty="0" err="1">
                <a:solidFill>
                  <a:srgbClr val="00B050"/>
                </a:solidFill>
              </a:rPr>
              <a:t>Polynomial</a:t>
            </a:r>
            <a:r>
              <a:rPr lang="pl-PL" sz="700" dirty="0">
                <a:solidFill>
                  <a:srgbClr val="00B050"/>
                </a:solidFill>
              </a:rPr>
              <a:t> </a:t>
            </a:r>
            <a:r>
              <a:rPr lang="pl-PL" sz="700" dirty="0" err="1">
                <a:solidFill>
                  <a:srgbClr val="00B050"/>
                </a:solidFill>
              </a:rPr>
              <a:t>Features</a:t>
            </a: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 err="1">
                <a:solidFill>
                  <a:schemeClr val="tx1"/>
                </a:solidFill>
              </a:rPr>
              <a:t>df_interactions</a:t>
            </a:r>
            <a:r>
              <a:rPr lang="pl-PL" sz="700" dirty="0">
                <a:solidFill>
                  <a:schemeClr val="tx1"/>
                </a:solidFill>
              </a:rPr>
              <a:t> = </a:t>
            </a:r>
            <a:r>
              <a:rPr lang="pl-PL" sz="700" dirty="0" err="1">
                <a:solidFill>
                  <a:schemeClr val="tx1"/>
                </a:solidFill>
              </a:rPr>
              <a:t>pd.DataFrame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PolynomialFeatures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degree</a:t>
            </a:r>
            <a:r>
              <a:rPr lang="pl-PL" sz="700" dirty="0">
                <a:solidFill>
                  <a:schemeClr val="tx1"/>
                </a:solidFill>
              </a:rPr>
              <a:t>=2, </a:t>
            </a:r>
            <a:r>
              <a:rPr lang="pl-PL" sz="700" dirty="0" err="1">
                <a:solidFill>
                  <a:schemeClr val="tx1"/>
                </a:solidFill>
              </a:rPr>
              <a:t>include_bias</a:t>
            </a:r>
            <a:r>
              <a:rPr lang="pl-PL" sz="700" dirty="0">
                <a:solidFill>
                  <a:schemeClr val="tx1"/>
                </a:solidFill>
              </a:rPr>
              <a:t>=</a:t>
            </a:r>
            <a:r>
              <a:rPr lang="pl-PL" sz="700" dirty="0" err="1">
                <a:solidFill>
                  <a:schemeClr val="tx1"/>
                </a:solidFill>
              </a:rPr>
              <a:t>False</a:t>
            </a:r>
            <a:r>
              <a:rPr lang="pl-PL" sz="700" dirty="0">
                <a:solidFill>
                  <a:schemeClr val="tx1"/>
                </a:solidFill>
              </a:rPr>
              <a:t>).</a:t>
            </a:r>
            <a:r>
              <a:rPr lang="pl-PL" sz="700" dirty="0" err="1">
                <a:solidFill>
                  <a:schemeClr val="tx1"/>
                </a:solidFill>
              </a:rPr>
              <a:t>fit_transform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df_wine</a:t>
            </a:r>
            <a:r>
              <a:rPr lang="pl-PL" sz="700" dirty="0">
                <a:solidFill>
                  <a:schemeClr val="tx1"/>
                </a:solidFill>
              </a:rPr>
              <a:t>[['</a:t>
            </a:r>
            <a:r>
              <a:rPr lang="pl-PL" sz="700" dirty="0" err="1">
                <a:solidFill>
                  <a:schemeClr val="tx1"/>
                </a:solidFill>
              </a:rPr>
              <a:t>alcohol</a:t>
            </a:r>
            <a:r>
              <a:rPr lang="pl-PL" sz="700" dirty="0">
                <a:solidFill>
                  <a:schemeClr val="tx1"/>
                </a:solidFill>
              </a:rPr>
              <a:t>', '</a:t>
            </a:r>
            <a:r>
              <a:rPr lang="pl-PL" sz="700" dirty="0" err="1">
                <a:solidFill>
                  <a:schemeClr val="tx1"/>
                </a:solidFill>
              </a:rPr>
              <a:t>malic_acid</a:t>
            </a:r>
            <a:r>
              <a:rPr lang="pl-PL" sz="700" dirty="0">
                <a:solidFill>
                  <a:schemeClr val="tx1"/>
                </a:solidFill>
              </a:rPr>
              <a:t>']]))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#One-Hot </a:t>
            </a:r>
            <a:r>
              <a:rPr lang="pl-PL" sz="700" dirty="0" err="1">
                <a:solidFill>
                  <a:srgbClr val="00B050"/>
                </a:solidFill>
              </a:rPr>
              <a:t>Encoding</a:t>
            </a:r>
            <a:r>
              <a:rPr lang="pl-PL" sz="700" dirty="0">
                <a:solidFill>
                  <a:srgbClr val="00B050"/>
                </a:solidFill>
              </a:rPr>
              <a:t> </a:t>
            </a:r>
            <a:r>
              <a:rPr lang="pl-PL" sz="700" dirty="0" err="1">
                <a:solidFill>
                  <a:srgbClr val="00B050"/>
                </a:solidFill>
              </a:rPr>
              <a:t>Categorical</a:t>
            </a:r>
            <a:r>
              <a:rPr lang="pl-PL" sz="700" dirty="0">
                <a:solidFill>
                  <a:srgbClr val="00B050"/>
                </a:solidFill>
              </a:rPr>
              <a:t> </a:t>
            </a:r>
            <a:r>
              <a:rPr lang="pl-PL" sz="700" dirty="0" err="1">
                <a:solidFill>
                  <a:srgbClr val="00B050"/>
                </a:solidFill>
              </a:rPr>
              <a:t>Variables</a:t>
            </a: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 err="1">
                <a:solidFill>
                  <a:schemeClr val="tx1"/>
                </a:solidFill>
              </a:rPr>
              <a:t>df_boston_ohe</a:t>
            </a:r>
            <a:r>
              <a:rPr lang="pl-PL" sz="700" dirty="0">
                <a:solidFill>
                  <a:schemeClr val="tx1"/>
                </a:solidFill>
              </a:rPr>
              <a:t> = </a:t>
            </a:r>
            <a:r>
              <a:rPr lang="pl-PL" sz="700" dirty="0" err="1">
                <a:solidFill>
                  <a:schemeClr val="tx1"/>
                </a:solidFill>
              </a:rPr>
              <a:t>pd.get_dummies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df_boston.astype</a:t>
            </a:r>
            <a:r>
              <a:rPr lang="pl-PL" sz="700" dirty="0">
                <a:solidFill>
                  <a:schemeClr val="tx1"/>
                </a:solidFill>
              </a:rPr>
              <a:t>({'CHAS': '</a:t>
            </a:r>
            <a:r>
              <a:rPr lang="pl-PL" sz="700" dirty="0" err="1">
                <a:solidFill>
                  <a:schemeClr val="tx1"/>
                </a:solidFill>
              </a:rPr>
              <a:t>category</a:t>
            </a:r>
            <a:r>
              <a:rPr lang="pl-PL" sz="700" dirty="0">
                <a:solidFill>
                  <a:schemeClr val="tx1"/>
                </a:solidFill>
              </a:rPr>
              <a:t>'}), </a:t>
            </a:r>
            <a:r>
              <a:rPr lang="pl-PL" sz="700" dirty="0" err="1">
                <a:solidFill>
                  <a:schemeClr val="tx1"/>
                </a:solidFill>
              </a:rPr>
              <a:t>columns</a:t>
            </a:r>
            <a:r>
              <a:rPr lang="pl-PL" sz="700" dirty="0">
                <a:solidFill>
                  <a:schemeClr val="tx1"/>
                </a:solidFill>
              </a:rPr>
              <a:t>=['CHAS'])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#Discretizing </a:t>
            </a:r>
            <a:r>
              <a:rPr lang="pl-PL" sz="700" dirty="0" err="1">
                <a:solidFill>
                  <a:srgbClr val="00B050"/>
                </a:solidFill>
              </a:rPr>
              <a:t>Continuous</a:t>
            </a:r>
            <a:r>
              <a:rPr lang="pl-PL" sz="700" dirty="0">
                <a:solidFill>
                  <a:srgbClr val="00B050"/>
                </a:solidFill>
              </a:rPr>
              <a:t> </a:t>
            </a:r>
            <a:r>
              <a:rPr lang="pl-PL" sz="700" dirty="0" err="1">
                <a:solidFill>
                  <a:srgbClr val="00B050"/>
                </a:solidFill>
              </a:rPr>
              <a:t>Variables</a:t>
            </a: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 err="1">
                <a:solidFill>
                  <a:schemeClr val="tx1"/>
                </a:solidFill>
              </a:rPr>
              <a:t>df_wine</a:t>
            </a:r>
            <a:r>
              <a:rPr lang="pl-PL" sz="700" dirty="0">
                <a:solidFill>
                  <a:schemeClr val="tx1"/>
                </a:solidFill>
              </a:rPr>
              <a:t>['</a:t>
            </a:r>
            <a:r>
              <a:rPr lang="pl-PL" sz="700" dirty="0" err="1">
                <a:solidFill>
                  <a:schemeClr val="tx1"/>
                </a:solidFill>
              </a:rPr>
              <a:t>alcohol_bin</a:t>
            </a:r>
            <a:r>
              <a:rPr lang="pl-PL" sz="700" dirty="0">
                <a:solidFill>
                  <a:schemeClr val="tx1"/>
                </a:solidFill>
              </a:rPr>
              <a:t>'] = </a:t>
            </a:r>
            <a:r>
              <a:rPr lang="pl-PL" sz="700" dirty="0" err="1">
                <a:solidFill>
                  <a:schemeClr val="tx1"/>
                </a:solidFill>
              </a:rPr>
              <a:t>pd.qcut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df_wine</a:t>
            </a:r>
            <a:r>
              <a:rPr lang="pl-PL" sz="700" dirty="0">
                <a:solidFill>
                  <a:schemeClr val="tx1"/>
                </a:solidFill>
              </a:rPr>
              <a:t>['</a:t>
            </a:r>
            <a:r>
              <a:rPr lang="pl-PL" sz="700" dirty="0" err="1">
                <a:solidFill>
                  <a:schemeClr val="tx1"/>
                </a:solidFill>
              </a:rPr>
              <a:t>alcohol</a:t>
            </a:r>
            <a:r>
              <a:rPr lang="pl-PL" sz="700" dirty="0">
                <a:solidFill>
                  <a:schemeClr val="tx1"/>
                </a:solidFill>
              </a:rPr>
              <a:t>'], q=4, </a:t>
            </a:r>
            <a:r>
              <a:rPr lang="pl-PL" sz="700" dirty="0" err="1">
                <a:solidFill>
                  <a:schemeClr val="tx1"/>
                </a:solidFill>
              </a:rPr>
              <a:t>labels</a:t>
            </a:r>
            <a:r>
              <a:rPr lang="pl-PL" sz="700" dirty="0">
                <a:solidFill>
                  <a:schemeClr val="tx1"/>
                </a:solidFill>
              </a:rPr>
              <a:t>=</a:t>
            </a:r>
            <a:r>
              <a:rPr lang="pl-PL" sz="700" dirty="0" err="1">
                <a:solidFill>
                  <a:schemeClr val="tx1"/>
                </a:solidFill>
              </a:rPr>
              <a:t>False</a:t>
            </a:r>
            <a:r>
              <a:rPr lang="pl-PL" sz="700" dirty="0">
                <a:solidFill>
                  <a:schemeClr val="tx1"/>
                </a:solidFill>
              </a:rPr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#Logarithmic </a:t>
            </a:r>
            <a:r>
              <a:rPr lang="pl-PL" sz="700" dirty="0" err="1">
                <a:solidFill>
                  <a:srgbClr val="00B050"/>
                </a:solidFill>
              </a:rPr>
              <a:t>Transformation</a:t>
            </a:r>
            <a:r>
              <a:rPr lang="pl-PL" sz="700" dirty="0">
                <a:solidFill>
                  <a:srgbClr val="00B050"/>
                </a:solidFill>
              </a:rPr>
              <a:t> of </a:t>
            </a:r>
            <a:r>
              <a:rPr lang="pl-PL" sz="700" dirty="0" err="1">
                <a:solidFill>
                  <a:srgbClr val="00B050"/>
                </a:solidFill>
              </a:rPr>
              <a:t>Skewed</a:t>
            </a:r>
            <a:r>
              <a:rPr lang="pl-PL" sz="700" dirty="0">
                <a:solidFill>
                  <a:srgbClr val="00B050"/>
                </a:solidFill>
              </a:rPr>
              <a:t> </a:t>
            </a:r>
            <a:r>
              <a:rPr lang="pl-PL" sz="700" dirty="0" err="1">
                <a:solidFill>
                  <a:srgbClr val="00B050"/>
                </a:solidFill>
              </a:rPr>
              <a:t>Features</a:t>
            </a: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 err="1">
                <a:solidFill>
                  <a:schemeClr val="tx1"/>
                </a:solidFill>
              </a:rPr>
              <a:t>df_wine</a:t>
            </a:r>
            <a:r>
              <a:rPr lang="pl-PL" sz="700" dirty="0">
                <a:solidFill>
                  <a:schemeClr val="tx1"/>
                </a:solidFill>
              </a:rPr>
              <a:t>['</a:t>
            </a:r>
            <a:r>
              <a:rPr lang="pl-PL" sz="700" dirty="0" err="1">
                <a:solidFill>
                  <a:schemeClr val="tx1"/>
                </a:solidFill>
              </a:rPr>
              <a:t>log_malic</a:t>
            </a:r>
            <a:r>
              <a:rPr lang="pl-PL" sz="700" dirty="0">
                <a:solidFill>
                  <a:schemeClr val="tx1"/>
                </a:solidFill>
              </a:rPr>
              <a:t>'] = np.log1p(</a:t>
            </a:r>
            <a:r>
              <a:rPr lang="pl-PL" sz="700" dirty="0" err="1">
                <a:solidFill>
                  <a:schemeClr val="tx1"/>
                </a:solidFill>
              </a:rPr>
              <a:t>df_wine</a:t>
            </a:r>
            <a:r>
              <a:rPr lang="pl-PL" sz="700" dirty="0">
                <a:solidFill>
                  <a:schemeClr val="tx1"/>
                </a:solidFill>
              </a:rPr>
              <a:t>['</a:t>
            </a:r>
            <a:r>
              <a:rPr lang="pl-PL" sz="700" dirty="0" err="1">
                <a:solidFill>
                  <a:schemeClr val="tx1"/>
                </a:solidFill>
              </a:rPr>
              <a:t>malic_acid</a:t>
            </a:r>
            <a:r>
              <a:rPr lang="pl-PL" sz="700" dirty="0">
                <a:solidFill>
                  <a:schemeClr val="tx1"/>
                </a:solidFill>
              </a:rPr>
              <a:t>'])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#Creating a Ratio </a:t>
            </a:r>
            <a:r>
              <a:rPr lang="pl-PL" sz="700" dirty="0" err="1">
                <a:solidFill>
                  <a:srgbClr val="00B050"/>
                </a:solidFill>
              </a:rPr>
              <a:t>Between</a:t>
            </a:r>
            <a:r>
              <a:rPr lang="pl-PL" sz="700" dirty="0">
                <a:solidFill>
                  <a:srgbClr val="00B050"/>
                </a:solidFill>
              </a:rPr>
              <a:t> </a:t>
            </a:r>
            <a:r>
              <a:rPr lang="pl-PL" sz="700" dirty="0" err="1">
                <a:solidFill>
                  <a:srgbClr val="00B050"/>
                </a:solidFill>
              </a:rPr>
              <a:t>Two</a:t>
            </a:r>
            <a:r>
              <a:rPr lang="pl-PL" sz="700" dirty="0">
                <a:solidFill>
                  <a:srgbClr val="00B050"/>
                </a:solidFill>
              </a:rPr>
              <a:t> </a:t>
            </a:r>
            <a:r>
              <a:rPr lang="pl-PL" sz="700" dirty="0" err="1">
                <a:solidFill>
                  <a:srgbClr val="00B050"/>
                </a:solidFill>
              </a:rPr>
              <a:t>Features</a:t>
            </a: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 err="1">
                <a:solidFill>
                  <a:schemeClr val="tx1"/>
                </a:solidFill>
              </a:rPr>
              <a:t>df_wine</a:t>
            </a:r>
            <a:r>
              <a:rPr lang="pl-PL" sz="700" dirty="0">
                <a:solidFill>
                  <a:schemeClr val="tx1"/>
                </a:solidFill>
              </a:rPr>
              <a:t>['</a:t>
            </a:r>
            <a:r>
              <a:rPr lang="pl-PL" sz="700" dirty="0" err="1">
                <a:solidFill>
                  <a:schemeClr val="tx1"/>
                </a:solidFill>
              </a:rPr>
              <a:t>alcohol_malic_ratio</a:t>
            </a:r>
            <a:r>
              <a:rPr lang="pl-PL" sz="700" dirty="0">
                <a:solidFill>
                  <a:schemeClr val="tx1"/>
                </a:solidFill>
              </a:rPr>
              <a:t>'] = </a:t>
            </a:r>
            <a:r>
              <a:rPr lang="pl-PL" sz="700" dirty="0" err="1">
                <a:solidFill>
                  <a:schemeClr val="tx1"/>
                </a:solidFill>
              </a:rPr>
              <a:t>df_wine</a:t>
            </a:r>
            <a:r>
              <a:rPr lang="pl-PL" sz="700" dirty="0">
                <a:solidFill>
                  <a:schemeClr val="tx1"/>
                </a:solidFill>
              </a:rPr>
              <a:t>['</a:t>
            </a:r>
            <a:r>
              <a:rPr lang="pl-PL" sz="700" dirty="0" err="1">
                <a:solidFill>
                  <a:schemeClr val="tx1"/>
                </a:solidFill>
              </a:rPr>
              <a:t>alcohol</a:t>
            </a:r>
            <a:r>
              <a:rPr lang="pl-PL" sz="700" dirty="0">
                <a:solidFill>
                  <a:schemeClr val="tx1"/>
                </a:solidFill>
              </a:rPr>
              <a:t>'] / </a:t>
            </a:r>
            <a:r>
              <a:rPr lang="pl-PL" sz="700" dirty="0" err="1">
                <a:solidFill>
                  <a:schemeClr val="tx1"/>
                </a:solidFill>
              </a:rPr>
              <a:t>df_wine</a:t>
            </a:r>
            <a:r>
              <a:rPr lang="pl-PL" sz="700" dirty="0">
                <a:solidFill>
                  <a:schemeClr val="tx1"/>
                </a:solidFill>
              </a:rPr>
              <a:t>['</a:t>
            </a:r>
            <a:r>
              <a:rPr lang="pl-PL" sz="700" dirty="0" err="1">
                <a:solidFill>
                  <a:schemeClr val="tx1"/>
                </a:solidFill>
              </a:rPr>
              <a:t>malic_acid</a:t>
            </a:r>
            <a:r>
              <a:rPr lang="pl-PL" sz="700" dirty="0">
                <a:solidFill>
                  <a:schemeClr val="tx1"/>
                </a:solidFill>
              </a:rPr>
              <a:t>']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#Removing </a:t>
            </a:r>
            <a:r>
              <a:rPr lang="pl-PL" sz="700" dirty="0" err="1">
                <a:solidFill>
                  <a:srgbClr val="00B050"/>
                </a:solidFill>
              </a:rPr>
              <a:t>Features</a:t>
            </a:r>
            <a:r>
              <a:rPr lang="pl-PL" sz="700" dirty="0">
                <a:solidFill>
                  <a:srgbClr val="00B050"/>
                </a:solidFill>
              </a:rPr>
              <a:t> with </a:t>
            </a:r>
            <a:r>
              <a:rPr lang="pl-PL" sz="700" dirty="0" err="1">
                <a:solidFill>
                  <a:srgbClr val="00B050"/>
                </a:solidFill>
              </a:rPr>
              <a:t>Low</a:t>
            </a:r>
            <a:r>
              <a:rPr lang="pl-PL" sz="700" dirty="0">
                <a:solidFill>
                  <a:srgbClr val="00B050"/>
                </a:solidFill>
              </a:rPr>
              <a:t> </a:t>
            </a:r>
            <a:r>
              <a:rPr lang="pl-PL" sz="700" dirty="0" err="1">
                <a:solidFill>
                  <a:srgbClr val="00B050"/>
                </a:solidFill>
              </a:rPr>
              <a:t>Variance</a:t>
            </a: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 err="1">
                <a:solidFill>
                  <a:schemeClr val="tx1"/>
                </a:solidFill>
              </a:rPr>
              <a:t>df_boston_high_var</a:t>
            </a:r>
            <a:r>
              <a:rPr lang="pl-PL" sz="700" dirty="0">
                <a:solidFill>
                  <a:schemeClr val="tx1"/>
                </a:solidFill>
              </a:rPr>
              <a:t> = </a:t>
            </a:r>
            <a:r>
              <a:rPr lang="pl-PL" sz="700" dirty="0" err="1">
                <a:solidFill>
                  <a:schemeClr val="tx1"/>
                </a:solidFill>
              </a:rPr>
              <a:t>pd.DataFrame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VarianceThreshold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threshold</a:t>
            </a:r>
            <a:r>
              <a:rPr lang="pl-PL" sz="700" dirty="0">
                <a:solidFill>
                  <a:schemeClr val="tx1"/>
                </a:solidFill>
              </a:rPr>
              <a:t>=0.1).</a:t>
            </a:r>
            <a:r>
              <a:rPr lang="pl-PL" sz="700" dirty="0" err="1">
                <a:solidFill>
                  <a:schemeClr val="tx1"/>
                </a:solidFill>
              </a:rPr>
              <a:t>fit_transform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df_boston.drop</a:t>
            </a:r>
            <a:r>
              <a:rPr lang="pl-PL" sz="700" dirty="0">
                <a:solidFill>
                  <a:schemeClr val="tx1"/>
                </a:solidFill>
              </a:rPr>
              <a:t>('MEDV', </a:t>
            </a:r>
            <a:r>
              <a:rPr lang="pl-PL" sz="700" dirty="0" err="1">
                <a:solidFill>
                  <a:schemeClr val="tx1"/>
                </a:solidFill>
              </a:rPr>
              <a:t>axis</a:t>
            </a:r>
            <a:r>
              <a:rPr lang="pl-PL" sz="700" dirty="0">
                <a:solidFill>
                  <a:schemeClr val="tx1"/>
                </a:solidFill>
              </a:rPr>
              <a:t>=1)))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#Multiplicative </a:t>
            </a:r>
            <a:r>
              <a:rPr lang="pl-PL" sz="700" dirty="0" err="1">
                <a:solidFill>
                  <a:srgbClr val="00B050"/>
                </a:solidFill>
              </a:rPr>
              <a:t>Interaction</a:t>
            </a: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 err="1">
                <a:solidFill>
                  <a:schemeClr val="tx1"/>
                </a:solidFill>
              </a:rPr>
              <a:t>df_wine</a:t>
            </a:r>
            <a:r>
              <a:rPr lang="pl-PL" sz="700" dirty="0">
                <a:solidFill>
                  <a:schemeClr val="tx1"/>
                </a:solidFill>
              </a:rPr>
              <a:t>['</a:t>
            </a:r>
            <a:r>
              <a:rPr lang="pl-PL" sz="700" dirty="0" err="1">
                <a:solidFill>
                  <a:schemeClr val="tx1"/>
                </a:solidFill>
              </a:rPr>
              <a:t>wine_quality</a:t>
            </a:r>
            <a:r>
              <a:rPr lang="pl-PL" sz="700" dirty="0">
                <a:solidFill>
                  <a:schemeClr val="tx1"/>
                </a:solidFill>
              </a:rPr>
              <a:t>'] = </a:t>
            </a:r>
            <a:r>
              <a:rPr lang="pl-PL" sz="700" dirty="0" err="1">
                <a:solidFill>
                  <a:schemeClr val="tx1"/>
                </a:solidFill>
              </a:rPr>
              <a:t>df_wine</a:t>
            </a:r>
            <a:r>
              <a:rPr lang="pl-PL" sz="700" dirty="0">
                <a:solidFill>
                  <a:schemeClr val="tx1"/>
                </a:solidFill>
              </a:rPr>
              <a:t>['</a:t>
            </a:r>
            <a:r>
              <a:rPr lang="pl-PL" sz="700" dirty="0" err="1">
                <a:solidFill>
                  <a:schemeClr val="tx1"/>
                </a:solidFill>
              </a:rPr>
              <a:t>alcohol</a:t>
            </a:r>
            <a:r>
              <a:rPr lang="pl-PL" sz="700" dirty="0">
                <a:solidFill>
                  <a:schemeClr val="tx1"/>
                </a:solidFill>
              </a:rPr>
              <a:t>'] * </a:t>
            </a:r>
            <a:r>
              <a:rPr lang="pl-PL" sz="700" dirty="0" err="1">
                <a:solidFill>
                  <a:schemeClr val="tx1"/>
                </a:solidFill>
              </a:rPr>
              <a:t>df_wine</a:t>
            </a:r>
            <a:r>
              <a:rPr lang="pl-PL" sz="700" dirty="0">
                <a:solidFill>
                  <a:schemeClr val="tx1"/>
                </a:solidFill>
              </a:rPr>
              <a:t>['</a:t>
            </a:r>
            <a:r>
              <a:rPr lang="pl-PL" sz="700" dirty="0" err="1">
                <a:solidFill>
                  <a:schemeClr val="tx1"/>
                </a:solidFill>
              </a:rPr>
              <a:t>color_intensity</a:t>
            </a:r>
            <a:r>
              <a:rPr lang="pl-PL" sz="700" dirty="0">
                <a:solidFill>
                  <a:schemeClr val="tx1"/>
                </a:solidFill>
              </a:rPr>
              <a:t>']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#Keeping </a:t>
            </a:r>
            <a:r>
              <a:rPr lang="pl-PL" sz="700" dirty="0" err="1">
                <a:solidFill>
                  <a:srgbClr val="00B050"/>
                </a:solidFill>
              </a:rPr>
              <a:t>Track</a:t>
            </a:r>
            <a:r>
              <a:rPr lang="pl-PL" sz="700" dirty="0">
                <a:solidFill>
                  <a:srgbClr val="00B050"/>
                </a:solidFill>
              </a:rPr>
              <a:t> of </a:t>
            </a:r>
            <a:r>
              <a:rPr lang="pl-PL" sz="700" dirty="0" err="1">
                <a:solidFill>
                  <a:srgbClr val="00B050"/>
                </a:solidFill>
              </a:rPr>
              <a:t>Outliers</a:t>
            </a: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 err="1">
                <a:solidFill>
                  <a:schemeClr val="tx1"/>
                </a:solidFill>
              </a:rPr>
              <a:t>df_boston</a:t>
            </a:r>
            <a:r>
              <a:rPr lang="pl-PL" sz="700" dirty="0">
                <a:solidFill>
                  <a:schemeClr val="tx1"/>
                </a:solidFill>
              </a:rPr>
              <a:t>['</a:t>
            </a:r>
            <a:r>
              <a:rPr lang="pl-PL" sz="700" dirty="0" err="1">
                <a:solidFill>
                  <a:schemeClr val="tx1"/>
                </a:solidFill>
              </a:rPr>
              <a:t>tax_outlier</a:t>
            </a:r>
            <a:r>
              <a:rPr lang="pl-PL" sz="700" dirty="0">
                <a:solidFill>
                  <a:schemeClr val="tx1"/>
                </a:solidFill>
              </a:rPr>
              <a:t>'] = ((</a:t>
            </a:r>
            <a:r>
              <a:rPr lang="pl-PL" sz="700" dirty="0" err="1">
                <a:solidFill>
                  <a:schemeClr val="tx1"/>
                </a:solidFill>
              </a:rPr>
              <a:t>df_boston</a:t>
            </a:r>
            <a:r>
              <a:rPr lang="pl-PL" sz="700" dirty="0">
                <a:solidFill>
                  <a:schemeClr val="tx1"/>
                </a:solidFill>
              </a:rPr>
              <a:t>['TAX'] &lt; </a:t>
            </a:r>
            <a:r>
              <a:rPr lang="pl-PL" sz="700" dirty="0" err="1">
                <a:solidFill>
                  <a:schemeClr val="tx1"/>
                </a:solidFill>
              </a:rPr>
              <a:t>df_boston</a:t>
            </a:r>
            <a:r>
              <a:rPr lang="pl-PL" sz="700" dirty="0">
                <a:solidFill>
                  <a:schemeClr val="tx1"/>
                </a:solidFill>
              </a:rPr>
              <a:t>['TAX'].</a:t>
            </a:r>
            <a:r>
              <a:rPr lang="pl-PL" sz="700" dirty="0" err="1">
                <a:solidFill>
                  <a:schemeClr val="tx1"/>
                </a:solidFill>
              </a:rPr>
              <a:t>quantile</a:t>
            </a:r>
            <a:r>
              <a:rPr lang="pl-PL" sz="700" dirty="0">
                <a:solidFill>
                  <a:schemeClr val="tx1"/>
                </a:solidFill>
              </a:rPr>
              <a:t>(0.25) - 1.5 * (</a:t>
            </a:r>
            <a:r>
              <a:rPr lang="pl-PL" sz="700" dirty="0" err="1">
                <a:solidFill>
                  <a:schemeClr val="tx1"/>
                </a:solidFill>
              </a:rPr>
              <a:t>df_boston</a:t>
            </a:r>
            <a:r>
              <a:rPr lang="pl-PL" sz="700" dirty="0">
                <a:solidFill>
                  <a:schemeClr val="tx1"/>
                </a:solidFill>
              </a:rPr>
              <a:t>['TAX'].</a:t>
            </a:r>
            <a:r>
              <a:rPr lang="pl-PL" sz="700" dirty="0" err="1">
                <a:solidFill>
                  <a:schemeClr val="tx1"/>
                </a:solidFill>
              </a:rPr>
              <a:t>quantile</a:t>
            </a:r>
            <a:r>
              <a:rPr lang="pl-PL" sz="700" dirty="0">
                <a:solidFill>
                  <a:schemeClr val="tx1"/>
                </a:solidFill>
              </a:rPr>
              <a:t>(0.75) - </a:t>
            </a:r>
            <a:r>
              <a:rPr lang="pl-PL" sz="700" dirty="0" err="1">
                <a:solidFill>
                  <a:schemeClr val="tx1"/>
                </a:solidFill>
              </a:rPr>
              <a:t>df_boston</a:t>
            </a:r>
            <a:r>
              <a:rPr lang="pl-PL" sz="700" dirty="0">
                <a:solidFill>
                  <a:schemeClr val="tx1"/>
                </a:solidFill>
              </a:rPr>
              <a:t>['TAX'].</a:t>
            </a:r>
            <a:r>
              <a:rPr lang="pl-PL" sz="700" dirty="0" err="1">
                <a:solidFill>
                  <a:schemeClr val="tx1"/>
                </a:solidFill>
              </a:rPr>
              <a:t>quantile</a:t>
            </a:r>
            <a:r>
              <a:rPr lang="pl-PL" sz="700" dirty="0">
                <a:solidFill>
                  <a:schemeClr val="tx1"/>
                </a:solidFill>
              </a:rPr>
              <a:t>(0.25))) | (</a:t>
            </a:r>
            <a:r>
              <a:rPr lang="pl-PL" sz="700" dirty="0" err="1">
                <a:solidFill>
                  <a:schemeClr val="tx1"/>
                </a:solidFill>
              </a:rPr>
              <a:t>df_boston</a:t>
            </a:r>
            <a:r>
              <a:rPr lang="pl-PL" sz="700" dirty="0">
                <a:solidFill>
                  <a:schemeClr val="tx1"/>
                </a:solidFill>
              </a:rPr>
              <a:t>['TAX'] &gt; </a:t>
            </a:r>
            <a:r>
              <a:rPr lang="pl-PL" sz="700" dirty="0" err="1">
                <a:solidFill>
                  <a:schemeClr val="tx1"/>
                </a:solidFill>
              </a:rPr>
              <a:t>df_boston</a:t>
            </a:r>
            <a:r>
              <a:rPr lang="pl-PL" sz="700" dirty="0">
                <a:solidFill>
                  <a:schemeClr val="tx1"/>
                </a:solidFill>
              </a:rPr>
              <a:t>['TAX'].</a:t>
            </a:r>
            <a:r>
              <a:rPr lang="pl-PL" sz="700" dirty="0" err="1">
                <a:solidFill>
                  <a:schemeClr val="tx1"/>
                </a:solidFill>
              </a:rPr>
              <a:t>quantile</a:t>
            </a:r>
            <a:r>
              <a:rPr lang="pl-PL" sz="700" dirty="0">
                <a:solidFill>
                  <a:schemeClr val="tx1"/>
                </a:solidFill>
              </a:rPr>
              <a:t>(0.75) + 1.5 * (</a:t>
            </a:r>
            <a:r>
              <a:rPr lang="pl-PL" sz="700" dirty="0" err="1">
                <a:solidFill>
                  <a:schemeClr val="tx1"/>
                </a:solidFill>
              </a:rPr>
              <a:t>df_boston</a:t>
            </a:r>
            <a:r>
              <a:rPr lang="pl-PL" sz="700" dirty="0">
                <a:solidFill>
                  <a:schemeClr val="tx1"/>
                </a:solidFill>
              </a:rPr>
              <a:t>['TAX'].</a:t>
            </a:r>
            <a:r>
              <a:rPr lang="pl-PL" sz="700" dirty="0" err="1">
                <a:solidFill>
                  <a:schemeClr val="tx1"/>
                </a:solidFill>
              </a:rPr>
              <a:t>quantile</a:t>
            </a:r>
            <a:r>
              <a:rPr lang="pl-PL" sz="700" dirty="0">
                <a:solidFill>
                  <a:schemeClr val="tx1"/>
                </a:solidFill>
              </a:rPr>
              <a:t>(0.75) - </a:t>
            </a:r>
            <a:r>
              <a:rPr lang="pl-PL" sz="700" dirty="0" err="1">
                <a:solidFill>
                  <a:schemeClr val="tx1"/>
                </a:solidFill>
              </a:rPr>
              <a:t>df_boston</a:t>
            </a:r>
            <a:r>
              <a:rPr lang="pl-PL" sz="700" dirty="0">
                <a:solidFill>
                  <a:schemeClr val="tx1"/>
                </a:solidFill>
              </a:rPr>
              <a:t>['TAX'].</a:t>
            </a:r>
            <a:r>
              <a:rPr lang="pl-PL" sz="700" dirty="0" err="1">
                <a:solidFill>
                  <a:schemeClr val="tx1"/>
                </a:solidFill>
              </a:rPr>
              <a:t>quantile</a:t>
            </a:r>
            <a:r>
              <a:rPr lang="pl-PL" sz="700" dirty="0">
                <a:solidFill>
                  <a:schemeClr val="tx1"/>
                </a:solidFill>
              </a:rPr>
              <a:t>(0.25)))).</a:t>
            </a:r>
            <a:r>
              <a:rPr lang="pl-PL" sz="700" dirty="0" err="1">
                <a:solidFill>
                  <a:schemeClr val="tx1"/>
                </a:solidFill>
              </a:rPr>
              <a:t>astype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int</a:t>
            </a:r>
            <a:r>
              <a:rPr lang="pl-PL" sz="700" dirty="0">
                <a:solidFill>
                  <a:schemeClr val="tx1"/>
                </a:solidFill>
              </a:rPr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700" dirty="0"/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BDFE5A84-9A58-E20C-F448-F2AC8728F3E1}"/>
              </a:ext>
            </a:extLst>
          </p:cNvPr>
          <p:cNvSpPr txBox="1"/>
          <p:nvPr/>
        </p:nvSpPr>
        <p:spPr>
          <a:xfrm>
            <a:off x="6087502" y="6101189"/>
            <a:ext cx="5821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600" b="1" dirty="0">
                <a:solidFill>
                  <a:schemeClr val="bg1">
                    <a:lumMod val="50000"/>
                  </a:schemeClr>
                </a:solidFill>
              </a:rPr>
              <a:t>Źródła:</a:t>
            </a:r>
            <a:r>
              <a:rPr lang="pl-PL" sz="600" b="1" dirty="0"/>
              <a:t> </a:t>
            </a:r>
            <a:r>
              <a:rPr lang="pl-PL" sz="600" dirty="0">
                <a:hlinkClick r:id="rId2"/>
              </a:rPr>
              <a:t>https://machinelearningmastery.com/10-python-one-liners-that-will-simplify-feature-engineering/</a:t>
            </a:r>
            <a:r>
              <a:rPr lang="pl-PL" sz="600" dirty="0"/>
              <a:t>  </a:t>
            </a:r>
          </a:p>
          <a:p>
            <a:r>
              <a:rPr lang="pl-PL" sz="600" dirty="0">
                <a:hlinkClick r:id="rId3"/>
              </a:rPr>
              <a:t>https://machinelearningmastery.com/10-python-one-liners-for-feature-selection-like-a-pro/</a:t>
            </a:r>
            <a:r>
              <a:rPr lang="pl-PL" sz="600" dirty="0"/>
              <a:t> </a:t>
            </a:r>
          </a:p>
          <a:p>
            <a:r>
              <a:rPr lang="pl-PL" sz="600" dirty="0">
                <a:hlinkClick r:id="rId4"/>
              </a:rPr>
              <a:t>https://machinelearningmastery.com/10-python-one-liners-that-will-boost-your-data-preparation-workflow/</a:t>
            </a:r>
            <a:endParaRPr lang="pl-PL" sz="600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F724A3B5-13D0-28BD-6ED7-6A7E3BD408E3}"/>
              </a:ext>
            </a:extLst>
          </p:cNvPr>
          <p:cNvSpPr txBox="1"/>
          <p:nvPr/>
        </p:nvSpPr>
        <p:spPr>
          <a:xfrm>
            <a:off x="6064763" y="6473826"/>
            <a:ext cx="58210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600" b="1" dirty="0">
                <a:solidFill>
                  <a:schemeClr val="bg1">
                    <a:lumMod val="50000"/>
                  </a:schemeClr>
                </a:solidFill>
              </a:rPr>
              <a:t>Jeszcze więcej: </a:t>
            </a:r>
            <a:r>
              <a:rPr lang="pl-PL" sz="600" dirty="0">
                <a:solidFill>
                  <a:schemeClr val="bg1">
                    <a:lumMod val="50000"/>
                  </a:schemeClr>
                </a:solidFill>
                <a:hlinkClick r:id="rId5"/>
              </a:rPr>
              <a:t>https://github.com/solegalli/Python-Feature-Engineering-Cookbook-Third-Edition</a:t>
            </a:r>
            <a:endParaRPr lang="pl-PL" sz="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7810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143DF-7A6C-E76B-28AF-4125955CA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BF755676-69C4-6DDA-3834-5EC27BC51273}"/>
              </a:ext>
            </a:extLst>
          </p:cNvPr>
          <p:cNvSpPr txBox="1">
            <a:spLocks/>
          </p:cNvSpPr>
          <p:nvPr/>
        </p:nvSpPr>
        <p:spPr>
          <a:xfrm>
            <a:off x="451707" y="2680406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 dirty="0"/>
              <a:t>Dodatek 6 – stringi</a:t>
            </a:r>
          </a:p>
          <a:p>
            <a:endParaRPr lang="pl-PL" b="1" dirty="0"/>
          </a:p>
        </p:txBody>
      </p:sp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9589CCDB-6F67-D0DC-CF10-7DE6D462A0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54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9827152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6BB99-9D46-60CA-22F3-4179F9FB6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10AD0FBD-4D44-00F7-EE6E-D777DA430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Dodatek 6 – stringi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1831043B-4197-F141-BE1F-8F3AA06285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55</a:t>
            </a:fld>
            <a:endParaRPr lang="pl-PL" dirty="0"/>
          </a:p>
        </p:txBody>
      </p:sp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BE39E409-FC83-D64B-9589-482E188E666F}"/>
              </a:ext>
            </a:extLst>
          </p:cNvPr>
          <p:cNvSpPr txBox="1">
            <a:spLocks/>
          </p:cNvSpPr>
          <p:nvPr/>
        </p:nvSpPr>
        <p:spPr>
          <a:xfrm>
            <a:off x="192006" y="540327"/>
            <a:ext cx="6528834" cy="3950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b="1" dirty="0">
                <a:hlinkClick r:id="rId2"/>
              </a:rPr>
              <a:t>Comprehensive </a:t>
            </a:r>
            <a:r>
              <a:rPr lang="pl-PL" b="1" dirty="0" err="1">
                <a:hlinkClick r:id="rId2"/>
              </a:rPr>
              <a:t>Python</a:t>
            </a:r>
            <a:r>
              <a:rPr lang="pl-PL" b="1" dirty="0">
                <a:hlinkClick r:id="rId2"/>
              </a:rPr>
              <a:t> </a:t>
            </a:r>
            <a:r>
              <a:rPr lang="pl-PL" b="1" dirty="0" err="1">
                <a:hlinkClick r:id="rId2"/>
              </a:rPr>
              <a:t>Cheatsheet</a:t>
            </a:r>
            <a:r>
              <a:rPr lang="pl-PL" b="1" dirty="0"/>
              <a:t> </a:t>
            </a:r>
            <a:r>
              <a:rPr lang="pl-PL" dirty="0"/>
              <a:t>–</a:t>
            </a:r>
            <a:r>
              <a:rPr lang="pl-PL" b="1" dirty="0"/>
              <a:t> </a:t>
            </a:r>
            <a:r>
              <a:rPr lang="pl-PL" dirty="0"/>
              <a:t>wiele więcej niż o stringach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pic>
        <p:nvPicPr>
          <p:cNvPr id="4" name="Obraz 3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42E82444-592A-3EBC-9D8F-4AB2CF4DE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954" y="814810"/>
            <a:ext cx="6096003" cy="4559744"/>
          </a:xfrm>
          <a:prstGeom prst="rect">
            <a:avLst/>
          </a:prstGeom>
        </p:spPr>
      </p:pic>
      <p:pic>
        <p:nvPicPr>
          <p:cNvPr id="9" name="Obraz 8" descr="Obraz zawierający tekst, Czcionka, zrzut ekranu&#10;&#10;Zawartość wygenerowana przez AI może być niepoprawna.">
            <a:extLst>
              <a:ext uri="{FF2B5EF4-FFF2-40B4-BE49-F238E27FC236}">
                <a16:creationId xmlns:a16="http://schemas.microsoft.com/office/drawing/2014/main" id="{462DE132-4E41-D3A1-5492-052353C639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6954" y="5453147"/>
            <a:ext cx="6096003" cy="118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544556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Dyslexia 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D24726"/>
      </a:accent2>
      <a:accent3>
        <a:srgbClr val="9B5AC8"/>
      </a:accent3>
      <a:accent4>
        <a:srgbClr val="F0A11F"/>
      </a:accent4>
      <a:accent5>
        <a:srgbClr val="CB5BA3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09B0F52-5F62-4EC2-B546-E9BED4FA103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720CE6F-0945-4471-BFFD-1CBA8ED44803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B79204FA-3D60-46E3-A86C-8531D05CC7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2982</TotalTime>
  <Words>5850</Words>
  <Application>Microsoft Office PowerPoint</Application>
  <PresentationFormat>Panoramiczny</PresentationFormat>
  <Paragraphs>1026</Paragraphs>
  <Slides>55</Slides>
  <Notes>0</Notes>
  <HiddenSlides>0</HiddenSlides>
  <MMClips>0</MMClips>
  <ScaleCrop>false</ScaleCrop>
  <HeadingPairs>
    <vt:vector size="8" baseType="variant">
      <vt:variant>
        <vt:lpstr>Używane czcionki</vt:lpstr>
      </vt:variant>
      <vt:variant>
        <vt:i4>8</vt:i4>
      </vt:variant>
      <vt:variant>
        <vt:lpstr>Motyw</vt:lpstr>
      </vt:variant>
      <vt:variant>
        <vt:i4>1</vt:i4>
      </vt:variant>
      <vt:variant>
        <vt:lpstr>Osadzone serwery OLE</vt:lpstr>
      </vt:variant>
      <vt:variant>
        <vt:i4>3</vt:i4>
      </vt:variant>
      <vt:variant>
        <vt:lpstr>Tytuły slajdów</vt:lpstr>
      </vt:variant>
      <vt:variant>
        <vt:i4>55</vt:i4>
      </vt:variant>
    </vt:vector>
  </HeadingPairs>
  <TitlesOfParts>
    <vt:vector size="67" baseType="lpstr">
      <vt:lpstr>Aptos Narrow</vt:lpstr>
      <vt:lpstr>Arial</vt:lpstr>
      <vt:lpstr>Calibri</vt:lpstr>
      <vt:lpstr>Calibri Light</vt:lpstr>
      <vt:lpstr>Courier New</vt:lpstr>
      <vt:lpstr>Segoe UI</vt:lpstr>
      <vt:lpstr>Segoe UI Semibold</vt:lpstr>
      <vt:lpstr>Wingdings</vt:lpstr>
      <vt:lpstr>Motyw pakietu Office</vt:lpstr>
      <vt:lpstr>Macro-Enabled Worksheet</vt:lpstr>
      <vt:lpstr>Worksheet</vt:lpstr>
      <vt:lpstr>PDF</vt:lpstr>
      <vt:lpstr>Excel=PY(</vt:lpstr>
      <vt:lpstr>… wstaw pytona       do tabelkowa</vt:lpstr>
      <vt:lpstr>… czy warto?</vt:lpstr>
      <vt:lpstr>Prezentacja programu PowerPoint</vt:lpstr>
      <vt:lpstr>… czy ja to mam?</vt:lpstr>
      <vt:lpstr>… Witaj Pythonie</vt:lpstr>
      <vt:lpstr>… jestem zajęty – automatyczne przeliczanie</vt:lpstr>
      <vt:lpstr>… dajcie mi edytor kodu</vt:lpstr>
      <vt:lpstr>… Witaj             Pandas </vt:lpstr>
      <vt:lpstr>… więcej przykładów – jeszcze nie </vt:lpstr>
      <vt:lpstr>… rachujemy</vt:lpstr>
      <vt:lpstr>… posprzątaj      daty</vt:lpstr>
      <vt:lpstr>Przykład – ctrl+c -&gt; ctrl+v</vt:lpstr>
      <vt:lpstr>Prezentacja programu PowerPoint</vt:lpstr>
      <vt:lpstr>Przykład – weź se dane [1]</vt:lpstr>
      <vt:lpstr>Przykład – weź se dane [2]</vt:lpstr>
      <vt:lpstr>Przykład – weź se dane [3]</vt:lpstr>
      <vt:lpstr>Przykład – weź se dane [4]</vt:lpstr>
      <vt:lpstr>Przykład – weź se dane [6] z tabel sprytniej</vt:lpstr>
      <vt:lpstr>Przykład – weź se dane [7] przygarnij kropka</vt:lpstr>
      <vt:lpstr>Przykład – weź se dane [8] z pliku</vt:lpstr>
      <vt:lpstr>Prezentacja programu PowerPoint</vt:lpstr>
      <vt:lpstr>Przykład  – podsumuj se dane</vt:lpstr>
      <vt:lpstr>Prezentacja programu PowerPoint</vt:lpstr>
      <vt:lpstr>… gdzie są moje kredki</vt:lpstr>
      <vt:lpstr>Przykład  – narysuj se coś [1]</vt:lpstr>
      <vt:lpstr>Przykład  – narysuj se coś [2]</vt:lpstr>
      <vt:lpstr>Przykład  – narysuj se coś [3]</vt:lpstr>
      <vt:lpstr>Przykład  – narysuj se coś [4]</vt:lpstr>
      <vt:lpstr>Przykład  – narysuj se coś [5]</vt:lpstr>
      <vt:lpstr>Przykład  – narysuj se coś [6]</vt:lpstr>
      <vt:lpstr>Przykład  – narysuj se coś [7]</vt:lpstr>
      <vt:lpstr>Prezentacja programu PowerPoint</vt:lpstr>
      <vt:lpstr>Przykład  – zbuduj se model [1] - EDA</vt:lpstr>
      <vt:lpstr>Przykład  – zbuduj se model [2] – grabki i łopatki</vt:lpstr>
      <vt:lpstr>Przykład  – zbuduj se model [3] – Logistic Regression</vt:lpstr>
      <vt:lpstr>Przykład  – zbuduj se model [4] – Logistic Regression Tuning</vt:lpstr>
      <vt:lpstr>Przykład  – zbuduj se model [5] – Logistic Regression variable importance(?)</vt:lpstr>
      <vt:lpstr>Przykład  – zbuduj se model [6] – Decision Tree</vt:lpstr>
      <vt:lpstr>Przykład  – zbuduj se model [7] – Random Forest i GradientBoosting</vt:lpstr>
      <vt:lpstr>Przykład  – zbuduj se model [8] – porównajmy zbudowane modele</vt:lpstr>
      <vt:lpstr>Prezentacja programu PowerPoint</vt:lpstr>
      <vt:lpstr>Dodatek 1 – filtrowanie DataFrame</vt:lpstr>
      <vt:lpstr>Dodatek 1 – nie tylko filtrowanie DataFrame</vt:lpstr>
      <vt:lpstr>Prezentacja programu PowerPoint</vt:lpstr>
      <vt:lpstr>Dodatek 2 – łączenie DataFrame</vt:lpstr>
      <vt:lpstr>Prezentacja programu PowerPoint</vt:lpstr>
      <vt:lpstr>Dodatek 3 – groupby</vt:lpstr>
      <vt:lpstr>Prezentacja programu PowerPoint</vt:lpstr>
      <vt:lpstr>Dodatek 4 – apply/map</vt:lpstr>
      <vt:lpstr>Prezentacja programu PowerPoint</vt:lpstr>
      <vt:lpstr>Dodatek 5 – one-liner’y EDA</vt:lpstr>
      <vt:lpstr>Dodatek 5 – one-liner’y – Features</vt:lpstr>
      <vt:lpstr>Prezentacja programu PowerPoint</vt:lpstr>
      <vt:lpstr>Dodatek 6 – stringi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Grzegorz Boczar</cp:lastModifiedBy>
  <cp:revision>59</cp:revision>
  <dcterms:created xsi:type="dcterms:W3CDTF">2025-12-25T12:14:56Z</dcterms:created>
  <dcterms:modified xsi:type="dcterms:W3CDTF">2026-01-01T15:11:36Z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